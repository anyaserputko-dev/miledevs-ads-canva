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s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9743" y="5360789"/>
            <a:ext cx="1008459" cy="514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98652" y="5386983"/>
            <a:ext cx="3269531" cy="461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spc="419">
                <a:solidFill>
                  <a:srgbClr val="151515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470" y="6408539"/>
            <a:ext cx="9238059" cy="1248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sz="4350" b="1" spc="-43">
                <a:solidFill>
                  <a:srgbClr val="151515"/>
                </a:solidFill>
                <a:latin typeface="Montserrat"/>
              </a:rPr>
              <a:t>ВАШ SHOPIFY‑МАГАЗИН</a:t>
            </a:r>
          </a:p>
          <a:p>
            <a:pPr algn="ctr">
              <a:lnSpc>
                <a:spcPct val="113000"/>
              </a:lnSpc>
            </a:pPr>
            <a:r>
              <a:rPr sz="4350" b="1" spc="-43">
                <a:solidFill>
                  <a:srgbClr val="151515"/>
                </a:solidFill>
                <a:latin typeface="Montserrat"/>
              </a:rPr>
              <a:t>МОЖЕ ПРОДАВАТИ БІЛЬШЕ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7091" y="7942808"/>
            <a:ext cx="7312744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b="0">
                <a:solidFill>
                  <a:srgbClr val="1D1D1D"/>
                </a:solidFill>
                <a:latin typeface="Montserrat"/>
              </a:rPr>
              <a:t>Знайдемо, де губляться покупці,</a:t>
            </a:r>
          </a:p>
          <a:p>
            <a:pPr algn="ctr">
              <a:lnSpc>
                <a:spcPct val="135000"/>
              </a:lnSpc>
            </a:pPr>
            <a:r>
              <a:rPr sz="3000" b="0">
                <a:solidFill>
                  <a:srgbClr val="1D1D1D"/>
                </a:solidFill>
                <a:latin typeface="Montserrat"/>
              </a:rPr>
              <a:t>і покажемо, що змінити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078" y="9504908"/>
            <a:ext cx="6896844" cy="122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1800AD"/>
                </a:solidFill>
                <a:latin typeface="Montserrat"/>
              </a:rPr>
              <a:t>АУДИТ МАГАЗИНУ —</a:t>
            </a:r>
          </a:p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1800AD"/>
                </a:solidFill>
                <a:latin typeface="Montserrat"/>
              </a:rPr>
              <a:t>БЕЗКОШТОВНО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14240" y="11303198"/>
            <a:ext cx="5058445" cy="1052512"/>
          </a:xfrm>
          <a:prstGeom prst="roundRect">
            <a:avLst>
              <a:gd name="adj" fmla="val 23529"/>
            </a:avLst>
          </a:prstGeom>
          <a:solidFill>
            <a:srgbClr val="18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3240" y="11303198"/>
            <a:ext cx="5820445" cy="1052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50" b="1" spc="57">
                <a:solidFill>
                  <a:srgbClr val="FFFFFF"/>
                </a:solidFill>
                <a:latin typeface="Montserrat"/>
              </a:rPr>
              <a:t>ОТРИМАТИ АУДИТ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s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9743" y="4386262"/>
            <a:ext cx="1008459" cy="514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98652" y="4412456"/>
            <a:ext cx="3269531" cy="461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spc="419">
                <a:solidFill>
                  <a:srgbClr val="151515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5434012"/>
            <a:ext cx="9525000" cy="2583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sz="6000" b="1" spc="-60">
                <a:solidFill>
                  <a:srgbClr val="151515"/>
                </a:solidFill>
                <a:latin typeface="Montserrat"/>
              </a:rPr>
              <a:t>НЕ ЗБІЛЬШУЙТЕ</a:t>
            </a:r>
          </a:p>
          <a:p>
            <a:pPr algn="ctr">
              <a:lnSpc>
                <a:spcPct val="113000"/>
              </a:lnSpc>
            </a:pPr>
            <a:r>
              <a:rPr sz="6000" b="1" spc="-60">
                <a:solidFill>
                  <a:srgbClr val="151515"/>
                </a:solidFill>
                <a:latin typeface="Montserrat"/>
              </a:rPr>
              <a:t>РЕКЛАМНИЙ БЮДЖЕТ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7153" y="8302898"/>
            <a:ext cx="631261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b="0">
                <a:solidFill>
                  <a:srgbClr val="1D1D1D"/>
                </a:solidFill>
                <a:latin typeface="Montserrat"/>
              </a:rPr>
              <a:t>Поки ваш Shopify-магазин</a:t>
            </a:r>
          </a:p>
          <a:p>
            <a:pPr algn="ctr">
              <a:lnSpc>
                <a:spcPct val="135000"/>
              </a:lnSpc>
            </a:pPr>
            <a:r>
              <a:rPr sz="3000" b="0">
                <a:solidFill>
                  <a:srgbClr val="1D1D1D"/>
                </a:solidFill>
                <a:latin typeface="Montserrat"/>
              </a:rPr>
              <a:t>втрачає клієнтів після кліку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205" y="9864998"/>
            <a:ext cx="7392516" cy="122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1800AD"/>
                </a:solidFill>
                <a:latin typeface="Montserrat"/>
              </a:rPr>
              <a:t>ПРОДАВАЙТЕ БІЛЬШЕ</a:t>
            </a:r>
          </a:p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1800AD"/>
                </a:solidFill>
                <a:latin typeface="Montserrat"/>
              </a:rPr>
              <a:t>З НАЯВНОГО ТРАФІКУ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0779" y="11663288"/>
            <a:ext cx="5925369" cy="1052512"/>
          </a:xfrm>
          <a:prstGeom prst="roundRect">
            <a:avLst>
              <a:gd name="adj" fmla="val 23529"/>
            </a:avLst>
          </a:prstGeom>
          <a:solidFill>
            <a:srgbClr val="18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99779" y="11663288"/>
            <a:ext cx="6687369" cy="1052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50" b="1" spc="57">
                <a:solidFill>
                  <a:srgbClr val="FFFFFF"/>
                </a:solidFill>
                <a:latin typeface="Montserrat"/>
              </a:rPr>
              <a:t>ПЕРЕВІРИТИ МАГАЗИН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4160" y="12982501"/>
            <a:ext cx="3958605" cy="347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0">
                <a:solidFill>
                  <a:srgbClr val="6B6B72"/>
                </a:solidFill>
                <a:latin typeface="Montserrat"/>
              </a:rPr>
              <a:t>Аудит безкоштовний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s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9743" y="4132883"/>
            <a:ext cx="1008459" cy="514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98652" y="4159076"/>
            <a:ext cx="3269531" cy="461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spc="419">
                <a:solidFill>
                  <a:srgbClr val="151515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792" y="5180633"/>
            <a:ext cx="8805416" cy="6887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sz="4800" b="1" spc="-48">
                <a:solidFill>
                  <a:srgbClr val="151515"/>
                </a:solidFill>
                <a:latin typeface="Montserrat"/>
              </a:rPr>
              <a:t>ВАШ SHOPIFY‑МАГАЗИН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524" y="5869409"/>
            <a:ext cx="8565877" cy="753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sz="5250" b="1" spc="-52">
                <a:solidFill>
                  <a:srgbClr val="1800AD"/>
                </a:solidFill>
                <a:latin typeface="Montserrat"/>
              </a:rPr>
              <a:t>ВТРАЧАЄ ПОКУПЦІВ?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6679" y="6946627"/>
            <a:ext cx="7233642" cy="10648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0">
                <a:solidFill>
                  <a:srgbClr val="151515"/>
                </a:solidFill>
                <a:latin typeface="Montserrat"/>
              </a:rPr>
              <a:t>ПОКАЖЕМО, ЩО ЗАВАЖАЄ ЇМ</a:t>
            </a:r>
          </a:p>
          <a:p>
            <a:pPr algn="ctr">
              <a:lnSpc>
                <a:spcPct val="130000"/>
              </a:lnSpc>
            </a:pPr>
            <a:r>
              <a:rPr sz="3450" b="1">
                <a:solidFill>
                  <a:srgbClr val="1800AD"/>
                </a:solidFill>
                <a:latin typeface="Montserrat"/>
              </a:rPr>
              <a:t>ОФОРМИТИ ЗАМОВЛЕННЯ</a:t>
            </a:r>
          </a:p>
        </p:txBody>
      </p:sp>
      <p:pic>
        <p:nvPicPr>
          <p:cNvPr id="8" name="Picture 7" descr="c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750" y="8430592"/>
            <a:ext cx="3619500" cy="30670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609106" y="11916742"/>
            <a:ext cx="5068788" cy="1052512"/>
          </a:xfrm>
          <a:prstGeom prst="roundRect">
            <a:avLst>
              <a:gd name="adj" fmla="val 23529"/>
            </a:avLst>
          </a:prstGeom>
          <a:solidFill>
            <a:srgbClr val="18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8106" y="11916742"/>
            <a:ext cx="5830788" cy="1052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50" b="1" spc="57">
                <a:solidFill>
                  <a:srgbClr val="FFFFFF"/>
                </a:solidFill>
                <a:latin typeface="Montserrat"/>
              </a:rPr>
              <a:t>ЗНАЙТИ ПРИЧИНУ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4160" y="13235955"/>
            <a:ext cx="3958605" cy="347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0">
                <a:solidFill>
                  <a:srgbClr val="6B6B72"/>
                </a:solidFill>
                <a:latin typeface="Montserrat"/>
              </a:rPr>
              <a:t>Аудит безкоштовний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s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9743" y="3714973"/>
            <a:ext cx="1008459" cy="514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98652" y="3741167"/>
            <a:ext cx="3269531" cy="461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spc="419">
                <a:solidFill>
                  <a:srgbClr val="151515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0412" y="4762723"/>
            <a:ext cx="7026176" cy="1377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sz="4800" b="1" spc="-48">
                <a:solidFill>
                  <a:srgbClr val="151515"/>
                </a:solidFill>
                <a:latin typeface="Montserrat"/>
              </a:rPr>
              <a:t>SHOPIFY‑МАГАЗИН</a:t>
            </a:r>
          </a:p>
          <a:p>
            <a:pPr algn="ctr">
              <a:lnSpc>
                <a:spcPct val="113000"/>
              </a:lnSpc>
            </a:pPr>
            <a:r>
              <a:rPr sz="4800" b="1" spc="-48">
                <a:solidFill>
                  <a:srgbClr val="151515"/>
                </a:solidFill>
                <a:latin typeface="Montserrat"/>
              </a:rPr>
              <a:t>ОТРИМУЄ ТРАФІК,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1607" y="6140276"/>
            <a:ext cx="8383712" cy="839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sz="5850" b="1" spc="-58">
                <a:solidFill>
                  <a:srgbClr val="1800AD"/>
                </a:solidFill>
                <a:latin typeface="Montserrat"/>
              </a:rPr>
              <a:t>АЛЕ НЕ ПРОДАЖІ?</a:t>
            </a:r>
          </a:p>
        </p:txBody>
      </p:sp>
      <p:pic>
        <p:nvPicPr>
          <p:cNvPr id="7" name="Picture 6" descr="fun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375" y="7398841"/>
            <a:ext cx="2762250" cy="2971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22512" y="10713541"/>
            <a:ext cx="7241902" cy="1163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>
                <a:solidFill>
                  <a:srgbClr val="151515"/>
                </a:solidFill>
                <a:latin typeface="Montserrat"/>
              </a:rPr>
              <a:t>ЗНАЙДЕМО, ДЕ ВИ</a:t>
            </a:r>
          </a:p>
          <a:p>
            <a:pPr algn="ctr">
              <a:lnSpc>
                <a:spcPct val="130000"/>
              </a:lnSpc>
            </a:pPr>
            <a:r>
              <a:rPr sz="4050" b="1">
                <a:solidFill>
                  <a:srgbClr val="1800AD"/>
                </a:solidFill>
                <a:latin typeface="Montserrat"/>
              </a:rPr>
              <a:t>ВТРАЧАЄТЕ ПОКУПЦІВ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80779" y="12334652"/>
            <a:ext cx="5925369" cy="1052512"/>
          </a:xfrm>
          <a:prstGeom prst="roundRect">
            <a:avLst>
              <a:gd name="adj" fmla="val 23529"/>
            </a:avLst>
          </a:prstGeom>
          <a:solidFill>
            <a:srgbClr val="18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99779" y="12334652"/>
            <a:ext cx="6687369" cy="1052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50" b="1" spc="57">
                <a:solidFill>
                  <a:srgbClr val="FFFFFF"/>
                </a:solidFill>
                <a:latin typeface="Montserrat"/>
              </a:rPr>
              <a:t>ПЕРЕВІРИТИ МАГАЗИН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4160" y="13653864"/>
            <a:ext cx="3958605" cy="347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0">
                <a:solidFill>
                  <a:srgbClr val="6B6B72"/>
                </a:solidFill>
                <a:latin typeface="Montserrat"/>
              </a:rPr>
              <a:t>Аудит безкоштовний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