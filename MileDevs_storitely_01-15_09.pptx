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</p:sldIdLst>
  <p:sldSz cx="10287000" cy="1828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pic>
        <p:nvPicPr>
          <p:cNvPr id="3" name="Picture 2" descr="logo-mon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2381250"/>
            <a:ext cx="560263" cy="285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46113" y="2381250"/>
            <a:ext cx="1350318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264">
                <a:solidFill>
                  <a:srgbClr val="FFFFFF"/>
                </a:solidFill>
                <a:latin typeface="Manrope"/>
              </a:rPr>
              <a:t>MILEDEVS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47421" y="2381250"/>
            <a:ext cx="1910879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198">
                <a:solidFill>
                  <a:srgbClr val="BFA77A"/>
                </a:solidFill>
                <a:latin typeface="Manrope"/>
              </a:rPr>
              <a:t>[ SHOPIFY ] 1/5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1550" y="5629275"/>
            <a:ext cx="8286750" cy="2057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500" b="1">
                <a:solidFill>
                  <a:srgbClr val="FFFFFF"/>
                </a:solidFill>
                <a:latin typeface="Unbounded"/>
              </a:rPr>
              <a:t>ВАШ БІЗНЕС УЖЕ ПЕРЕРІС ПРОДАЖІ ЧЕРЕЗ DIRECT?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8700" y="8067675"/>
            <a:ext cx="1143000" cy="38100"/>
          </a:xfrm>
          <a:prstGeom prst="roundRect">
            <a:avLst>
              <a:gd name="adj" fmla="val 0"/>
            </a:avLst>
          </a:prstGeom>
          <a:solidFill>
            <a:srgbClr val="BFA7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1550" y="8486775"/>
            <a:ext cx="8286750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3000" b="0">
                <a:solidFill>
                  <a:srgbClr val="D6D6DA"/>
                </a:solidFill>
                <a:latin typeface="Manrope"/>
              </a:rPr>
              <a:t>Перевірте себе: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1550" y="9286875"/>
            <a:ext cx="82867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>
                <a:solidFill>
                  <a:srgbClr val="FFFFFF"/>
                </a:solidFill>
                <a:latin typeface="Manrope"/>
              </a:rPr>
              <a:t>— часто губляться заявки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28700" y="10163175"/>
            <a:ext cx="8229600" cy="19050"/>
          </a:xfrm>
          <a:prstGeom prst="roundRect">
            <a:avLst>
              <a:gd name="adj" fmla="val 0"/>
            </a:avLst>
          </a:prstGeom>
          <a:solidFill>
            <a:srgbClr val="2C2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1550" y="10182225"/>
            <a:ext cx="82867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>
                <a:solidFill>
                  <a:srgbClr val="FFFFFF"/>
                </a:solidFill>
                <a:latin typeface="Manrope"/>
              </a:rPr>
              <a:t>— потрібно вручну писати ціну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28700" y="11058525"/>
            <a:ext cx="8229600" cy="19050"/>
          </a:xfrm>
          <a:prstGeom prst="roundRect">
            <a:avLst>
              <a:gd name="adj" fmla="val 0"/>
            </a:avLst>
          </a:prstGeom>
          <a:solidFill>
            <a:srgbClr val="2C2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550" y="11077575"/>
            <a:ext cx="82867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>
                <a:solidFill>
                  <a:srgbClr val="FFFFFF"/>
                </a:solidFill>
                <a:latin typeface="Manrope"/>
              </a:rPr>
              <a:t>— клієнти довго чекають на відповідь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28700" y="11953875"/>
            <a:ext cx="8229600" cy="19050"/>
          </a:xfrm>
          <a:prstGeom prst="roundRect">
            <a:avLst>
              <a:gd name="adj" fmla="val 0"/>
            </a:avLst>
          </a:prstGeom>
          <a:solidFill>
            <a:srgbClr val="2C2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1550" y="11972925"/>
            <a:ext cx="82867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>
                <a:solidFill>
                  <a:srgbClr val="FFFFFF"/>
                </a:solidFill>
                <a:latin typeface="Manrope"/>
              </a:rPr>
              <a:t>— складно контролювати залишки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pic>
        <p:nvPicPr>
          <p:cNvPr id="3" name="Picture 2" descr="logo-mon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2381250"/>
            <a:ext cx="560263" cy="285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46113" y="2381250"/>
            <a:ext cx="1350318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264">
                <a:solidFill>
                  <a:srgbClr val="111113"/>
                </a:solidFill>
                <a:latin typeface="Manrope"/>
              </a:rPr>
              <a:t>MILEDEVS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4456" y="2381250"/>
            <a:ext cx="1943844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198">
                <a:solidFill>
                  <a:srgbClr val="BFA77A"/>
                </a:solidFill>
                <a:latin typeface="Manrope"/>
              </a:rPr>
              <a:t>[ SHOPIFY ] 2/5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1550" y="7498110"/>
            <a:ext cx="8286750" cy="15772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450" b="1">
                <a:solidFill>
                  <a:srgbClr val="111113"/>
                </a:solidFill>
                <a:latin typeface="Unbounded"/>
              </a:rPr>
              <a:t>ЯКЩО ЗБІГЛИСЯ ХОЧА Б ДВА ПУНКТИ — ПРОБЛЕМА НЕ В МЕНЕДЖЕРІ.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8700" y="9456316"/>
            <a:ext cx="1143000" cy="38100"/>
          </a:xfrm>
          <a:prstGeom prst="roundRect">
            <a:avLst>
              <a:gd name="adj" fmla="val 0"/>
            </a:avLst>
          </a:prstGeom>
          <a:solidFill>
            <a:srgbClr val="BFA7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1550" y="9875416"/>
            <a:ext cx="8286750" cy="1104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3000" b="0">
                <a:solidFill>
                  <a:srgbClr val="2F2F35"/>
                </a:solidFill>
                <a:latin typeface="Manrope"/>
              </a:rPr>
              <a:t>Бізнесу потрібна нормальна система продажів.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pic>
        <p:nvPicPr>
          <p:cNvPr id="3" name="Picture 2" descr="logo-mon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2381250"/>
            <a:ext cx="560263" cy="285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46113" y="2381250"/>
            <a:ext cx="1350318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264">
                <a:solidFill>
                  <a:srgbClr val="FFFFFF"/>
                </a:solidFill>
                <a:latin typeface="Manrope"/>
              </a:rPr>
              <a:t>MILEDEVS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7358" y="2381250"/>
            <a:ext cx="1940942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198">
                <a:solidFill>
                  <a:srgbClr val="BFA77A"/>
                </a:solidFill>
                <a:latin typeface="Manrope"/>
              </a:rPr>
              <a:t>[ SHOPIFY ] 3/5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1550" y="6749504"/>
            <a:ext cx="8286750" cy="15772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450" b="1">
                <a:solidFill>
                  <a:srgbClr val="FFFFFF"/>
                </a:solidFill>
                <a:latin typeface="Unbounded"/>
              </a:rPr>
              <a:t>SHOPIFY ДОЗВОЛЯЄ КЛІЄНТУ САМОСТІЙНО ПРОЙТИ ВЕСЬ ШЛЯХ: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8700" y="8707710"/>
            <a:ext cx="1143000" cy="38100"/>
          </a:xfrm>
          <a:prstGeom prst="roundRect">
            <a:avLst>
              <a:gd name="adj" fmla="val 0"/>
            </a:avLst>
          </a:prstGeom>
          <a:solidFill>
            <a:srgbClr val="BFA7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28700" y="9183960"/>
            <a:ext cx="1473026" cy="776288"/>
          </a:xfrm>
          <a:prstGeom prst="roundRect">
            <a:avLst>
              <a:gd name="adj" fmla="val 49079"/>
            </a:avLst>
          </a:prstGeom>
          <a:solidFill>
            <a:srgbClr val="232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62050" y="9336360"/>
            <a:ext cx="1206326" cy="471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700" b="0">
                <a:solidFill>
                  <a:srgbClr val="FFFFFF"/>
                </a:solidFill>
                <a:latin typeface="Manrope"/>
              </a:rPr>
              <a:t>товар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96976" y="9336360"/>
            <a:ext cx="400050" cy="471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700" b="0">
                <a:solidFill>
                  <a:srgbClr val="BFA77A"/>
                </a:solidFill>
                <a:latin typeface="Manrope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49426" y="9183960"/>
            <a:ext cx="1531590" cy="776288"/>
          </a:xfrm>
          <a:prstGeom prst="roundRect">
            <a:avLst>
              <a:gd name="adj" fmla="val 49079"/>
            </a:avLst>
          </a:prstGeom>
          <a:solidFill>
            <a:srgbClr val="232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82776" y="9336360"/>
            <a:ext cx="1264890" cy="471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700" b="0">
                <a:solidFill>
                  <a:srgbClr val="FFFFFF"/>
                </a:solidFill>
                <a:latin typeface="Manrope"/>
              </a:rPr>
              <a:t>кошик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76267" y="9336360"/>
            <a:ext cx="400050" cy="471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700" b="0">
                <a:solidFill>
                  <a:srgbClr val="BFA77A"/>
                </a:solidFill>
                <a:latin typeface="Manrope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28717" y="9183960"/>
            <a:ext cx="1677219" cy="776288"/>
          </a:xfrm>
          <a:prstGeom prst="roundRect">
            <a:avLst>
              <a:gd name="adj" fmla="val 49079"/>
            </a:avLst>
          </a:prstGeom>
          <a:solidFill>
            <a:srgbClr val="232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62067" y="9336360"/>
            <a:ext cx="1410519" cy="471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700" b="0">
                <a:solidFill>
                  <a:srgbClr val="FFFFFF"/>
                </a:solidFill>
                <a:latin typeface="Manrope"/>
              </a:rPr>
              <a:t>оплата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1185" y="9336360"/>
            <a:ext cx="400050" cy="471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700" b="0">
                <a:solidFill>
                  <a:srgbClr val="BFA77A"/>
                </a:solidFill>
                <a:latin typeface="Manrope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28700" y="10112648"/>
            <a:ext cx="2043559" cy="776288"/>
          </a:xfrm>
          <a:prstGeom prst="roundRect">
            <a:avLst>
              <a:gd name="adj" fmla="val 49079"/>
            </a:avLst>
          </a:prstGeom>
          <a:solidFill>
            <a:srgbClr val="232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62050" y="10265048"/>
            <a:ext cx="1776859" cy="471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700" b="0">
                <a:solidFill>
                  <a:srgbClr val="FFFFFF"/>
                </a:solidFill>
                <a:latin typeface="Manrope"/>
              </a:rPr>
              <a:t>доставка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67509" y="10265048"/>
            <a:ext cx="400050" cy="471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700" b="0">
                <a:solidFill>
                  <a:srgbClr val="BFA77A"/>
                </a:solidFill>
                <a:latin typeface="Manrope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719959" y="10112648"/>
            <a:ext cx="3066752" cy="776288"/>
          </a:xfrm>
          <a:prstGeom prst="roundRect">
            <a:avLst>
              <a:gd name="adj" fmla="val 49079"/>
            </a:avLst>
          </a:prstGeom>
          <a:solidFill>
            <a:srgbClr val="232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53309" y="10265048"/>
            <a:ext cx="2800052" cy="471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700" b="0">
                <a:solidFill>
                  <a:srgbClr val="FFFFFF"/>
                </a:solidFill>
                <a:latin typeface="Manrope"/>
              </a:rPr>
              <a:t>підтвердження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1550" y="11231835"/>
            <a:ext cx="8286750" cy="49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700" b="0">
                <a:solidFill>
                  <a:srgbClr val="8E8E96"/>
                </a:solidFill>
                <a:latin typeface="Manrope"/>
              </a:rPr>
              <a:t>24/7, навіть коли команда не онлайн.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pic>
        <p:nvPicPr>
          <p:cNvPr id="3" name="Picture 2" descr="logo-mon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2381250"/>
            <a:ext cx="560263" cy="285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46113" y="2381250"/>
            <a:ext cx="1350318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264">
                <a:solidFill>
                  <a:srgbClr val="111113"/>
                </a:solidFill>
                <a:latin typeface="Manrope"/>
              </a:rPr>
              <a:t>MILEDEVS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1703" y="2381250"/>
            <a:ext cx="1946597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198">
                <a:solidFill>
                  <a:srgbClr val="BFA77A"/>
                </a:solidFill>
                <a:latin typeface="Manrope"/>
              </a:rPr>
              <a:t>[ SHOPIFY ] 4/5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1550" y="6120780"/>
            <a:ext cx="8286750" cy="7314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800" b="1">
                <a:solidFill>
                  <a:srgbClr val="111113"/>
                </a:solidFill>
                <a:latin typeface="Unbounded"/>
              </a:rPr>
              <a:t>А БІЗНЕС ОТРИМУЄ: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8700" y="7233270"/>
            <a:ext cx="1143000" cy="38100"/>
          </a:xfrm>
          <a:prstGeom prst="roundRect">
            <a:avLst>
              <a:gd name="adj" fmla="val 0"/>
            </a:avLst>
          </a:prstGeom>
          <a:solidFill>
            <a:srgbClr val="BFA7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1550" y="7900020"/>
            <a:ext cx="82867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>
                <a:solidFill>
                  <a:srgbClr val="111113"/>
                </a:solidFill>
                <a:latin typeface="Manrope"/>
              </a:rPr>
              <a:t>— аналітику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28700" y="8776320"/>
            <a:ext cx="8229600" cy="19050"/>
          </a:xfrm>
          <a:prstGeom prst="roundRect">
            <a:avLst>
              <a:gd name="adj" fmla="val 0"/>
            </a:avLst>
          </a:prstGeom>
          <a:solidFill>
            <a:srgbClr val="D9D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1550" y="8795370"/>
            <a:ext cx="82867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>
                <a:solidFill>
                  <a:srgbClr val="111113"/>
                </a:solidFill>
                <a:latin typeface="Manrope"/>
              </a:rPr>
              <a:t>— автоматизацію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8700" y="9671670"/>
            <a:ext cx="8229600" cy="19050"/>
          </a:xfrm>
          <a:prstGeom prst="roundRect">
            <a:avLst>
              <a:gd name="adj" fmla="val 0"/>
            </a:avLst>
          </a:prstGeom>
          <a:solidFill>
            <a:srgbClr val="D9D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1550" y="9690720"/>
            <a:ext cx="82867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>
                <a:solidFill>
                  <a:srgbClr val="111113"/>
                </a:solidFill>
                <a:latin typeface="Manrope"/>
              </a:rPr>
              <a:t>— контроль замовлень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28700" y="10567020"/>
            <a:ext cx="8229600" cy="19050"/>
          </a:xfrm>
          <a:prstGeom prst="roundRect">
            <a:avLst>
              <a:gd name="adj" fmla="val 0"/>
            </a:avLst>
          </a:prstGeom>
          <a:solidFill>
            <a:srgbClr val="D9D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1550" y="10586070"/>
            <a:ext cx="82867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>
                <a:solidFill>
                  <a:srgbClr val="111113"/>
                </a:solidFill>
                <a:latin typeface="Manrope"/>
              </a:rPr>
              <a:t>— можливість виходити на нові ринки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28700" y="11462370"/>
            <a:ext cx="8229600" cy="19050"/>
          </a:xfrm>
          <a:prstGeom prst="roundRect">
            <a:avLst>
              <a:gd name="adj" fmla="val 0"/>
            </a:avLst>
          </a:prstGeom>
          <a:solidFill>
            <a:srgbClr val="D9D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1550" y="11481420"/>
            <a:ext cx="82867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>
                <a:solidFill>
                  <a:srgbClr val="111113"/>
                </a:solidFill>
                <a:latin typeface="Manrope"/>
              </a:rPr>
              <a:t>— менше ручної роботи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pic>
        <p:nvPicPr>
          <p:cNvPr id="3" name="Picture 2" descr="logo-mon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2381250"/>
            <a:ext cx="560263" cy="285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46113" y="2381250"/>
            <a:ext cx="1350318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264">
                <a:solidFill>
                  <a:srgbClr val="FFFFFF"/>
                </a:solidFill>
                <a:latin typeface="Manrope"/>
              </a:rPr>
              <a:t>MILEDEVS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6391" y="2381250"/>
            <a:ext cx="1941909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198">
                <a:solidFill>
                  <a:srgbClr val="BFA77A"/>
                </a:solidFill>
                <a:latin typeface="Manrope"/>
              </a:rPr>
              <a:t>[ SHOPIFY ] 5/5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1550" y="6755160"/>
            <a:ext cx="8286750" cy="15772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450" b="1">
                <a:solidFill>
                  <a:srgbClr val="FFFFFF"/>
                </a:solidFill>
                <a:latin typeface="Unbounded"/>
              </a:rPr>
              <a:t>ПОТРІБНО ЗРОЗУМІТИ, ЧИ ПІДІЙДЕ SHOPIFY ВАШОМУ БІЗНЕСУ?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8700" y="8713366"/>
            <a:ext cx="1143000" cy="38100"/>
          </a:xfrm>
          <a:prstGeom prst="roundRect">
            <a:avLst>
              <a:gd name="adj" fmla="val 0"/>
            </a:avLst>
          </a:prstGeom>
          <a:solidFill>
            <a:srgbClr val="BFA7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1550" y="9132466"/>
            <a:ext cx="8286750" cy="1104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3000" b="0">
                <a:solidFill>
                  <a:srgbClr val="D6D6DA"/>
                </a:solidFill>
                <a:latin typeface="Manrope"/>
              </a:rPr>
              <a:t>Напишіть SHOPIFY у Direct — проведемо коротку консультацію.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28700" y="10770766"/>
            <a:ext cx="2693268" cy="952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9700" y="11056516"/>
            <a:ext cx="1931268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111111"/>
                </a:solidFill>
                <a:latin typeface="Unbounded"/>
              </a:rPr>
              <a:t>SHOPIFY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pic>
        <p:nvPicPr>
          <p:cNvPr id="3" name="Picture 2" descr="logo-mon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2381250"/>
            <a:ext cx="560263" cy="285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46113" y="2381250"/>
            <a:ext cx="1350318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264">
                <a:solidFill>
                  <a:srgbClr val="FFFFFF"/>
                </a:solidFill>
                <a:latin typeface="Manrope"/>
              </a:rPr>
              <a:t>MILEDEVS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85954" y="2381250"/>
            <a:ext cx="3172346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198">
                <a:solidFill>
                  <a:srgbClr val="BFA77A"/>
                </a:solidFill>
                <a:latin typeface="Manrope"/>
              </a:rPr>
              <a:t>[ ЯК МИ ПРАЦЮЄМО ] 1/9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1550" y="6076950"/>
            <a:ext cx="8286750" cy="2057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500" b="1">
                <a:solidFill>
                  <a:srgbClr val="FFFFFF"/>
                </a:solidFill>
                <a:latin typeface="Unbounded"/>
              </a:rPr>
              <a:t>СИЛЬНИЙ ПРОЄКТ ПОЧИНАЄТЬСЯ НЕ З ДИЗАЙНУ.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8700" y="8515350"/>
            <a:ext cx="1143000" cy="38100"/>
          </a:xfrm>
          <a:prstGeom prst="roundRect">
            <a:avLst>
              <a:gd name="adj" fmla="val 0"/>
            </a:avLst>
          </a:prstGeom>
          <a:solidFill>
            <a:srgbClr val="BFA7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1550" y="8934450"/>
            <a:ext cx="8286750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3000" b="0">
                <a:solidFill>
                  <a:srgbClr val="D6D6DA"/>
                </a:solidFill>
                <a:latin typeface="Manrope"/>
              </a:rPr>
              <a:t>Він починається з розуміння: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1550" y="9734550"/>
            <a:ext cx="82867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>
                <a:solidFill>
                  <a:srgbClr val="FFFFFF"/>
                </a:solidFill>
                <a:latin typeface="Manrope"/>
              </a:rPr>
              <a:t>— що потрібно бізнесу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28700" y="10610850"/>
            <a:ext cx="8229600" cy="19050"/>
          </a:xfrm>
          <a:prstGeom prst="roundRect">
            <a:avLst>
              <a:gd name="adj" fmla="val 0"/>
            </a:avLst>
          </a:prstGeom>
          <a:solidFill>
            <a:srgbClr val="2C2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1550" y="10629900"/>
            <a:ext cx="82867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>
                <a:solidFill>
                  <a:srgbClr val="FFFFFF"/>
                </a:solidFill>
                <a:latin typeface="Manrope"/>
              </a:rPr>
              <a:t>— де він втрачає клієнтів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28700" y="11506200"/>
            <a:ext cx="8229600" cy="19050"/>
          </a:xfrm>
          <a:prstGeom prst="roundRect">
            <a:avLst>
              <a:gd name="adj" fmla="val 0"/>
            </a:avLst>
          </a:prstGeom>
          <a:solidFill>
            <a:srgbClr val="2C2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550" y="11525250"/>
            <a:ext cx="82867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>
                <a:solidFill>
                  <a:srgbClr val="FFFFFF"/>
                </a:solidFill>
                <a:latin typeface="Manrope"/>
              </a:rPr>
              <a:t>— якого результату хоче досягти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pic>
        <p:nvPicPr>
          <p:cNvPr id="3" name="Picture 2" descr="logo-mon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2381250"/>
            <a:ext cx="560263" cy="285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46113" y="2381250"/>
            <a:ext cx="1350318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264">
                <a:solidFill>
                  <a:srgbClr val="111113"/>
                </a:solidFill>
                <a:latin typeface="Manrope"/>
              </a:rPr>
              <a:t>MILEDEVS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52989" y="2381250"/>
            <a:ext cx="3205311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198">
                <a:solidFill>
                  <a:srgbClr val="BFA77A"/>
                </a:solidFill>
                <a:latin typeface="Manrope"/>
              </a:rPr>
              <a:t>[ ЯК МИ ПРАЦЮЄМО ] 2/9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1550" y="7511504"/>
            <a:ext cx="8286750" cy="21029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450" b="1">
                <a:solidFill>
                  <a:srgbClr val="111113"/>
                </a:solidFill>
                <a:latin typeface="Unbounded"/>
              </a:rPr>
              <a:t>МИ НЕ ПОЧИНАЄМО СПІВПРАЦЮ З ФРАЗИ «ПОКАЖІТЬ САЙТИ, ЯКІ ВАМ ПОДОБАЮТЬСЯ».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8700" y="9995446"/>
            <a:ext cx="1143000" cy="38100"/>
          </a:xfrm>
          <a:prstGeom prst="roundRect">
            <a:avLst>
              <a:gd name="adj" fmla="val 0"/>
            </a:avLst>
          </a:prstGeom>
          <a:solidFill>
            <a:srgbClr val="BFA7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1550" y="10414546"/>
            <a:ext cx="8286750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3000" b="0">
                <a:solidFill>
                  <a:srgbClr val="2F2F35"/>
                </a:solidFill>
                <a:latin typeface="Manrope"/>
              </a:rPr>
              <a:t>Спочатку ми занурюємося у ваш бізнес.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pic>
        <p:nvPicPr>
          <p:cNvPr id="3" name="Picture 2" descr="logo-mon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2381250"/>
            <a:ext cx="560263" cy="285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46113" y="2381250"/>
            <a:ext cx="1350318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264">
                <a:solidFill>
                  <a:srgbClr val="FFFFFF"/>
                </a:solidFill>
                <a:latin typeface="Manrope"/>
              </a:rPr>
              <a:t>MILEDEVS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55891" y="2381250"/>
            <a:ext cx="3202409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198">
                <a:solidFill>
                  <a:srgbClr val="BFA77A"/>
                </a:solidFill>
                <a:latin typeface="Manrope"/>
              </a:rPr>
              <a:t>[ ЯК МИ ПРАЦЮЄМО ] 3/9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1550" y="4757291"/>
            <a:ext cx="8286750" cy="3381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50" b="1" spc="273">
                <a:solidFill>
                  <a:srgbClr val="BFA77A"/>
                </a:solidFill>
                <a:latin typeface="Manrope"/>
              </a:rPr>
              <a:t>ЕТАП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1550" y="5304979"/>
            <a:ext cx="8286750" cy="1462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800" b="1">
                <a:solidFill>
                  <a:srgbClr val="FFFFFF"/>
                </a:solidFill>
                <a:latin typeface="Unbounded"/>
              </a:rPr>
              <a:t>ЗНАЙОМСТВО ТА БРИФІНГ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28700" y="7148959"/>
            <a:ext cx="1143000" cy="38100"/>
          </a:xfrm>
          <a:prstGeom prst="roundRect">
            <a:avLst>
              <a:gd name="adj" fmla="val 0"/>
            </a:avLst>
          </a:prstGeom>
          <a:solidFill>
            <a:srgbClr val="BFA7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1550" y="7568059"/>
            <a:ext cx="8286750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3000" b="0">
                <a:solidFill>
                  <a:srgbClr val="D6D6DA"/>
                </a:solidFill>
                <a:latin typeface="Manrope"/>
              </a:rPr>
              <a:t>Ми аналізуємо: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1550" y="8368159"/>
            <a:ext cx="82867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>
                <a:solidFill>
                  <a:srgbClr val="FFFFFF"/>
                </a:solidFill>
                <a:latin typeface="Manrope"/>
              </a:rPr>
              <a:t>— продукт і бізнес-модель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8700" y="9244459"/>
            <a:ext cx="8229600" cy="19050"/>
          </a:xfrm>
          <a:prstGeom prst="roundRect">
            <a:avLst>
              <a:gd name="adj" fmla="val 0"/>
            </a:avLst>
          </a:prstGeom>
          <a:solidFill>
            <a:srgbClr val="2C2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1550" y="9263509"/>
            <a:ext cx="82867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>
                <a:solidFill>
                  <a:srgbClr val="FFFFFF"/>
                </a:solidFill>
                <a:latin typeface="Manrope"/>
              </a:rPr>
              <a:t>— цільову аудиторію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28700" y="10139809"/>
            <a:ext cx="8229600" cy="19050"/>
          </a:xfrm>
          <a:prstGeom prst="roundRect">
            <a:avLst>
              <a:gd name="adj" fmla="val 0"/>
            </a:avLst>
          </a:prstGeom>
          <a:solidFill>
            <a:srgbClr val="2C2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1550" y="10158859"/>
            <a:ext cx="82867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>
                <a:solidFill>
                  <a:srgbClr val="FFFFFF"/>
                </a:solidFill>
                <a:latin typeface="Manrope"/>
              </a:rPr>
              <a:t>— конкурентів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28700" y="11035159"/>
            <a:ext cx="8229600" cy="19050"/>
          </a:xfrm>
          <a:prstGeom prst="roundRect">
            <a:avLst>
              <a:gd name="adj" fmla="val 0"/>
            </a:avLst>
          </a:prstGeom>
          <a:solidFill>
            <a:srgbClr val="2C2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1550" y="11054209"/>
            <a:ext cx="82867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>
                <a:solidFill>
                  <a:srgbClr val="FFFFFF"/>
                </a:solidFill>
                <a:latin typeface="Manrope"/>
              </a:rPr>
              <a:t>— поточні процеси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28700" y="11930509"/>
            <a:ext cx="8229600" cy="19050"/>
          </a:xfrm>
          <a:prstGeom prst="roundRect">
            <a:avLst>
              <a:gd name="adj" fmla="val 0"/>
            </a:avLst>
          </a:prstGeom>
          <a:solidFill>
            <a:srgbClr val="2C2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1550" y="11949559"/>
            <a:ext cx="82867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>
                <a:solidFill>
                  <a:srgbClr val="FFFFFF"/>
                </a:solidFill>
                <a:latin typeface="Manrope"/>
              </a:rPr>
              <a:t>— ринки, на яких ви працюєте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28700" y="12825859"/>
            <a:ext cx="8229600" cy="19050"/>
          </a:xfrm>
          <a:prstGeom prst="roundRect">
            <a:avLst>
              <a:gd name="adj" fmla="val 0"/>
            </a:avLst>
          </a:prstGeom>
          <a:solidFill>
            <a:srgbClr val="2C2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1550" y="12844909"/>
            <a:ext cx="82867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>
                <a:solidFill>
                  <a:srgbClr val="FFFFFF"/>
                </a:solidFill>
                <a:latin typeface="Manrope"/>
              </a:rPr>
              <a:t>— цілі проєкту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pic>
        <p:nvPicPr>
          <p:cNvPr id="3" name="Picture 2" descr="logo-mon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2381250"/>
            <a:ext cx="560263" cy="285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46113" y="2381250"/>
            <a:ext cx="1350318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264">
                <a:solidFill>
                  <a:srgbClr val="111113"/>
                </a:solidFill>
                <a:latin typeface="Manrope"/>
              </a:rPr>
              <a:t>MILEDEVS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50235" y="2381250"/>
            <a:ext cx="3208065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198">
                <a:solidFill>
                  <a:srgbClr val="BFA77A"/>
                </a:solidFill>
                <a:latin typeface="Manrope"/>
              </a:rPr>
              <a:t>[ ЯК МИ ПРАЦЮЄМО ] 4/9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1550" y="5404991"/>
            <a:ext cx="8286750" cy="3381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50" b="1" spc="273">
                <a:solidFill>
                  <a:srgbClr val="BFA77A"/>
                </a:solidFill>
                <a:latin typeface="Manrope"/>
              </a:rPr>
              <a:t>ЕТАП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1550" y="5952679"/>
            <a:ext cx="8286750" cy="1462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800" b="1">
                <a:solidFill>
                  <a:srgbClr val="111113"/>
                </a:solidFill>
                <a:latin typeface="Unbounded"/>
              </a:rPr>
              <a:t>ДОСЛІДЖЕННЯ ТА СТРАТЕГІЯ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28700" y="7796659"/>
            <a:ext cx="1143000" cy="38100"/>
          </a:xfrm>
          <a:prstGeom prst="roundRect">
            <a:avLst>
              <a:gd name="adj" fmla="val 0"/>
            </a:avLst>
          </a:prstGeom>
          <a:solidFill>
            <a:srgbClr val="BFA7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1550" y="8215759"/>
            <a:ext cx="8286750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3000" b="0">
                <a:solidFill>
                  <a:srgbClr val="2F2F35"/>
                </a:solidFill>
                <a:latin typeface="Manrope"/>
              </a:rPr>
              <a:t>Визначаємо: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1550" y="9015859"/>
            <a:ext cx="82867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>
                <a:solidFill>
                  <a:srgbClr val="111113"/>
                </a:solidFill>
                <a:latin typeface="Manrope"/>
              </a:rPr>
              <a:t>— що потрібно створити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8700" y="9892159"/>
            <a:ext cx="8229600" cy="19050"/>
          </a:xfrm>
          <a:prstGeom prst="roundRect">
            <a:avLst>
              <a:gd name="adj" fmla="val 0"/>
            </a:avLst>
          </a:prstGeom>
          <a:solidFill>
            <a:srgbClr val="D9D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1550" y="9911209"/>
            <a:ext cx="82867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>
                <a:solidFill>
                  <a:srgbClr val="111113"/>
                </a:solidFill>
                <a:latin typeface="Manrope"/>
              </a:rPr>
              <a:t>— які функції необхідні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28700" y="10787509"/>
            <a:ext cx="8229600" cy="19050"/>
          </a:xfrm>
          <a:prstGeom prst="roundRect">
            <a:avLst>
              <a:gd name="adj" fmla="val 0"/>
            </a:avLst>
          </a:prstGeom>
          <a:solidFill>
            <a:srgbClr val="D9D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1550" y="10806559"/>
            <a:ext cx="82867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>
                <a:solidFill>
                  <a:srgbClr val="111113"/>
                </a:solidFill>
                <a:latin typeface="Manrope"/>
              </a:rPr>
              <a:t>— яким буде шлях клієнта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28700" y="11682859"/>
            <a:ext cx="8229600" cy="19050"/>
          </a:xfrm>
          <a:prstGeom prst="roundRect">
            <a:avLst>
              <a:gd name="adj" fmla="val 0"/>
            </a:avLst>
          </a:prstGeom>
          <a:solidFill>
            <a:srgbClr val="D9D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1550" y="11701909"/>
            <a:ext cx="828675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>
                <a:solidFill>
                  <a:srgbClr val="111113"/>
                </a:solidFill>
                <a:latin typeface="Manrope"/>
              </a:rPr>
              <a:t>— що має привести його до покупки або заявки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pic>
        <p:nvPicPr>
          <p:cNvPr id="3" name="Picture 2" descr="logo-mon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2381250"/>
            <a:ext cx="560263" cy="285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46113" y="2381250"/>
            <a:ext cx="1350318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264">
                <a:solidFill>
                  <a:srgbClr val="FFFFFF"/>
                </a:solidFill>
                <a:latin typeface="Manrope"/>
              </a:rPr>
              <a:t>MILEDEVS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54923" y="2381250"/>
            <a:ext cx="3203377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198">
                <a:solidFill>
                  <a:srgbClr val="BFA77A"/>
                </a:solidFill>
                <a:latin typeface="Manrope"/>
              </a:rPr>
              <a:t>[ ЯК МИ ПРАЦЮЄМО ] 5/9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1550" y="5376416"/>
            <a:ext cx="8286750" cy="3381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50" b="1" spc="273">
                <a:solidFill>
                  <a:srgbClr val="BFA77A"/>
                </a:solidFill>
                <a:latin typeface="Manrope"/>
              </a:rPr>
              <a:t>ЕТАП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1550" y="5924104"/>
            <a:ext cx="8286750" cy="1462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800" b="1">
                <a:solidFill>
                  <a:srgbClr val="FFFFFF"/>
                </a:solidFill>
                <a:latin typeface="Unbounded"/>
              </a:rPr>
              <a:t>СТРУКТУРА ТА UX/UI-ДИЗАЙН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28700" y="7768084"/>
            <a:ext cx="1143000" cy="38100"/>
          </a:xfrm>
          <a:prstGeom prst="roundRect">
            <a:avLst>
              <a:gd name="adj" fmla="val 0"/>
            </a:avLst>
          </a:prstGeom>
          <a:solidFill>
            <a:srgbClr val="BFA7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1550" y="8187184"/>
            <a:ext cx="8286750" cy="1104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3000" b="0">
                <a:solidFill>
                  <a:srgbClr val="D6D6DA"/>
                </a:solidFill>
                <a:latin typeface="Manrope"/>
              </a:rPr>
              <a:t>Продумуємо не просто красиві екрани. Ми будуємо логіку: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1550" y="9539734"/>
            <a:ext cx="82867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>
                <a:solidFill>
                  <a:srgbClr val="FFFFFF"/>
                </a:solidFill>
                <a:latin typeface="Manrope"/>
              </a:rPr>
              <a:t>— що людина побачить першою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8700" y="10416034"/>
            <a:ext cx="8229600" cy="19050"/>
          </a:xfrm>
          <a:prstGeom prst="roundRect">
            <a:avLst>
              <a:gd name="adj" fmla="val 0"/>
            </a:avLst>
          </a:prstGeom>
          <a:solidFill>
            <a:srgbClr val="2C2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1550" y="10435084"/>
            <a:ext cx="82867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>
                <a:solidFill>
                  <a:srgbClr val="FFFFFF"/>
                </a:solidFill>
                <a:latin typeface="Manrope"/>
              </a:rPr>
              <a:t>— як знайде потрібну інформацію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28700" y="11311384"/>
            <a:ext cx="8229600" cy="19050"/>
          </a:xfrm>
          <a:prstGeom prst="roundRect">
            <a:avLst>
              <a:gd name="adj" fmla="val 0"/>
            </a:avLst>
          </a:prstGeom>
          <a:solidFill>
            <a:srgbClr val="2C2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1550" y="11330434"/>
            <a:ext cx="82867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>
                <a:solidFill>
                  <a:srgbClr val="FFFFFF"/>
                </a:solidFill>
                <a:latin typeface="Manrope"/>
              </a:rPr>
              <a:t>— де отримає відповіді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28700" y="12206734"/>
            <a:ext cx="8229600" cy="19050"/>
          </a:xfrm>
          <a:prstGeom prst="roundRect">
            <a:avLst>
              <a:gd name="adj" fmla="val 0"/>
            </a:avLst>
          </a:prstGeom>
          <a:solidFill>
            <a:srgbClr val="2C2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1550" y="12225784"/>
            <a:ext cx="82867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>
                <a:solidFill>
                  <a:srgbClr val="FFFFFF"/>
                </a:solidFill>
                <a:latin typeface="Manrope"/>
              </a:rPr>
              <a:t>— як перейде до цільової дії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pic>
        <p:nvPicPr>
          <p:cNvPr id="3" name="Picture 2" descr="logo-mon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2381250"/>
            <a:ext cx="560263" cy="285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46113" y="2381250"/>
            <a:ext cx="1350318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264">
                <a:solidFill>
                  <a:srgbClr val="111113"/>
                </a:solidFill>
                <a:latin typeface="Manrope"/>
              </a:rPr>
              <a:t>MILEDEVS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47482" y="2381250"/>
            <a:ext cx="3210818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198">
                <a:solidFill>
                  <a:srgbClr val="BFA77A"/>
                </a:solidFill>
                <a:latin typeface="Manrope"/>
              </a:rPr>
              <a:t>[ ЯК МИ ПРАЦЮЄМО ] 6/9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1550" y="4481066"/>
            <a:ext cx="8286750" cy="3381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50" b="1" spc="273">
                <a:solidFill>
                  <a:srgbClr val="BFA77A"/>
                </a:solidFill>
                <a:latin typeface="Manrope"/>
              </a:rPr>
              <a:t>ЕТАП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1550" y="5028754"/>
            <a:ext cx="8286750" cy="1462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800" b="1">
                <a:solidFill>
                  <a:srgbClr val="111113"/>
                </a:solidFill>
                <a:latin typeface="Unbounded"/>
              </a:rPr>
              <a:t>РОЗРОБКА ТА ІНТЕГРАЦІЇ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28700" y="6872734"/>
            <a:ext cx="1143000" cy="38100"/>
          </a:xfrm>
          <a:prstGeom prst="roundRect">
            <a:avLst>
              <a:gd name="adj" fmla="val 0"/>
            </a:avLst>
          </a:prstGeom>
          <a:solidFill>
            <a:srgbClr val="BFA7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1550" y="7291834"/>
            <a:ext cx="8286750" cy="1104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3000" b="0">
                <a:solidFill>
                  <a:srgbClr val="2F2F35"/>
                </a:solidFill>
                <a:latin typeface="Manrope"/>
              </a:rPr>
              <a:t>Перетворюємо дизайн на повноцінний робочий продукт. Підключаємо: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1550" y="8644384"/>
            <a:ext cx="82867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>
                <a:solidFill>
                  <a:srgbClr val="111113"/>
                </a:solidFill>
                <a:latin typeface="Manrope"/>
              </a:rPr>
              <a:t>— оплати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8700" y="9520684"/>
            <a:ext cx="8229600" cy="19050"/>
          </a:xfrm>
          <a:prstGeom prst="roundRect">
            <a:avLst>
              <a:gd name="adj" fmla="val 0"/>
            </a:avLst>
          </a:prstGeom>
          <a:solidFill>
            <a:srgbClr val="D9D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1550" y="9539734"/>
            <a:ext cx="82867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>
                <a:solidFill>
                  <a:srgbClr val="111113"/>
                </a:solidFill>
                <a:latin typeface="Manrope"/>
              </a:rPr>
              <a:t>— доставку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28700" y="10416034"/>
            <a:ext cx="8229600" cy="19050"/>
          </a:xfrm>
          <a:prstGeom prst="roundRect">
            <a:avLst>
              <a:gd name="adj" fmla="val 0"/>
            </a:avLst>
          </a:prstGeom>
          <a:solidFill>
            <a:srgbClr val="D9D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1550" y="10435084"/>
            <a:ext cx="82867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>
                <a:solidFill>
                  <a:srgbClr val="111113"/>
                </a:solidFill>
                <a:latin typeface="Manrope"/>
              </a:rPr>
              <a:t>— CRM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28700" y="11311384"/>
            <a:ext cx="8229600" cy="19050"/>
          </a:xfrm>
          <a:prstGeom prst="roundRect">
            <a:avLst>
              <a:gd name="adj" fmla="val 0"/>
            </a:avLst>
          </a:prstGeom>
          <a:solidFill>
            <a:srgbClr val="D9D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1550" y="11330434"/>
            <a:ext cx="82867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>
                <a:solidFill>
                  <a:srgbClr val="111113"/>
                </a:solidFill>
                <a:latin typeface="Manrope"/>
              </a:rPr>
              <a:t>— аналітику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28700" y="12206734"/>
            <a:ext cx="8229600" cy="19050"/>
          </a:xfrm>
          <a:prstGeom prst="roundRect">
            <a:avLst>
              <a:gd name="adj" fmla="val 0"/>
            </a:avLst>
          </a:prstGeom>
          <a:solidFill>
            <a:srgbClr val="D9D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1550" y="12225784"/>
            <a:ext cx="82867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>
                <a:solidFill>
                  <a:srgbClr val="111113"/>
                </a:solidFill>
                <a:latin typeface="Manrope"/>
              </a:rPr>
              <a:t>— маркетингові інструменти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28700" y="13102084"/>
            <a:ext cx="8229600" cy="19050"/>
          </a:xfrm>
          <a:prstGeom prst="roundRect">
            <a:avLst>
              <a:gd name="adj" fmla="val 0"/>
            </a:avLst>
          </a:prstGeom>
          <a:solidFill>
            <a:srgbClr val="D9D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1550" y="13121134"/>
            <a:ext cx="82867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>
                <a:solidFill>
                  <a:srgbClr val="111113"/>
                </a:solidFill>
                <a:latin typeface="Manrope"/>
              </a:rPr>
              <a:t>— автоматизації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pic>
        <p:nvPicPr>
          <p:cNvPr id="3" name="Picture 2" descr="logo-mon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2381250"/>
            <a:ext cx="560263" cy="285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46113" y="2381250"/>
            <a:ext cx="1350318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264">
                <a:solidFill>
                  <a:srgbClr val="FFFFFF"/>
                </a:solidFill>
                <a:latin typeface="Manrope"/>
              </a:rPr>
              <a:t>MILEDEVS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65937" y="2381250"/>
            <a:ext cx="3192363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198">
                <a:solidFill>
                  <a:srgbClr val="BFA77A"/>
                </a:solidFill>
                <a:latin typeface="Manrope"/>
              </a:rPr>
              <a:t>[ ЯК МИ ПРАЦЮЄМО ] 7/9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1550" y="4675361"/>
            <a:ext cx="8286750" cy="3381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50" b="1" spc="273">
                <a:solidFill>
                  <a:srgbClr val="BFA77A"/>
                </a:solidFill>
                <a:latin typeface="Manrope"/>
              </a:rPr>
              <a:t>ЕТАП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1550" y="5223049"/>
            <a:ext cx="8286750" cy="7314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800" b="1">
                <a:solidFill>
                  <a:srgbClr val="FFFFFF"/>
                </a:solidFill>
                <a:latin typeface="Unbounded"/>
              </a:rPr>
              <a:t>ТЕСТУВАННЯ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28700" y="6335539"/>
            <a:ext cx="1143000" cy="38100"/>
          </a:xfrm>
          <a:prstGeom prst="roundRect">
            <a:avLst>
              <a:gd name="adj" fmla="val 0"/>
            </a:avLst>
          </a:prstGeom>
          <a:solidFill>
            <a:srgbClr val="BFA7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1550" y="6754639"/>
            <a:ext cx="8286750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3000" b="0">
                <a:solidFill>
                  <a:srgbClr val="D6D6DA"/>
                </a:solidFill>
                <a:latin typeface="Manrope"/>
              </a:rPr>
              <a:t>Перевіряємо: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1550" y="7554739"/>
            <a:ext cx="82867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>
                <a:solidFill>
                  <a:srgbClr val="FFFFFF"/>
                </a:solidFill>
                <a:latin typeface="Manrope"/>
              </a:rPr>
              <a:t>— мобільну версію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8700" y="8431039"/>
            <a:ext cx="8229600" cy="19050"/>
          </a:xfrm>
          <a:prstGeom prst="roundRect">
            <a:avLst>
              <a:gd name="adj" fmla="val 0"/>
            </a:avLst>
          </a:prstGeom>
          <a:solidFill>
            <a:srgbClr val="2C2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1550" y="8450089"/>
            <a:ext cx="82867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>
                <a:solidFill>
                  <a:srgbClr val="FFFFFF"/>
                </a:solidFill>
                <a:latin typeface="Manrope"/>
              </a:rPr>
              <a:t>— швидкість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28700" y="9326389"/>
            <a:ext cx="8229600" cy="19050"/>
          </a:xfrm>
          <a:prstGeom prst="roundRect">
            <a:avLst>
              <a:gd name="adj" fmla="val 0"/>
            </a:avLst>
          </a:prstGeom>
          <a:solidFill>
            <a:srgbClr val="2C2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1550" y="9345439"/>
            <a:ext cx="82867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>
                <a:solidFill>
                  <a:srgbClr val="FFFFFF"/>
                </a:solidFill>
                <a:latin typeface="Manrope"/>
              </a:rPr>
              <a:t>— форми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28700" y="10221739"/>
            <a:ext cx="8229600" cy="19050"/>
          </a:xfrm>
          <a:prstGeom prst="roundRect">
            <a:avLst>
              <a:gd name="adj" fmla="val 0"/>
            </a:avLst>
          </a:prstGeom>
          <a:solidFill>
            <a:srgbClr val="2C2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1550" y="10240789"/>
            <a:ext cx="82867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>
                <a:solidFill>
                  <a:srgbClr val="FFFFFF"/>
                </a:solidFill>
                <a:latin typeface="Manrope"/>
              </a:rPr>
              <a:t>— кошик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28700" y="11117089"/>
            <a:ext cx="8229600" cy="19050"/>
          </a:xfrm>
          <a:prstGeom prst="roundRect">
            <a:avLst>
              <a:gd name="adj" fmla="val 0"/>
            </a:avLst>
          </a:prstGeom>
          <a:solidFill>
            <a:srgbClr val="2C2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1550" y="11136139"/>
            <a:ext cx="82867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>
                <a:solidFill>
                  <a:srgbClr val="FFFFFF"/>
                </a:solidFill>
                <a:latin typeface="Manrope"/>
              </a:rPr>
              <a:t>— оплату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28700" y="12012439"/>
            <a:ext cx="8229600" cy="19050"/>
          </a:xfrm>
          <a:prstGeom prst="roundRect">
            <a:avLst>
              <a:gd name="adj" fmla="val 0"/>
            </a:avLst>
          </a:prstGeom>
          <a:solidFill>
            <a:srgbClr val="2C2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1550" y="12031489"/>
            <a:ext cx="82867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>
                <a:solidFill>
                  <a:srgbClr val="FFFFFF"/>
                </a:solidFill>
                <a:latin typeface="Manrope"/>
              </a:rPr>
              <a:t>— інтеграції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28700" y="12907789"/>
            <a:ext cx="8229600" cy="19050"/>
          </a:xfrm>
          <a:prstGeom prst="roundRect">
            <a:avLst>
              <a:gd name="adj" fmla="val 0"/>
            </a:avLst>
          </a:prstGeom>
          <a:solidFill>
            <a:srgbClr val="2C2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1550" y="12926839"/>
            <a:ext cx="82867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>
                <a:solidFill>
                  <a:srgbClr val="FFFFFF"/>
                </a:solidFill>
                <a:latin typeface="Manrope"/>
              </a:rPr>
              <a:t>— різні сценарії поведінки користувача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pic>
        <p:nvPicPr>
          <p:cNvPr id="3" name="Picture 2" descr="logo-mon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2381250"/>
            <a:ext cx="560263" cy="285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46113" y="2381250"/>
            <a:ext cx="1350318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264">
                <a:solidFill>
                  <a:srgbClr val="111113"/>
                </a:solidFill>
                <a:latin typeface="Manrope"/>
              </a:rPr>
              <a:t>MILEDEVS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49417" y="2381250"/>
            <a:ext cx="3208883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198">
                <a:solidFill>
                  <a:srgbClr val="BFA77A"/>
                </a:solidFill>
                <a:latin typeface="Manrope"/>
              </a:rPr>
              <a:t>[ ЯК МИ ПРАЦЮЄМО ] 8/9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1550" y="5204966"/>
            <a:ext cx="8286750" cy="3381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50" b="1" spc="273">
                <a:solidFill>
                  <a:srgbClr val="BFA77A"/>
                </a:solidFill>
                <a:latin typeface="Manrope"/>
              </a:rPr>
              <a:t>ЕТАП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1550" y="5752654"/>
            <a:ext cx="8286750" cy="1462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800" b="1">
                <a:solidFill>
                  <a:srgbClr val="111113"/>
                </a:solidFill>
                <a:latin typeface="Unbounded"/>
              </a:rPr>
              <a:t>ЗАПУСК — НЕ КІНЕЦЬ РОБОТИ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28700" y="7596634"/>
            <a:ext cx="1143000" cy="38100"/>
          </a:xfrm>
          <a:prstGeom prst="roundRect">
            <a:avLst>
              <a:gd name="adj" fmla="val 0"/>
            </a:avLst>
          </a:prstGeom>
          <a:solidFill>
            <a:srgbClr val="BFA7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1550" y="8015734"/>
            <a:ext cx="8286750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3000" b="0">
                <a:solidFill>
                  <a:srgbClr val="2F2F35"/>
                </a:solidFill>
                <a:latin typeface="Manrope"/>
              </a:rPr>
              <a:t>Після запуску ми можемо: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1550" y="8815834"/>
            <a:ext cx="82867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>
                <a:solidFill>
                  <a:srgbClr val="111113"/>
                </a:solidFill>
                <a:latin typeface="Manrope"/>
              </a:rPr>
              <a:t>— аналізувати результати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8700" y="9692134"/>
            <a:ext cx="8229600" cy="19050"/>
          </a:xfrm>
          <a:prstGeom prst="roundRect">
            <a:avLst>
              <a:gd name="adj" fmla="val 0"/>
            </a:avLst>
          </a:prstGeom>
          <a:solidFill>
            <a:srgbClr val="D9D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1550" y="9711184"/>
            <a:ext cx="82867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>
                <a:solidFill>
                  <a:srgbClr val="111113"/>
                </a:solidFill>
                <a:latin typeface="Manrope"/>
              </a:rPr>
              <a:t>— виправляти слабкі місця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28700" y="10587484"/>
            <a:ext cx="8229600" cy="19050"/>
          </a:xfrm>
          <a:prstGeom prst="roundRect">
            <a:avLst>
              <a:gd name="adj" fmla="val 0"/>
            </a:avLst>
          </a:prstGeom>
          <a:solidFill>
            <a:srgbClr val="D9D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1550" y="10606534"/>
            <a:ext cx="82867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>
                <a:solidFill>
                  <a:srgbClr val="111113"/>
                </a:solidFill>
                <a:latin typeface="Manrope"/>
              </a:rPr>
              <a:t>— додавати нові функції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28700" y="11482834"/>
            <a:ext cx="8229600" cy="19050"/>
          </a:xfrm>
          <a:prstGeom prst="roundRect">
            <a:avLst>
              <a:gd name="adj" fmla="val 0"/>
            </a:avLst>
          </a:prstGeom>
          <a:solidFill>
            <a:srgbClr val="D9D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1550" y="11501884"/>
            <a:ext cx="82867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>
                <a:solidFill>
                  <a:srgbClr val="111113"/>
                </a:solidFill>
                <a:latin typeface="Manrope"/>
              </a:rPr>
              <a:t>— покращувати конверсію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28700" y="12378184"/>
            <a:ext cx="8229600" cy="19050"/>
          </a:xfrm>
          <a:prstGeom prst="roundRect">
            <a:avLst>
              <a:gd name="adj" fmla="val 0"/>
            </a:avLst>
          </a:prstGeom>
          <a:solidFill>
            <a:srgbClr val="D9D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1550" y="12397234"/>
            <a:ext cx="82867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>
                <a:solidFill>
                  <a:srgbClr val="111113"/>
                </a:solidFill>
                <a:latin typeface="Manrope"/>
              </a:rPr>
              <a:t>— масштабувати проєкт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pic>
        <p:nvPicPr>
          <p:cNvPr id="3" name="Picture 2" descr="logo-mon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2381250"/>
            <a:ext cx="560263" cy="285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46113" y="2381250"/>
            <a:ext cx="1350318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264">
                <a:solidFill>
                  <a:srgbClr val="FFFFFF"/>
                </a:solidFill>
                <a:latin typeface="Manrope"/>
              </a:rPr>
              <a:t>MILEDEVS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47482" y="2381250"/>
            <a:ext cx="3210818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198">
                <a:solidFill>
                  <a:srgbClr val="BFA77A"/>
                </a:solidFill>
                <a:latin typeface="Manrope"/>
              </a:rPr>
              <a:t>[ ЯК МИ ПРАЦЮЄМО ] 9/9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1550" y="4642619"/>
            <a:ext cx="8286750" cy="21029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450" b="1">
                <a:solidFill>
                  <a:srgbClr val="FFFFFF"/>
                </a:solidFill>
                <a:latin typeface="Unbounded"/>
              </a:rPr>
              <a:t>У MILEDEVS ВИ НЕ ОТРИМУЄТЕ НАБІР НЕЗРОЗУМІЛИХ ТЕХНІЧНИХ РОБІТ.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8700" y="7126560"/>
            <a:ext cx="1143000" cy="38100"/>
          </a:xfrm>
          <a:prstGeom prst="roundRect">
            <a:avLst>
              <a:gd name="adj" fmla="val 0"/>
            </a:avLst>
          </a:prstGeom>
          <a:solidFill>
            <a:srgbClr val="BFA7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1550" y="7545660"/>
            <a:ext cx="8286750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3000" b="0">
                <a:solidFill>
                  <a:srgbClr val="D6D6DA"/>
                </a:solidFill>
                <a:latin typeface="Manrope"/>
              </a:rPr>
              <a:t>Ви бачите: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1550" y="8345760"/>
            <a:ext cx="82867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>
                <a:solidFill>
                  <a:srgbClr val="FFFFFF"/>
                </a:solidFill>
                <a:latin typeface="Manrope"/>
              </a:rPr>
              <a:t>— що ми робимо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28700" y="9222060"/>
            <a:ext cx="8229600" cy="19050"/>
          </a:xfrm>
          <a:prstGeom prst="roundRect">
            <a:avLst>
              <a:gd name="adj" fmla="val 0"/>
            </a:avLst>
          </a:prstGeom>
          <a:solidFill>
            <a:srgbClr val="2C2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1550" y="9241110"/>
            <a:ext cx="82867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>
                <a:solidFill>
                  <a:srgbClr val="FFFFFF"/>
                </a:solidFill>
                <a:latin typeface="Manrope"/>
              </a:rPr>
              <a:t>— чому це потрібно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28700" y="10117410"/>
            <a:ext cx="8229600" cy="19050"/>
          </a:xfrm>
          <a:prstGeom prst="roundRect">
            <a:avLst>
              <a:gd name="adj" fmla="val 0"/>
            </a:avLst>
          </a:prstGeom>
          <a:solidFill>
            <a:srgbClr val="2C2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550" y="10136460"/>
            <a:ext cx="82867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>
                <a:solidFill>
                  <a:srgbClr val="FFFFFF"/>
                </a:solidFill>
                <a:latin typeface="Manrope"/>
              </a:rPr>
              <a:t>— як це впливає на бізнес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1550" y="11355660"/>
            <a:ext cx="8286750" cy="9943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700" b="0">
                <a:solidFill>
                  <a:srgbClr val="8E8E96"/>
                </a:solidFill>
                <a:latin typeface="Manrope"/>
              </a:rPr>
              <a:t>Готові обговорити проєкт? Напишіть нам у Direct або залиште заявку на сайті.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28700" y="12883381"/>
            <a:ext cx="5060603" cy="952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09700" y="13169131"/>
            <a:ext cx="4298603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111111"/>
                </a:solidFill>
                <a:latin typeface="Unbounded"/>
              </a:rPr>
              <a:t>НАПИСАТИ В DIRECT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pic>
        <p:nvPicPr>
          <p:cNvPr id="3" name="Picture 2" descr="logo-mon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2381250"/>
            <a:ext cx="560263" cy="285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46113" y="2381250"/>
            <a:ext cx="1350318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264">
                <a:solidFill>
                  <a:srgbClr val="FFFFFF"/>
                </a:solidFill>
                <a:latin typeface="Manrope"/>
              </a:rPr>
              <a:t>MILEDEVS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99486" y="2381250"/>
            <a:ext cx="2058814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198">
                <a:solidFill>
                  <a:srgbClr val="BFA77A"/>
                </a:solidFill>
                <a:latin typeface="Manrope"/>
              </a:rPr>
              <a:t>[ ПОСЛУГИ ] 1/9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1550" y="5629275"/>
            <a:ext cx="8286750" cy="2057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500" b="1">
                <a:solidFill>
                  <a:srgbClr val="FFFFFF"/>
                </a:solidFill>
                <a:latin typeface="Unbounded"/>
              </a:rPr>
              <a:t>БІЗНЕСУ НЕ ЗАВЖДИ ПОТРІБЕН НОВИЙ САЙТ.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8700" y="8067675"/>
            <a:ext cx="1143000" cy="38100"/>
          </a:xfrm>
          <a:prstGeom prst="roundRect">
            <a:avLst>
              <a:gd name="adj" fmla="val 0"/>
            </a:avLst>
          </a:prstGeom>
          <a:solidFill>
            <a:srgbClr val="BFA7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1550" y="8486775"/>
            <a:ext cx="8286750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3000" b="0">
                <a:solidFill>
                  <a:srgbClr val="D6D6DA"/>
                </a:solidFill>
                <a:latin typeface="Manrope"/>
              </a:rPr>
              <a:t>Іноді йому потрібні: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1550" y="9286875"/>
            <a:ext cx="82867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>
                <a:solidFill>
                  <a:srgbClr val="FFFFFF"/>
                </a:solidFill>
                <a:latin typeface="Manrope"/>
              </a:rPr>
              <a:t>— краща конверсія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28700" y="10163175"/>
            <a:ext cx="8229600" cy="19050"/>
          </a:xfrm>
          <a:prstGeom prst="roundRect">
            <a:avLst>
              <a:gd name="adj" fmla="val 0"/>
            </a:avLst>
          </a:prstGeom>
          <a:solidFill>
            <a:srgbClr val="2C2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1550" y="10182225"/>
            <a:ext cx="82867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>
                <a:solidFill>
                  <a:srgbClr val="FFFFFF"/>
                </a:solidFill>
                <a:latin typeface="Manrope"/>
              </a:rPr>
              <a:t>— автоматизація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28700" y="11058525"/>
            <a:ext cx="8229600" cy="19050"/>
          </a:xfrm>
          <a:prstGeom prst="roundRect">
            <a:avLst>
              <a:gd name="adj" fmla="val 0"/>
            </a:avLst>
          </a:prstGeom>
          <a:solidFill>
            <a:srgbClr val="2C2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550" y="11077575"/>
            <a:ext cx="82867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>
                <a:solidFill>
                  <a:srgbClr val="FFFFFF"/>
                </a:solidFill>
                <a:latin typeface="Manrope"/>
              </a:rPr>
              <a:t>— сильніший маркетинг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28700" y="11953875"/>
            <a:ext cx="8229600" cy="19050"/>
          </a:xfrm>
          <a:prstGeom prst="roundRect">
            <a:avLst>
              <a:gd name="adj" fmla="val 0"/>
            </a:avLst>
          </a:prstGeom>
          <a:solidFill>
            <a:srgbClr val="2C2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1550" y="11972925"/>
            <a:ext cx="82867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>
                <a:solidFill>
                  <a:srgbClr val="FFFFFF"/>
                </a:solidFill>
                <a:latin typeface="Manrope"/>
              </a:rPr>
              <a:t>— вихід на новий ринок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pic>
        <p:nvPicPr>
          <p:cNvPr id="3" name="Picture 2" descr="logo-mon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2381250"/>
            <a:ext cx="560263" cy="285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46113" y="2381250"/>
            <a:ext cx="1350318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264">
                <a:solidFill>
                  <a:srgbClr val="111113"/>
                </a:solidFill>
                <a:latin typeface="Manrope"/>
              </a:rPr>
              <a:t>MILEDEVS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66446" y="2381250"/>
            <a:ext cx="2091854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198">
                <a:solidFill>
                  <a:srgbClr val="BFA77A"/>
                </a:solidFill>
                <a:latin typeface="Manrope"/>
              </a:rPr>
              <a:t>[ ПОСЛУГИ ] 2/9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1550" y="7498110"/>
            <a:ext cx="8286750" cy="15772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450" b="1">
                <a:solidFill>
                  <a:srgbClr val="111113"/>
                </a:solidFill>
                <a:latin typeface="Unbounded"/>
              </a:rPr>
              <a:t>ТОМУ МИ НЕ ПРОДАЄМО ОДНУ Й ТУ САМУ ПОСЛУГУ КОЖНОМУ.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8700" y="9456316"/>
            <a:ext cx="1143000" cy="38100"/>
          </a:xfrm>
          <a:prstGeom prst="roundRect">
            <a:avLst>
              <a:gd name="adj" fmla="val 0"/>
            </a:avLst>
          </a:prstGeom>
          <a:solidFill>
            <a:srgbClr val="BFA7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1550" y="9875416"/>
            <a:ext cx="8286750" cy="1104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3000" b="0">
                <a:solidFill>
                  <a:srgbClr val="2F2F35"/>
                </a:solidFill>
                <a:latin typeface="Manrope"/>
              </a:rPr>
              <a:t>Ми визначаємо проблему — і підбираємо рішення під конкретний бізнес.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pic>
        <p:nvPicPr>
          <p:cNvPr id="3" name="Picture 2" descr="logo-mon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2381250"/>
            <a:ext cx="560263" cy="285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46113" y="2381250"/>
            <a:ext cx="1350318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264">
                <a:solidFill>
                  <a:srgbClr val="FFFFFF"/>
                </a:solidFill>
                <a:latin typeface="Manrope"/>
              </a:rPr>
              <a:t>MILEDEVS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69423" y="2381250"/>
            <a:ext cx="2088877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198">
                <a:solidFill>
                  <a:srgbClr val="BFA77A"/>
                </a:solidFill>
                <a:latin typeface="Manrope"/>
              </a:rPr>
              <a:t>[ ПОСЛУГИ ] 3/9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1550" y="4260131"/>
            <a:ext cx="8286750" cy="3381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50" b="1" spc="273">
                <a:solidFill>
                  <a:srgbClr val="BFA77A"/>
                </a:solidFill>
                <a:latin typeface="Manrope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1550" y="4807818"/>
            <a:ext cx="8286750" cy="1462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800" b="1">
                <a:solidFill>
                  <a:srgbClr val="FFFFFF"/>
                </a:solidFill>
                <a:latin typeface="Unbounded"/>
              </a:rPr>
              <a:t>SHOPIFY DEVELOPMENT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28700" y="6651799"/>
            <a:ext cx="1143000" cy="38100"/>
          </a:xfrm>
          <a:prstGeom prst="roundRect">
            <a:avLst>
              <a:gd name="adj" fmla="val 0"/>
            </a:avLst>
          </a:prstGeom>
          <a:solidFill>
            <a:srgbClr val="BFA7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1550" y="7070899"/>
            <a:ext cx="8286750" cy="1104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3000" b="0">
                <a:solidFill>
                  <a:srgbClr val="D6D6DA"/>
                </a:solidFill>
                <a:latin typeface="Manrope"/>
              </a:rPr>
              <a:t>Створюємо та розвиваємо онлайн-магазини: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1550" y="8423449"/>
            <a:ext cx="82867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>
                <a:solidFill>
                  <a:srgbClr val="FFFFFF"/>
                </a:solidFill>
                <a:latin typeface="Manrope"/>
              </a:rPr>
              <a:t>— запуск із нуля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8700" y="9299749"/>
            <a:ext cx="8229600" cy="19050"/>
          </a:xfrm>
          <a:prstGeom prst="roundRect">
            <a:avLst>
              <a:gd name="adj" fmla="val 0"/>
            </a:avLst>
          </a:prstGeom>
          <a:solidFill>
            <a:srgbClr val="2C2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1550" y="9318799"/>
            <a:ext cx="82867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>
                <a:solidFill>
                  <a:srgbClr val="FFFFFF"/>
                </a:solidFill>
                <a:latin typeface="Manrope"/>
              </a:rPr>
              <a:t>— перенесення на Shopify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28700" y="10195099"/>
            <a:ext cx="8229600" cy="19050"/>
          </a:xfrm>
          <a:prstGeom prst="roundRect">
            <a:avLst>
              <a:gd name="adj" fmla="val 0"/>
            </a:avLst>
          </a:prstGeom>
          <a:solidFill>
            <a:srgbClr val="2C2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1550" y="10214149"/>
            <a:ext cx="82867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>
                <a:solidFill>
                  <a:srgbClr val="FFFFFF"/>
                </a:solidFill>
                <a:latin typeface="Manrope"/>
              </a:rPr>
              <a:t>— кастомна розробка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28700" y="11090449"/>
            <a:ext cx="8229600" cy="19050"/>
          </a:xfrm>
          <a:prstGeom prst="roundRect">
            <a:avLst>
              <a:gd name="adj" fmla="val 0"/>
            </a:avLst>
          </a:prstGeom>
          <a:solidFill>
            <a:srgbClr val="2C2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1550" y="11109499"/>
            <a:ext cx="82867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>
                <a:solidFill>
                  <a:srgbClr val="FFFFFF"/>
                </a:solidFill>
                <a:latin typeface="Manrope"/>
              </a:rPr>
              <a:t>— інтеграції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28700" y="11985799"/>
            <a:ext cx="8229600" cy="19050"/>
          </a:xfrm>
          <a:prstGeom prst="roundRect">
            <a:avLst>
              <a:gd name="adj" fmla="val 0"/>
            </a:avLst>
          </a:prstGeom>
          <a:solidFill>
            <a:srgbClr val="2C2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1550" y="12004849"/>
            <a:ext cx="82867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>
                <a:solidFill>
                  <a:srgbClr val="FFFFFF"/>
                </a:solidFill>
                <a:latin typeface="Manrope"/>
              </a:rPr>
              <a:t>— оптимізація чинного магазину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1550" y="13224049"/>
            <a:ext cx="8286750" cy="9943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700" b="0">
                <a:solidFill>
                  <a:srgbClr val="8E8E96"/>
                </a:solidFill>
                <a:latin typeface="Manrope"/>
              </a:rPr>
              <a:t>Для бізнесів, яким потрібна стабільна система онлайн-продажів.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pic>
        <p:nvPicPr>
          <p:cNvPr id="3" name="Picture 2" descr="logo-mon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2381250"/>
            <a:ext cx="560263" cy="285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46113" y="2381250"/>
            <a:ext cx="1350318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264">
                <a:solidFill>
                  <a:srgbClr val="111113"/>
                </a:solidFill>
                <a:latin typeface="Manrope"/>
              </a:rPr>
              <a:t>MILEDEVS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63693" y="2381250"/>
            <a:ext cx="2094607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198">
                <a:solidFill>
                  <a:srgbClr val="BFA77A"/>
                </a:solidFill>
                <a:latin typeface="Manrope"/>
              </a:rPr>
              <a:t>[ ПОСЛУГИ ] 4/9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1550" y="5465936"/>
            <a:ext cx="8286750" cy="3381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50" b="1" spc="273">
                <a:solidFill>
                  <a:srgbClr val="BFA77A"/>
                </a:solidFill>
                <a:latin typeface="Manrope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1550" y="6013624"/>
            <a:ext cx="8286750" cy="7314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800" b="1">
                <a:solidFill>
                  <a:srgbClr val="111113"/>
                </a:solidFill>
                <a:latin typeface="Unbounded"/>
              </a:rPr>
              <a:t>UX/UI DESIGN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28700" y="7126114"/>
            <a:ext cx="1143000" cy="38100"/>
          </a:xfrm>
          <a:prstGeom prst="roundRect">
            <a:avLst>
              <a:gd name="adj" fmla="val 0"/>
            </a:avLst>
          </a:prstGeom>
          <a:solidFill>
            <a:srgbClr val="BFA7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1550" y="7545214"/>
            <a:ext cx="8286750" cy="1657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3000" b="0">
                <a:solidFill>
                  <a:srgbClr val="2F2F35"/>
                </a:solidFill>
                <a:latin typeface="Manrope"/>
              </a:rPr>
              <a:t>Проєктуємо сайти, якими легко користуватися. Не просто «гарно», а зрозуміло: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1550" y="9450214"/>
            <a:ext cx="82867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>
                <a:solidFill>
                  <a:srgbClr val="111113"/>
                </a:solidFill>
                <a:latin typeface="Manrope"/>
              </a:rPr>
              <a:t>— де знайти продукт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8700" y="10326514"/>
            <a:ext cx="8229600" cy="19050"/>
          </a:xfrm>
          <a:prstGeom prst="roundRect">
            <a:avLst>
              <a:gd name="adj" fmla="val 0"/>
            </a:avLst>
          </a:prstGeom>
          <a:solidFill>
            <a:srgbClr val="D9D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1550" y="10345564"/>
            <a:ext cx="82867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>
                <a:solidFill>
                  <a:srgbClr val="111113"/>
                </a:solidFill>
                <a:latin typeface="Manrope"/>
              </a:rPr>
              <a:t>— як обрати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28700" y="11221864"/>
            <a:ext cx="8229600" cy="19050"/>
          </a:xfrm>
          <a:prstGeom prst="roundRect">
            <a:avLst>
              <a:gd name="adj" fmla="val 0"/>
            </a:avLst>
          </a:prstGeom>
          <a:solidFill>
            <a:srgbClr val="D9D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1550" y="11240914"/>
            <a:ext cx="82867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>
                <a:solidFill>
                  <a:srgbClr val="111113"/>
                </a:solidFill>
                <a:latin typeface="Manrope"/>
              </a:rPr>
              <a:t>— чому довіряти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28700" y="12117214"/>
            <a:ext cx="8229600" cy="19050"/>
          </a:xfrm>
          <a:prstGeom prst="roundRect">
            <a:avLst>
              <a:gd name="adj" fmla="val 0"/>
            </a:avLst>
          </a:prstGeom>
          <a:solidFill>
            <a:srgbClr val="D9D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1550" y="12136264"/>
            <a:ext cx="82867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>
                <a:solidFill>
                  <a:srgbClr val="111113"/>
                </a:solidFill>
                <a:latin typeface="Manrope"/>
              </a:rPr>
              <a:t>— як оформити покупку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pic>
        <p:nvPicPr>
          <p:cNvPr id="3" name="Picture 2" descr="logo-mon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2381250"/>
            <a:ext cx="560263" cy="285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46113" y="2381250"/>
            <a:ext cx="1350318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264">
                <a:solidFill>
                  <a:srgbClr val="FFFFFF"/>
                </a:solidFill>
                <a:latin typeface="Manrope"/>
              </a:rPr>
              <a:t>MILEDEVS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68381" y="2381250"/>
            <a:ext cx="2089919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198">
                <a:solidFill>
                  <a:srgbClr val="BFA77A"/>
                </a:solidFill>
                <a:latin typeface="Manrope"/>
              </a:rPr>
              <a:t>[ ПОСЛУГИ ] 5/9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1550" y="5570711"/>
            <a:ext cx="8286750" cy="3381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50" b="1" spc="273">
                <a:solidFill>
                  <a:srgbClr val="BFA77A"/>
                </a:solidFill>
                <a:latin typeface="Manrope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1550" y="6118399"/>
            <a:ext cx="8286750" cy="7314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800" b="1">
                <a:solidFill>
                  <a:srgbClr val="FFFFFF"/>
                </a:solidFill>
                <a:latin typeface="Unbounded"/>
              </a:rPr>
              <a:t>АВТОМАТИЗАЦІЯ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28700" y="7230889"/>
            <a:ext cx="1143000" cy="38100"/>
          </a:xfrm>
          <a:prstGeom prst="roundRect">
            <a:avLst>
              <a:gd name="adj" fmla="val 0"/>
            </a:avLst>
          </a:prstGeom>
          <a:solidFill>
            <a:srgbClr val="BFA7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1550" y="7649989"/>
            <a:ext cx="8286750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3000" b="0">
                <a:solidFill>
                  <a:srgbClr val="D6D6DA"/>
                </a:solidFill>
                <a:latin typeface="Manrope"/>
              </a:rPr>
              <a:t>Допомагаємо скоротити ручну роботу: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1550" y="8450089"/>
            <a:ext cx="82867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>
                <a:solidFill>
                  <a:srgbClr val="FFFFFF"/>
                </a:solidFill>
                <a:latin typeface="Manrope"/>
              </a:rPr>
              <a:t>— обробку заявок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8700" y="9326389"/>
            <a:ext cx="8229600" cy="19050"/>
          </a:xfrm>
          <a:prstGeom prst="roundRect">
            <a:avLst>
              <a:gd name="adj" fmla="val 0"/>
            </a:avLst>
          </a:prstGeom>
          <a:solidFill>
            <a:srgbClr val="2C2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1550" y="9345439"/>
            <a:ext cx="82867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>
                <a:solidFill>
                  <a:srgbClr val="FFFFFF"/>
                </a:solidFill>
                <a:latin typeface="Manrope"/>
              </a:rPr>
              <a:t>— передачу даних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28700" y="10221739"/>
            <a:ext cx="8229600" cy="19050"/>
          </a:xfrm>
          <a:prstGeom prst="roundRect">
            <a:avLst>
              <a:gd name="adj" fmla="val 0"/>
            </a:avLst>
          </a:prstGeom>
          <a:solidFill>
            <a:srgbClr val="2C2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1550" y="10240789"/>
            <a:ext cx="82867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>
                <a:solidFill>
                  <a:srgbClr val="FFFFFF"/>
                </a:solidFill>
                <a:latin typeface="Manrope"/>
              </a:rPr>
              <a:t>— комунікацію з клієнтами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28700" y="11117089"/>
            <a:ext cx="8229600" cy="19050"/>
          </a:xfrm>
          <a:prstGeom prst="roundRect">
            <a:avLst>
              <a:gd name="adj" fmla="val 0"/>
            </a:avLst>
          </a:prstGeom>
          <a:solidFill>
            <a:srgbClr val="2C2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1550" y="11136139"/>
            <a:ext cx="82867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>
                <a:solidFill>
                  <a:srgbClr val="FFFFFF"/>
                </a:solidFill>
                <a:latin typeface="Manrope"/>
              </a:rPr>
              <a:t>— внутрішні процеси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28700" y="12012439"/>
            <a:ext cx="8229600" cy="19050"/>
          </a:xfrm>
          <a:prstGeom prst="roundRect">
            <a:avLst>
              <a:gd name="adj" fmla="val 0"/>
            </a:avLst>
          </a:prstGeom>
          <a:solidFill>
            <a:srgbClr val="2C2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1550" y="12031489"/>
            <a:ext cx="82867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>
                <a:solidFill>
                  <a:srgbClr val="FFFFFF"/>
                </a:solidFill>
                <a:latin typeface="Manrope"/>
              </a:rPr>
              <a:t>— повторювані завдання команди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pic>
        <p:nvPicPr>
          <p:cNvPr id="3" name="Picture 2" descr="logo-mon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2381250"/>
            <a:ext cx="560263" cy="285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46113" y="2381250"/>
            <a:ext cx="1350318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264">
                <a:solidFill>
                  <a:srgbClr val="111113"/>
                </a:solidFill>
                <a:latin typeface="Manrope"/>
              </a:rPr>
              <a:t>MILEDEVS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60940" y="2381250"/>
            <a:ext cx="209736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198">
                <a:solidFill>
                  <a:srgbClr val="BFA77A"/>
                </a:solidFill>
                <a:latin typeface="Manrope"/>
              </a:rPr>
              <a:t>[ ПОСЛУГИ ] 6/9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1550" y="6018386"/>
            <a:ext cx="8286750" cy="3381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50" b="1" spc="273">
                <a:solidFill>
                  <a:srgbClr val="BFA77A"/>
                </a:solidFill>
                <a:latin typeface="Manrope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1550" y="6566074"/>
            <a:ext cx="8286750" cy="7314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800" b="1">
                <a:solidFill>
                  <a:srgbClr val="111113"/>
                </a:solidFill>
                <a:latin typeface="Unbounded"/>
              </a:rPr>
              <a:t>SMM ТА КОНТЕНТ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28700" y="7678564"/>
            <a:ext cx="1143000" cy="38100"/>
          </a:xfrm>
          <a:prstGeom prst="roundRect">
            <a:avLst>
              <a:gd name="adj" fmla="val 0"/>
            </a:avLst>
          </a:prstGeom>
          <a:solidFill>
            <a:srgbClr val="BFA7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1550" y="8097664"/>
            <a:ext cx="8286750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3000" b="0">
                <a:solidFill>
                  <a:srgbClr val="2F2F35"/>
                </a:solidFill>
                <a:latin typeface="Manrope"/>
              </a:rPr>
              <a:t>Створюємо систему комунікації, яка: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1550" y="8897764"/>
            <a:ext cx="82867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>
                <a:solidFill>
                  <a:srgbClr val="111113"/>
                </a:solidFill>
                <a:latin typeface="Manrope"/>
              </a:rPr>
              <a:t>— привертає увагу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8700" y="9774064"/>
            <a:ext cx="8229600" cy="19050"/>
          </a:xfrm>
          <a:prstGeom prst="roundRect">
            <a:avLst>
              <a:gd name="adj" fmla="val 0"/>
            </a:avLst>
          </a:prstGeom>
          <a:solidFill>
            <a:srgbClr val="D9D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1550" y="9793114"/>
            <a:ext cx="82867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>
                <a:solidFill>
                  <a:srgbClr val="111113"/>
                </a:solidFill>
                <a:latin typeface="Manrope"/>
              </a:rPr>
              <a:t>— формує довіру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28700" y="10669414"/>
            <a:ext cx="8229600" cy="19050"/>
          </a:xfrm>
          <a:prstGeom prst="roundRect">
            <a:avLst>
              <a:gd name="adj" fmla="val 0"/>
            </a:avLst>
          </a:prstGeom>
          <a:solidFill>
            <a:srgbClr val="D9D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1550" y="10688464"/>
            <a:ext cx="82867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>
                <a:solidFill>
                  <a:srgbClr val="111113"/>
                </a:solidFill>
                <a:latin typeface="Manrope"/>
              </a:rPr>
              <a:t>— пояснює цінність продукту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28700" y="11564764"/>
            <a:ext cx="8229600" cy="19050"/>
          </a:xfrm>
          <a:prstGeom prst="roundRect">
            <a:avLst>
              <a:gd name="adj" fmla="val 0"/>
            </a:avLst>
          </a:prstGeom>
          <a:solidFill>
            <a:srgbClr val="D9D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1550" y="11583814"/>
            <a:ext cx="82867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>
                <a:solidFill>
                  <a:srgbClr val="111113"/>
                </a:solidFill>
                <a:latin typeface="Manrope"/>
              </a:rPr>
              <a:t>— веде аудиторію до заявки або покупки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pic>
        <p:nvPicPr>
          <p:cNvPr id="3" name="Picture 2" descr="logo-mon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2381250"/>
            <a:ext cx="560263" cy="285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46113" y="2381250"/>
            <a:ext cx="1350318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264">
                <a:solidFill>
                  <a:srgbClr val="FFFFFF"/>
                </a:solidFill>
                <a:latin typeface="Manrope"/>
              </a:rPr>
              <a:t>MILEDEVS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79469" y="2381250"/>
            <a:ext cx="2078831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198">
                <a:solidFill>
                  <a:srgbClr val="BFA77A"/>
                </a:solidFill>
                <a:latin typeface="Manrope"/>
              </a:rPr>
              <a:t>[ ПОСЛУГИ ] 7/9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1550" y="5742161"/>
            <a:ext cx="8286750" cy="3381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50" b="1" spc="273">
                <a:solidFill>
                  <a:srgbClr val="BFA77A"/>
                </a:solidFill>
                <a:latin typeface="Manrope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1550" y="6289849"/>
            <a:ext cx="8286750" cy="7314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800" b="1">
                <a:solidFill>
                  <a:srgbClr val="FFFFFF"/>
                </a:solidFill>
                <a:latin typeface="Unbounded"/>
              </a:rPr>
              <a:t>META ADS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28700" y="7402339"/>
            <a:ext cx="1143000" cy="38100"/>
          </a:xfrm>
          <a:prstGeom prst="roundRect">
            <a:avLst>
              <a:gd name="adj" fmla="val 0"/>
            </a:avLst>
          </a:prstGeom>
          <a:solidFill>
            <a:srgbClr val="BFA7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1550" y="7821439"/>
            <a:ext cx="8286750" cy="1104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3000" b="0">
                <a:solidFill>
                  <a:srgbClr val="D6D6DA"/>
                </a:solidFill>
                <a:latin typeface="Manrope"/>
              </a:rPr>
              <a:t>Не просто запускаємо рекламу. Ми аналізуємо: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1550" y="9173989"/>
            <a:ext cx="82867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>
                <a:solidFill>
                  <a:srgbClr val="FFFFFF"/>
                </a:solidFill>
                <a:latin typeface="Manrope"/>
              </a:rPr>
              <a:t>— куди ведемо трафік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8700" y="10050289"/>
            <a:ext cx="8229600" cy="19050"/>
          </a:xfrm>
          <a:prstGeom prst="roundRect">
            <a:avLst>
              <a:gd name="adj" fmla="val 0"/>
            </a:avLst>
          </a:prstGeom>
          <a:solidFill>
            <a:srgbClr val="2C2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1550" y="10069339"/>
            <a:ext cx="82867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>
                <a:solidFill>
                  <a:srgbClr val="FFFFFF"/>
                </a:solidFill>
                <a:latin typeface="Manrope"/>
              </a:rPr>
              <a:t>— що бачить клієнт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28700" y="10945639"/>
            <a:ext cx="8229600" cy="19050"/>
          </a:xfrm>
          <a:prstGeom prst="roundRect">
            <a:avLst>
              <a:gd name="adj" fmla="val 0"/>
            </a:avLst>
          </a:prstGeom>
          <a:solidFill>
            <a:srgbClr val="2C2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1550" y="10964689"/>
            <a:ext cx="82867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>
                <a:solidFill>
                  <a:srgbClr val="FFFFFF"/>
                </a:solidFill>
                <a:latin typeface="Manrope"/>
              </a:rPr>
              <a:t>— як працює воронка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28700" y="11840989"/>
            <a:ext cx="8229600" cy="19050"/>
          </a:xfrm>
          <a:prstGeom prst="roundRect">
            <a:avLst>
              <a:gd name="adj" fmla="val 0"/>
            </a:avLst>
          </a:prstGeom>
          <a:solidFill>
            <a:srgbClr val="2C2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1550" y="11860039"/>
            <a:ext cx="82867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>
                <a:solidFill>
                  <a:srgbClr val="FFFFFF"/>
                </a:solidFill>
                <a:latin typeface="Manrope"/>
              </a:rPr>
              <a:t>— де бізнес втрачає потенційні продажі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pic>
        <p:nvPicPr>
          <p:cNvPr id="3" name="Picture 2" descr="logo-mon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2381250"/>
            <a:ext cx="560263" cy="285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46113" y="2381250"/>
            <a:ext cx="1350318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264">
                <a:solidFill>
                  <a:srgbClr val="111113"/>
                </a:solidFill>
                <a:latin typeface="Manrope"/>
              </a:rPr>
              <a:t>MILEDEVS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62949" y="2381250"/>
            <a:ext cx="2095351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198">
                <a:solidFill>
                  <a:srgbClr val="BFA77A"/>
                </a:solidFill>
                <a:latin typeface="Manrope"/>
              </a:rPr>
              <a:t>[ ПОСЛУГИ ] 8/9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1550" y="6728966"/>
            <a:ext cx="8286750" cy="3381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50" b="1" spc="273">
                <a:solidFill>
                  <a:srgbClr val="BFA77A"/>
                </a:solidFill>
                <a:latin typeface="Manrope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1550" y="7276654"/>
            <a:ext cx="8286750" cy="1462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800" b="1">
                <a:solidFill>
                  <a:srgbClr val="111113"/>
                </a:solidFill>
                <a:latin typeface="Unbounded"/>
              </a:rPr>
              <a:t>SEO ТА РОЗВИТОК САЙТУ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28700" y="9120634"/>
            <a:ext cx="1143000" cy="38100"/>
          </a:xfrm>
          <a:prstGeom prst="roundRect">
            <a:avLst>
              <a:gd name="adj" fmla="val 0"/>
            </a:avLst>
          </a:prstGeom>
          <a:solidFill>
            <a:srgbClr val="BFA7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1550" y="9539734"/>
            <a:ext cx="8286750" cy="2209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3000" b="0">
                <a:solidFill>
                  <a:srgbClr val="2F2F35"/>
                </a:solidFill>
                <a:latin typeface="Manrope"/>
              </a:rPr>
              <a:t>Допомагаємо бізнесу отримувати органічний трафік, покращувати структуру сайту та створювати контент під реальні пошукові запити клієнтів.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pic>
        <p:nvPicPr>
          <p:cNvPr id="3" name="Picture 2" descr="logo-mon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2381250"/>
            <a:ext cx="560263" cy="285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46113" y="2381250"/>
            <a:ext cx="1350318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264">
                <a:solidFill>
                  <a:srgbClr val="FFFFFF"/>
                </a:solidFill>
                <a:latin typeface="Manrope"/>
              </a:rPr>
              <a:t>MILEDEVS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60940" y="2381250"/>
            <a:ext cx="209736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198">
                <a:solidFill>
                  <a:srgbClr val="BFA77A"/>
                </a:solidFill>
                <a:latin typeface="Manrope"/>
              </a:rPr>
              <a:t>[ ПОСЛУГИ ] 9/9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1550" y="5932215"/>
            <a:ext cx="8286750" cy="18515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050" b="1">
                <a:solidFill>
                  <a:srgbClr val="FFFFFF"/>
                </a:solidFill>
                <a:latin typeface="Unbounded"/>
              </a:rPr>
              <a:t>НЕ ЗНАЄТЕ, ЯКА ПОСЛУГА ПОТРІБНА САМЕ ВАМ?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8700" y="8164785"/>
            <a:ext cx="1143000" cy="38100"/>
          </a:xfrm>
          <a:prstGeom prst="roundRect">
            <a:avLst>
              <a:gd name="adj" fmla="val 0"/>
            </a:avLst>
          </a:prstGeom>
          <a:solidFill>
            <a:srgbClr val="BFA7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1550" y="8583885"/>
            <a:ext cx="8286750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3000" b="0">
                <a:solidFill>
                  <a:srgbClr val="D6D6DA"/>
                </a:solidFill>
                <a:latin typeface="Manrope"/>
              </a:rPr>
              <a:t>Це нормально.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1550" y="9403035"/>
            <a:ext cx="8286750" cy="1657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3000" b="0">
                <a:solidFill>
                  <a:srgbClr val="D6D6DA"/>
                </a:solidFill>
                <a:latin typeface="Manrope"/>
              </a:rPr>
              <a:t>Опишіть задачу або проблему — ми допоможемо визначити, з чого варто почати.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28700" y="11593785"/>
            <a:ext cx="5060603" cy="952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09700" y="11879535"/>
            <a:ext cx="4298603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111111"/>
                </a:solidFill>
                <a:latin typeface="Unbounded"/>
              </a:rPr>
              <a:t>НАПИСАТИ В DIRECT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pic>
        <p:nvPicPr>
          <p:cNvPr id="3" name="Picture 2" descr="logo-mon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2381250"/>
            <a:ext cx="560263" cy="285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46113" y="2381250"/>
            <a:ext cx="1350318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264">
                <a:solidFill>
                  <a:srgbClr val="FFFFFF"/>
                </a:solidFill>
                <a:latin typeface="Manrope"/>
              </a:rPr>
              <a:t>MILEDEVS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15052" y="2381250"/>
            <a:ext cx="1343248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198">
                <a:solidFill>
                  <a:srgbClr val="BFA77A"/>
                </a:solidFill>
                <a:latin typeface="Manrope"/>
              </a:rPr>
              <a:t>[ FAQ ] 1/5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1550" y="6527006"/>
            <a:ext cx="8286750" cy="3381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50" b="1" spc="273">
                <a:solidFill>
                  <a:srgbClr val="BFA77A"/>
                </a:solidFill>
                <a:latin typeface="Manrope"/>
              </a:rPr>
              <a:t>ПИТАННЯ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1550" y="7074694"/>
            <a:ext cx="8286750" cy="160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5250" b="1">
                <a:solidFill>
                  <a:srgbClr val="FFFFFF"/>
                </a:solidFill>
                <a:latin typeface="Unbounded"/>
              </a:rPr>
              <a:t>СКІЛЬКИ КОШТУЄ ПРОЄКТ?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28700" y="9055894"/>
            <a:ext cx="1143000" cy="38100"/>
          </a:xfrm>
          <a:prstGeom prst="roundRect">
            <a:avLst>
              <a:gd name="adj" fmla="val 0"/>
            </a:avLst>
          </a:prstGeom>
          <a:solidFill>
            <a:srgbClr val="BFA7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1550" y="9474994"/>
            <a:ext cx="8286750" cy="1104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3000" b="0">
                <a:solidFill>
                  <a:srgbClr val="D6D6DA"/>
                </a:solidFill>
                <a:latin typeface="Manrope"/>
              </a:rPr>
              <a:t>Залежить від задач, функціоналу, дизайну та інтеграцій.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1550" y="10846594"/>
            <a:ext cx="8286750" cy="1104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3000" b="0">
                <a:solidFill>
                  <a:srgbClr val="D6D6DA"/>
                </a:solidFill>
                <a:latin typeface="Manrope"/>
              </a:rPr>
              <a:t>Після знайомства ми готуємо індивідуальну пропозицію.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pic>
        <p:nvPicPr>
          <p:cNvPr id="3" name="Picture 2" descr="logo-mon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2381250"/>
            <a:ext cx="560263" cy="285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46113" y="2381250"/>
            <a:ext cx="1350318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264">
                <a:solidFill>
                  <a:srgbClr val="111113"/>
                </a:solidFill>
                <a:latin typeface="Manrope"/>
              </a:rPr>
              <a:t>MILEDEVS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82012" y="2381250"/>
            <a:ext cx="1376288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198">
                <a:solidFill>
                  <a:srgbClr val="BFA77A"/>
                </a:solidFill>
                <a:latin typeface="Manrope"/>
              </a:rPr>
              <a:t>[ FAQ ] 2/5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1550" y="6810896"/>
            <a:ext cx="8286750" cy="3381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50" b="1" spc="273">
                <a:solidFill>
                  <a:srgbClr val="BFA77A"/>
                </a:solidFill>
                <a:latin typeface="Manrope"/>
              </a:rPr>
              <a:t>ПИТАННЯ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1550" y="7358583"/>
            <a:ext cx="8286750" cy="18515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050" b="1">
                <a:solidFill>
                  <a:srgbClr val="111113"/>
                </a:solidFill>
                <a:latin typeface="Unbounded"/>
              </a:rPr>
              <a:t>ЧИ МОЖНА ЗВЕРНУТИСЯ, ЯКЩО САЙТ УЖЕ Є?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28700" y="9591154"/>
            <a:ext cx="1143000" cy="38100"/>
          </a:xfrm>
          <a:prstGeom prst="roundRect">
            <a:avLst>
              <a:gd name="adj" fmla="val 0"/>
            </a:avLst>
          </a:prstGeom>
          <a:solidFill>
            <a:srgbClr val="BFA7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1550" y="10010254"/>
            <a:ext cx="8286750" cy="1657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3000" b="0">
                <a:solidFill>
                  <a:srgbClr val="2F2F35"/>
                </a:solidFill>
                <a:latin typeface="Manrope"/>
              </a:rPr>
              <a:t>Так. Можемо провести аудит, виправити проблеми, додати функціонал або покращити UX.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pic>
        <p:nvPicPr>
          <p:cNvPr id="3" name="Picture 2" descr="logo-mon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2381250"/>
            <a:ext cx="560263" cy="285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46113" y="2381250"/>
            <a:ext cx="1350318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264">
                <a:solidFill>
                  <a:srgbClr val="FFFFFF"/>
                </a:solidFill>
                <a:latin typeface="Manrope"/>
              </a:rPr>
              <a:t>MILEDEVS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84988" y="2381250"/>
            <a:ext cx="1373312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198">
                <a:solidFill>
                  <a:srgbClr val="BFA77A"/>
                </a:solidFill>
                <a:latin typeface="Manrope"/>
              </a:rPr>
              <a:t>[ FAQ ] 3/5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1550" y="6778526"/>
            <a:ext cx="8286750" cy="3381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50" b="1" spc="273">
                <a:solidFill>
                  <a:srgbClr val="BFA77A"/>
                </a:solidFill>
                <a:latin typeface="Manrope"/>
              </a:rPr>
              <a:t>ПИТАННЯ 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1550" y="7326213"/>
            <a:ext cx="8286750" cy="24687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050" b="1">
                <a:solidFill>
                  <a:srgbClr val="FFFFFF"/>
                </a:solidFill>
                <a:latin typeface="Unbounded"/>
              </a:rPr>
              <a:t>ЧИ ОБОВʼЯЗКОВО ЗАМОВЛЯТИ КОМПЛЕКСНУ РОЗРОБКУ?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28700" y="10175974"/>
            <a:ext cx="1143000" cy="38100"/>
          </a:xfrm>
          <a:prstGeom prst="roundRect">
            <a:avLst>
              <a:gd name="adj" fmla="val 0"/>
            </a:avLst>
          </a:prstGeom>
          <a:solidFill>
            <a:srgbClr val="BFA7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1550" y="10595074"/>
            <a:ext cx="8286750" cy="1104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3000" b="0">
                <a:solidFill>
                  <a:srgbClr val="D6D6DA"/>
                </a:solidFill>
                <a:latin typeface="Manrope"/>
              </a:rPr>
              <a:t>Ні. Ми можемо підключитися до конкретного етапу або окремої задачі.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pic>
        <p:nvPicPr>
          <p:cNvPr id="3" name="Picture 2" descr="logo-mon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2381250"/>
            <a:ext cx="560263" cy="285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46113" y="2381250"/>
            <a:ext cx="1350318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264">
                <a:solidFill>
                  <a:srgbClr val="111113"/>
                </a:solidFill>
                <a:latin typeface="Manrope"/>
              </a:rPr>
              <a:t>MILEDEVS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79259" y="2381250"/>
            <a:ext cx="1379041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198">
                <a:solidFill>
                  <a:srgbClr val="BFA77A"/>
                </a:solidFill>
                <a:latin typeface="Manrope"/>
              </a:rPr>
              <a:t>[ FAQ ] 4/5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1550" y="7087121"/>
            <a:ext cx="8286750" cy="3381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50" b="1" spc="273">
                <a:solidFill>
                  <a:srgbClr val="BFA77A"/>
                </a:solidFill>
                <a:latin typeface="Manrope"/>
              </a:rPr>
              <a:t>ПИТАННЯ 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1550" y="7634808"/>
            <a:ext cx="8286750" cy="18515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050" b="1">
                <a:solidFill>
                  <a:srgbClr val="111113"/>
                </a:solidFill>
                <a:latin typeface="Unbounded"/>
              </a:rPr>
              <a:t>ЧИ ПРАЦЮЄТЕ З МІЖНАРОДНИМИ ПРОЄКТАМИ?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28700" y="9867379"/>
            <a:ext cx="1143000" cy="38100"/>
          </a:xfrm>
          <a:prstGeom prst="roundRect">
            <a:avLst>
              <a:gd name="adj" fmla="val 0"/>
            </a:avLst>
          </a:prstGeom>
          <a:solidFill>
            <a:srgbClr val="BFA7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1550" y="10286479"/>
            <a:ext cx="8286750" cy="1104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3000" b="0">
                <a:solidFill>
                  <a:srgbClr val="2F2F35"/>
                </a:solidFill>
                <a:latin typeface="Manrope"/>
              </a:rPr>
              <a:t>Так. Допомагаємо з різними ринками, мовами, валютами, оплатами та доставкою.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pic>
        <p:nvPicPr>
          <p:cNvPr id="3" name="Picture 2" descr="logo-mon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2381250"/>
            <a:ext cx="560263" cy="285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46113" y="2381250"/>
            <a:ext cx="1350318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264">
                <a:solidFill>
                  <a:srgbClr val="FFFFFF"/>
                </a:solidFill>
                <a:latin typeface="Manrope"/>
              </a:rPr>
              <a:t>MILEDEVS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84021" y="2381250"/>
            <a:ext cx="1374279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198">
                <a:solidFill>
                  <a:srgbClr val="BFA77A"/>
                </a:solidFill>
                <a:latin typeface="Manrope"/>
              </a:rPr>
              <a:t>[ FAQ ] 5/5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1550" y="6812310"/>
            <a:ext cx="8286750" cy="1462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800" b="1">
                <a:solidFill>
                  <a:srgbClr val="FFFFFF"/>
                </a:solidFill>
                <a:latin typeface="Unbounded"/>
              </a:rPr>
              <a:t>НЕ ЗНАЙШЛИ СВОЄ ЗАПИТАННЯ?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8700" y="8656290"/>
            <a:ext cx="1143000" cy="38100"/>
          </a:xfrm>
          <a:prstGeom prst="roundRect">
            <a:avLst>
              <a:gd name="adj" fmla="val 0"/>
            </a:avLst>
          </a:prstGeom>
          <a:solidFill>
            <a:srgbClr val="BFA7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1550" y="9075390"/>
            <a:ext cx="8286750" cy="1104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3000" b="0">
                <a:solidFill>
                  <a:srgbClr val="D6D6DA"/>
                </a:solidFill>
                <a:latin typeface="Manrope"/>
              </a:rPr>
              <a:t>Напишіть нам у Direct — обговоримо вашу задачу без складних технічних термінів.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28700" y="10713690"/>
            <a:ext cx="5060603" cy="952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9700" y="10999440"/>
            <a:ext cx="4298603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111111"/>
                </a:solidFill>
                <a:latin typeface="Unbounded"/>
              </a:rPr>
              <a:t>НАПИСАТИ В DIRECT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pic>
        <p:nvPicPr>
          <p:cNvPr id="3" name="Picture 2" descr="logo-mon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2381250"/>
            <a:ext cx="560263" cy="285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46113" y="2381250"/>
            <a:ext cx="1350318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264">
                <a:solidFill>
                  <a:srgbClr val="FFFFFF"/>
                </a:solidFill>
                <a:latin typeface="Manrope"/>
              </a:rPr>
              <a:t>MILEDEVS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71259" y="2381250"/>
            <a:ext cx="1687041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198">
                <a:solidFill>
                  <a:srgbClr val="BFA77A"/>
                </a:solidFill>
                <a:latin typeface="Manrope"/>
              </a:rPr>
              <a:t>[ АУДИТ ] 1/5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1550" y="6848475"/>
            <a:ext cx="8286750" cy="3429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500" b="1">
                <a:solidFill>
                  <a:srgbClr val="FFFFFF"/>
                </a:solidFill>
                <a:latin typeface="Unbounded"/>
              </a:rPr>
              <a:t>САЙТ МОЖЕ ВИГЛЯДАТИ СУЧАСНО Й ТЕХНІЧНО ПРАЦЮВАТИ.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8700" y="10658475"/>
            <a:ext cx="1143000" cy="38100"/>
          </a:xfrm>
          <a:prstGeom prst="roundRect">
            <a:avLst>
              <a:gd name="adj" fmla="val 0"/>
            </a:avLst>
          </a:prstGeom>
          <a:solidFill>
            <a:srgbClr val="BFA7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1550" y="11077575"/>
            <a:ext cx="8286750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3000" b="0">
                <a:solidFill>
                  <a:srgbClr val="D6D6DA"/>
                </a:solidFill>
                <a:latin typeface="Manrope"/>
              </a:rPr>
              <a:t>Але все одно щодня втрачати клієнтів.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pic>
        <p:nvPicPr>
          <p:cNvPr id="3" name="Picture 2" descr="logo-mon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2381250"/>
            <a:ext cx="560263" cy="285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46113" y="2381250"/>
            <a:ext cx="1350318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264">
                <a:solidFill>
                  <a:srgbClr val="111113"/>
                </a:solidFill>
                <a:latin typeface="Manrope"/>
              </a:rPr>
              <a:t>MILEDEVS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38293" y="2381250"/>
            <a:ext cx="1720007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198">
                <a:solidFill>
                  <a:srgbClr val="BFA77A"/>
                </a:solidFill>
                <a:latin typeface="Manrope"/>
              </a:rPr>
              <a:t>[ АУДИТ ] 2/5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1550" y="6568455"/>
            <a:ext cx="8286750" cy="7314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800" b="1">
                <a:solidFill>
                  <a:srgbClr val="111113"/>
                </a:solidFill>
                <a:latin typeface="Unbounded"/>
              </a:rPr>
              <a:t>ЛЮДИНА МОЖЕ: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8700" y="7680945"/>
            <a:ext cx="1143000" cy="38100"/>
          </a:xfrm>
          <a:prstGeom prst="roundRect">
            <a:avLst>
              <a:gd name="adj" fmla="val 0"/>
            </a:avLst>
          </a:prstGeom>
          <a:solidFill>
            <a:srgbClr val="BFA7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1550" y="8347695"/>
            <a:ext cx="82867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>
                <a:solidFill>
                  <a:srgbClr val="111113"/>
                </a:solidFill>
                <a:latin typeface="Manrope"/>
              </a:rPr>
              <a:t>— не зрозуміти пропозицію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28700" y="9223995"/>
            <a:ext cx="8229600" cy="19050"/>
          </a:xfrm>
          <a:prstGeom prst="roundRect">
            <a:avLst>
              <a:gd name="adj" fmla="val 0"/>
            </a:avLst>
          </a:prstGeom>
          <a:solidFill>
            <a:srgbClr val="D9D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1550" y="9243045"/>
            <a:ext cx="82867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>
                <a:solidFill>
                  <a:srgbClr val="111113"/>
                </a:solidFill>
                <a:latin typeface="Manrope"/>
              </a:rPr>
              <a:t>— не знайти потрібний товар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8700" y="10119345"/>
            <a:ext cx="8229600" cy="19050"/>
          </a:xfrm>
          <a:prstGeom prst="roundRect">
            <a:avLst>
              <a:gd name="adj" fmla="val 0"/>
            </a:avLst>
          </a:prstGeom>
          <a:solidFill>
            <a:srgbClr val="D9D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1550" y="10138395"/>
            <a:ext cx="82867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>
                <a:solidFill>
                  <a:srgbClr val="111113"/>
                </a:solidFill>
                <a:latin typeface="Manrope"/>
              </a:rPr>
              <a:t>— не довіритися бренду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28700" y="11014695"/>
            <a:ext cx="8229600" cy="19050"/>
          </a:xfrm>
          <a:prstGeom prst="roundRect">
            <a:avLst>
              <a:gd name="adj" fmla="val 0"/>
            </a:avLst>
          </a:prstGeom>
          <a:solidFill>
            <a:srgbClr val="D9D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1550" y="11033745"/>
            <a:ext cx="82867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>
                <a:solidFill>
                  <a:srgbClr val="111113"/>
                </a:solidFill>
                <a:latin typeface="Manrope"/>
              </a:rPr>
              <a:t>— залишити складний checkout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pic>
        <p:nvPicPr>
          <p:cNvPr id="3" name="Picture 2" descr="logo-mon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2381250"/>
            <a:ext cx="560263" cy="285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46113" y="2381250"/>
            <a:ext cx="1350318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264">
                <a:solidFill>
                  <a:srgbClr val="FFFFFF"/>
                </a:solidFill>
                <a:latin typeface="Manrope"/>
              </a:rPr>
              <a:t>MILEDEVS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41196" y="2381250"/>
            <a:ext cx="1717104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198">
                <a:solidFill>
                  <a:srgbClr val="BFA77A"/>
                </a:solidFill>
                <a:latin typeface="Manrope"/>
              </a:rPr>
              <a:t>[ АУДИТ ] 3/5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1550" y="5869335"/>
            <a:ext cx="8286750" cy="1234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050" b="1">
                <a:solidFill>
                  <a:srgbClr val="FFFFFF"/>
                </a:solidFill>
                <a:latin typeface="Unbounded"/>
              </a:rPr>
              <a:t>ПІД ЧАС АУДИТУ МИ ПЕРЕВІРЯЄМО: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8700" y="7484715"/>
            <a:ext cx="1143000" cy="38100"/>
          </a:xfrm>
          <a:prstGeom prst="roundRect">
            <a:avLst>
              <a:gd name="adj" fmla="val 0"/>
            </a:avLst>
          </a:prstGeom>
          <a:solidFill>
            <a:srgbClr val="BFA7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1550" y="8151465"/>
            <a:ext cx="82867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>
                <a:solidFill>
                  <a:srgbClr val="FFFFFF"/>
                </a:solidFill>
                <a:latin typeface="Manrope"/>
              </a:rPr>
              <a:t>— структуру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28700" y="9027765"/>
            <a:ext cx="8229600" cy="19050"/>
          </a:xfrm>
          <a:prstGeom prst="roundRect">
            <a:avLst>
              <a:gd name="adj" fmla="val 0"/>
            </a:avLst>
          </a:prstGeom>
          <a:solidFill>
            <a:srgbClr val="2C2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1550" y="9046815"/>
            <a:ext cx="82867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>
                <a:solidFill>
                  <a:srgbClr val="FFFFFF"/>
                </a:solidFill>
                <a:latin typeface="Manrope"/>
              </a:rPr>
              <a:t>— мобільну версію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8700" y="9923115"/>
            <a:ext cx="8229600" cy="19050"/>
          </a:xfrm>
          <a:prstGeom prst="roundRect">
            <a:avLst>
              <a:gd name="adj" fmla="val 0"/>
            </a:avLst>
          </a:prstGeom>
          <a:solidFill>
            <a:srgbClr val="2C2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1550" y="9942165"/>
            <a:ext cx="82867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>
                <a:solidFill>
                  <a:srgbClr val="FFFFFF"/>
                </a:solidFill>
                <a:latin typeface="Manrope"/>
              </a:rPr>
              <a:t>— швидкість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28700" y="10818465"/>
            <a:ext cx="8229600" cy="19050"/>
          </a:xfrm>
          <a:prstGeom prst="roundRect">
            <a:avLst>
              <a:gd name="adj" fmla="val 0"/>
            </a:avLst>
          </a:prstGeom>
          <a:solidFill>
            <a:srgbClr val="2C2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1550" y="10837515"/>
            <a:ext cx="82867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>
                <a:solidFill>
                  <a:srgbClr val="FFFFFF"/>
                </a:solidFill>
                <a:latin typeface="Manrope"/>
              </a:rPr>
              <a:t>— сторінки товарів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28700" y="11713815"/>
            <a:ext cx="8229600" cy="19050"/>
          </a:xfrm>
          <a:prstGeom prst="roundRect">
            <a:avLst>
              <a:gd name="adj" fmla="val 0"/>
            </a:avLst>
          </a:prstGeom>
          <a:solidFill>
            <a:srgbClr val="2C2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1550" y="11732865"/>
            <a:ext cx="82867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>
                <a:solidFill>
                  <a:srgbClr val="FFFFFF"/>
                </a:solidFill>
                <a:latin typeface="Manrope"/>
              </a:rPr>
              <a:t>— кошик і checkout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pic>
        <p:nvPicPr>
          <p:cNvPr id="3" name="Picture 2" descr="logo-mon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2381250"/>
            <a:ext cx="560263" cy="285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46113" y="2381250"/>
            <a:ext cx="1350318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264">
                <a:solidFill>
                  <a:srgbClr val="111113"/>
                </a:solidFill>
                <a:latin typeface="Manrope"/>
              </a:rPr>
              <a:t>MILEDEVS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35540" y="2381250"/>
            <a:ext cx="172276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198">
                <a:solidFill>
                  <a:srgbClr val="BFA77A"/>
                </a:solidFill>
                <a:latin typeface="Manrope"/>
              </a:rPr>
              <a:t>[ АУДИТ ] 4/5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1550" y="7235279"/>
            <a:ext cx="8286750" cy="21029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450" b="1">
                <a:solidFill>
                  <a:srgbClr val="111113"/>
                </a:solidFill>
                <a:latin typeface="Unbounded"/>
              </a:rPr>
              <a:t>ПІСЛЯ АНАЛІЗУ ВИ ОТРИМУЄТЕ НЕ ФРАЗУ «САЙТ ПОТРІБНО ПОКРАЩИТИ».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8700" y="9719221"/>
            <a:ext cx="1143000" cy="38100"/>
          </a:xfrm>
          <a:prstGeom prst="roundRect">
            <a:avLst>
              <a:gd name="adj" fmla="val 0"/>
            </a:avLst>
          </a:prstGeom>
          <a:solidFill>
            <a:srgbClr val="BFA7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1550" y="10138321"/>
            <a:ext cx="8286750" cy="1104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3000" b="0">
                <a:solidFill>
                  <a:srgbClr val="2F2F35"/>
                </a:solidFill>
                <a:latin typeface="Manrope"/>
              </a:rPr>
              <a:t>А конкретний список проблем, пріоритетів і рішень.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pic>
        <p:nvPicPr>
          <p:cNvPr id="3" name="Picture 2" descr="logo-mon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2381250"/>
            <a:ext cx="560263" cy="285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46113" y="2381250"/>
            <a:ext cx="1350318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264">
                <a:solidFill>
                  <a:srgbClr val="FFFFFF"/>
                </a:solidFill>
                <a:latin typeface="Manrope"/>
              </a:rPr>
              <a:t>MILEDEVS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40228" y="2381250"/>
            <a:ext cx="1718072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198">
                <a:solidFill>
                  <a:srgbClr val="BFA77A"/>
                </a:solidFill>
                <a:latin typeface="Manrope"/>
              </a:rPr>
              <a:t>[ АУДИТ ] 5/5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1550" y="5932215"/>
            <a:ext cx="8286750" cy="18515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050" b="1">
                <a:solidFill>
                  <a:srgbClr val="FFFFFF"/>
                </a:solidFill>
                <a:latin typeface="Unbounded"/>
              </a:rPr>
              <a:t>ІНОДІ БІЗНЕСУ НЕ ПОТРІБЕН ПОВНИЙ РЕДИЗАЙН.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8700" y="8164785"/>
            <a:ext cx="1143000" cy="38100"/>
          </a:xfrm>
          <a:prstGeom prst="roundRect">
            <a:avLst>
              <a:gd name="adj" fmla="val 0"/>
            </a:avLst>
          </a:prstGeom>
          <a:solidFill>
            <a:srgbClr val="BFA7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1550" y="8583885"/>
            <a:ext cx="8286750" cy="1104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3000" b="0">
                <a:solidFill>
                  <a:srgbClr val="D6D6DA"/>
                </a:solidFill>
                <a:latin typeface="Manrope"/>
              </a:rPr>
              <a:t>Потрібно знайти й виправити те, що реально заважає продавати.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1550" y="9955485"/>
            <a:ext cx="8286750" cy="1104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3000" b="0">
                <a:solidFill>
                  <a:srgbClr val="D6D6DA"/>
                </a:solidFill>
                <a:latin typeface="Manrope"/>
              </a:rPr>
              <a:t>Залиште сайт на аудит — напишіть нам у Direct.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28700" y="11593785"/>
            <a:ext cx="6690122" cy="952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09700" y="11879535"/>
            <a:ext cx="5928122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111111"/>
                </a:solidFill>
                <a:latin typeface="Unbounded"/>
              </a:rPr>
              <a:t>ЗАЛИШИТИ САЙТ НА АУДИТ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pic>
        <p:nvPicPr>
          <p:cNvPr id="3" name="Picture 2" descr="logo-mon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2381250"/>
            <a:ext cx="560263" cy="285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46113" y="2381250"/>
            <a:ext cx="1350318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264">
                <a:solidFill>
                  <a:srgbClr val="FFFFFF"/>
                </a:solidFill>
                <a:latin typeface="Manrope"/>
              </a:rPr>
              <a:t>MILEDEVS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96248" y="2381250"/>
            <a:ext cx="2962052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198">
                <a:solidFill>
                  <a:srgbClr val="BFA77A"/>
                </a:solidFill>
                <a:latin typeface="Manrope"/>
              </a:rPr>
              <a:t>[ АВТОМАТИЗАЦІЯ ] 1/5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1550" y="5562600"/>
            <a:ext cx="828675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500" b="1">
                <a:solidFill>
                  <a:srgbClr val="FFFFFF"/>
                </a:solidFill>
                <a:latin typeface="Unbounded"/>
              </a:rPr>
              <a:t>СКІЛЬКИ ГОДИН ВАША КОМАНДА ВИТРАЧАЄ НА ТЕ, ЩОБ: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8700" y="8686800"/>
            <a:ext cx="1143000" cy="38100"/>
          </a:xfrm>
          <a:prstGeom prst="roundRect">
            <a:avLst>
              <a:gd name="adj" fmla="val 0"/>
            </a:avLst>
          </a:prstGeom>
          <a:solidFill>
            <a:srgbClr val="BFA7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1550" y="9353550"/>
            <a:ext cx="82867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>
                <a:solidFill>
                  <a:srgbClr val="FFFFFF"/>
                </a:solidFill>
                <a:latin typeface="Manrope"/>
              </a:rPr>
              <a:t>— переносити заявки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28700" y="10229850"/>
            <a:ext cx="8229600" cy="19050"/>
          </a:xfrm>
          <a:prstGeom prst="roundRect">
            <a:avLst>
              <a:gd name="adj" fmla="val 0"/>
            </a:avLst>
          </a:prstGeom>
          <a:solidFill>
            <a:srgbClr val="2C2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1550" y="10248900"/>
            <a:ext cx="82867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>
                <a:solidFill>
                  <a:srgbClr val="FFFFFF"/>
                </a:solidFill>
                <a:latin typeface="Manrope"/>
              </a:rPr>
              <a:t>— копіювати дані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8700" y="11125200"/>
            <a:ext cx="8229600" cy="19050"/>
          </a:xfrm>
          <a:prstGeom prst="roundRect">
            <a:avLst>
              <a:gd name="adj" fmla="val 0"/>
            </a:avLst>
          </a:prstGeom>
          <a:solidFill>
            <a:srgbClr val="2C2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1550" y="11144250"/>
            <a:ext cx="82867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>
                <a:solidFill>
                  <a:srgbClr val="FFFFFF"/>
                </a:solidFill>
                <a:latin typeface="Manrope"/>
              </a:rPr>
              <a:t>— надсилати однакові повідомлення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28700" y="12020550"/>
            <a:ext cx="8229600" cy="19050"/>
          </a:xfrm>
          <a:prstGeom prst="roundRect">
            <a:avLst>
              <a:gd name="adj" fmla="val 0"/>
            </a:avLst>
          </a:prstGeom>
          <a:solidFill>
            <a:srgbClr val="2C2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1550" y="12039600"/>
            <a:ext cx="82867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>
                <a:solidFill>
                  <a:srgbClr val="FFFFFF"/>
                </a:solidFill>
                <a:latin typeface="Manrope"/>
              </a:rPr>
              <a:t>— формувати звіти вручну?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pic>
        <p:nvPicPr>
          <p:cNvPr id="3" name="Picture 2" descr="logo-mon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2381250"/>
            <a:ext cx="560263" cy="285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46113" y="2381250"/>
            <a:ext cx="1350318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264">
                <a:solidFill>
                  <a:srgbClr val="111113"/>
                </a:solidFill>
                <a:latin typeface="Manrope"/>
              </a:rPr>
              <a:t>MILEDEVS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63283" y="2381250"/>
            <a:ext cx="2995017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198">
                <a:solidFill>
                  <a:srgbClr val="BFA77A"/>
                </a:solidFill>
                <a:latin typeface="Manrope"/>
              </a:rPr>
              <a:t>[ АВТОМАТИЗАЦІЯ ] 2/5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1550" y="7669560"/>
            <a:ext cx="8286750" cy="1234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050" b="1">
                <a:solidFill>
                  <a:srgbClr val="111113"/>
                </a:solidFill>
                <a:latin typeface="Unbounded"/>
              </a:rPr>
              <a:t>ОДНА ДІЯ ЗАЙМАЄ КІЛЬКА ХВИЛИН.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8700" y="9284940"/>
            <a:ext cx="1143000" cy="38100"/>
          </a:xfrm>
          <a:prstGeom prst="roundRect">
            <a:avLst>
              <a:gd name="adj" fmla="val 0"/>
            </a:avLst>
          </a:prstGeom>
          <a:solidFill>
            <a:srgbClr val="BFA7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1550" y="9704040"/>
            <a:ext cx="8286750" cy="1104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3000" b="0">
                <a:solidFill>
                  <a:srgbClr val="2F2F35"/>
                </a:solidFill>
                <a:latin typeface="Manrope"/>
              </a:rPr>
              <a:t>Але за місяць така рутина забирає десятки годин і створює ризик помилок.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pic>
        <p:nvPicPr>
          <p:cNvPr id="3" name="Picture 2" descr="logo-mon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2381250"/>
            <a:ext cx="560263" cy="285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46113" y="2381250"/>
            <a:ext cx="1350318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264">
                <a:solidFill>
                  <a:srgbClr val="FFFFFF"/>
                </a:solidFill>
                <a:latin typeface="Manrope"/>
              </a:rPr>
              <a:t>MILEDEVS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66185" y="2381250"/>
            <a:ext cx="2992115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198">
                <a:solidFill>
                  <a:srgbClr val="BFA77A"/>
                </a:solidFill>
                <a:latin typeface="Manrope"/>
              </a:rPr>
              <a:t>[ АВТОМАТИЗАЦІЯ ] 3/5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1550" y="5755035"/>
            <a:ext cx="8286750" cy="1462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800" b="1">
                <a:solidFill>
                  <a:srgbClr val="FFFFFF"/>
                </a:solidFill>
                <a:latin typeface="Unbounded"/>
              </a:rPr>
              <a:t>АВТОМАТИЗУВАТИ МОЖНА: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8700" y="7599015"/>
            <a:ext cx="1143000" cy="38100"/>
          </a:xfrm>
          <a:prstGeom prst="roundRect">
            <a:avLst>
              <a:gd name="adj" fmla="val 0"/>
            </a:avLst>
          </a:prstGeom>
          <a:solidFill>
            <a:srgbClr val="BFA7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1550" y="8265765"/>
            <a:ext cx="82867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>
                <a:solidFill>
                  <a:srgbClr val="FFFFFF"/>
                </a:solidFill>
                <a:latin typeface="Manrope"/>
              </a:rPr>
              <a:t>— збір і розподіл заявок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28700" y="9142065"/>
            <a:ext cx="8229600" cy="19050"/>
          </a:xfrm>
          <a:prstGeom prst="roundRect">
            <a:avLst>
              <a:gd name="adj" fmla="val 0"/>
            </a:avLst>
          </a:prstGeom>
          <a:solidFill>
            <a:srgbClr val="2C2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1550" y="9161115"/>
            <a:ext cx="82867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>
                <a:solidFill>
                  <a:srgbClr val="FFFFFF"/>
                </a:solidFill>
                <a:latin typeface="Manrope"/>
              </a:rPr>
              <a:t>— роботу з CRM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8700" y="10037415"/>
            <a:ext cx="8229600" cy="19050"/>
          </a:xfrm>
          <a:prstGeom prst="roundRect">
            <a:avLst>
              <a:gd name="adj" fmla="val 0"/>
            </a:avLst>
          </a:prstGeom>
          <a:solidFill>
            <a:srgbClr val="2C2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1550" y="10056465"/>
            <a:ext cx="82867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>
                <a:solidFill>
                  <a:srgbClr val="FFFFFF"/>
                </a:solidFill>
                <a:latin typeface="Manrope"/>
              </a:rPr>
              <a:t>— нагадування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28700" y="10932765"/>
            <a:ext cx="8229600" cy="19050"/>
          </a:xfrm>
          <a:prstGeom prst="roundRect">
            <a:avLst>
              <a:gd name="adj" fmla="val 0"/>
            </a:avLst>
          </a:prstGeom>
          <a:solidFill>
            <a:srgbClr val="2C2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1550" y="10951815"/>
            <a:ext cx="82867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>
                <a:solidFill>
                  <a:srgbClr val="FFFFFF"/>
                </a:solidFill>
                <a:latin typeface="Manrope"/>
              </a:rPr>
              <a:t>— статуси замовлень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28700" y="11828115"/>
            <a:ext cx="8229600" cy="19050"/>
          </a:xfrm>
          <a:prstGeom prst="roundRect">
            <a:avLst>
              <a:gd name="adj" fmla="val 0"/>
            </a:avLst>
          </a:prstGeom>
          <a:solidFill>
            <a:srgbClr val="2C2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1550" y="11847165"/>
            <a:ext cx="82867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>
                <a:solidFill>
                  <a:srgbClr val="FFFFFF"/>
                </a:solidFill>
                <a:latin typeface="Manrope"/>
              </a:rPr>
              <a:t>— звіти та комунікацію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pic>
        <p:nvPicPr>
          <p:cNvPr id="3" name="Picture 2" descr="logo-mon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2381250"/>
            <a:ext cx="560263" cy="285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46113" y="2381250"/>
            <a:ext cx="1350318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264">
                <a:solidFill>
                  <a:srgbClr val="111113"/>
                </a:solidFill>
                <a:latin typeface="Manrope"/>
              </a:rPr>
              <a:t>MILEDEVS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60529" y="2381250"/>
            <a:ext cx="2997771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198">
                <a:solidFill>
                  <a:srgbClr val="BFA77A"/>
                </a:solidFill>
                <a:latin typeface="Manrope"/>
              </a:rPr>
              <a:t>[ АВТОМАТИЗАЦІЯ ] 4/5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1550" y="7360965"/>
            <a:ext cx="8286750" cy="18515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050" b="1">
                <a:solidFill>
                  <a:srgbClr val="111113"/>
                </a:solidFill>
                <a:latin typeface="Unbounded"/>
              </a:rPr>
              <a:t>АЛЕ СПОЧАТКУ ПОТРІБНО РОЗІБРАТИ ПРОЦЕС.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8700" y="9593535"/>
            <a:ext cx="1143000" cy="38100"/>
          </a:xfrm>
          <a:prstGeom prst="roundRect">
            <a:avLst>
              <a:gd name="adj" fmla="val 0"/>
            </a:avLst>
          </a:prstGeom>
          <a:solidFill>
            <a:srgbClr val="BFA7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1550" y="10012635"/>
            <a:ext cx="8286750" cy="1104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3000" b="0">
                <a:solidFill>
                  <a:srgbClr val="2F2F35"/>
                </a:solidFill>
                <a:latin typeface="Manrope"/>
              </a:rPr>
              <a:t>Прибрати зайві кроки — і лише тоді підключати технології.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pic>
        <p:nvPicPr>
          <p:cNvPr id="3" name="Picture 2" descr="logo-mon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2381250"/>
            <a:ext cx="560263" cy="285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46113" y="2381250"/>
            <a:ext cx="1350318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264">
                <a:solidFill>
                  <a:srgbClr val="FFFFFF"/>
                </a:solidFill>
                <a:latin typeface="Manrope"/>
              </a:rPr>
              <a:t>MILEDEVS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65218" y="2381250"/>
            <a:ext cx="2993082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198">
                <a:solidFill>
                  <a:srgbClr val="BFA77A"/>
                </a:solidFill>
                <a:latin typeface="Manrope"/>
              </a:rPr>
              <a:t>[ АВТОМАТИЗАЦІЯ ] 5/5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1550" y="6755160"/>
            <a:ext cx="8286750" cy="15772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450" b="1">
                <a:solidFill>
                  <a:srgbClr val="FFFFFF"/>
                </a:solidFill>
                <a:latin typeface="Unbounded"/>
              </a:rPr>
              <a:t>ОПИШІТЬ ПРОЦЕС, ЯКИЙ ПОСТІЙНО ЗАБИРАЄ ЧАС У ВАШОЇ КОМАНДИ.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8700" y="8713366"/>
            <a:ext cx="1143000" cy="38100"/>
          </a:xfrm>
          <a:prstGeom prst="roundRect">
            <a:avLst>
              <a:gd name="adj" fmla="val 0"/>
            </a:avLst>
          </a:prstGeom>
          <a:solidFill>
            <a:srgbClr val="BFA7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1550" y="9132466"/>
            <a:ext cx="8286750" cy="1104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3000" b="0">
                <a:solidFill>
                  <a:srgbClr val="D6D6DA"/>
                </a:solidFill>
                <a:latin typeface="Manrope"/>
              </a:rPr>
              <a:t>Ми покажемо, що в ньому можна автоматизувати.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28700" y="10770766"/>
            <a:ext cx="5060603" cy="952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9700" y="11056516"/>
            <a:ext cx="4298603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111111"/>
                </a:solidFill>
                <a:latin typeface="Unbounded"/>
              </a:rPr>
              <a:t>НАПИСАТИ В DIRECT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pic>
        <p:nvPicPr>
          <p:cNvPr id="3" name="Picture 2" descr="logo-mon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2381250"/>
            <a:ext cx="560263" cy="285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46113" y="2381250"/>
            <a:ext cx="1350318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264">
                <a:solidFill>
                  <a:srgbClr val="FFFFFF"/>
                </a:solidFill>
                <a:latin typeface="Manrope"/>
              </a:rPr>
              <a:t>MILEDEVS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54267" y="2381250"/>
            <a:ext cx="1904033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198">
                <a:solidFill>
                  <a:srgbClr val="BFA77A"/>
                </a:solidFill>
                <a:latin typeface="Manrope"/>
              </a:rPr>
              <a:t>[ ДИЗАЙН ] 1/5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1550" y="7486650"/>
            <a:ext cx="8286750" cy="160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5250" b="1">
                <a:solidFill>
                  <a:srgbClr val="FFFFFF"/>
                </a:solidFill>
                <a:latin typeface="Unbounded"/>
              </a:rPr>
              <a:t>ДИЗАЙН САЙТУ — ЦЕ НЕ ДЕКОР.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8700" y="9467850"/>
            <a:ext cx="1143000" cy="38100"/>
          </a:xfrm>
          <a:prstGeom prst="roundRect">
            <a:avLst>
              <a:gd name="adj" fmla="val 0"/>
            </a:avLst>
          </a:prstGeom>
          <a:solidFill>
            <a:srgbClr val="BFA7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1550" y="9886950"/>
            <a:ext cx="8286750" cy="1104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3000" b="0">
                <a:solidFill>
                  <a:srgbClr val="D6D6DA"/>
                </a:solidFill>
                <a:latin typeface="Manrope"/>
              </a:rPr>
              <a:t>Він або допомагає клієнту прийняти рішення, або змушує його закрити сторінку.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pic>
        <p:nvPicPr>
          <p:cNvPr id="3" name="Picture 2" descr="logo-mon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2381250"/>
            <a:ext cx="560263" cy="285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46113" y="2381250"/>
            <a:ext cx="1350318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264">
                <a:solidFill>
                  <a:srgbClr val="111113"/>
                </a:solidFill>
                <a:latin typeface="Manrope"/>
              </a:rPr>
              <a:t>MILEDEVS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21228" y="2381250"/>
            <a:ext cx="1937072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198">
                <a:solidFill>
                  <a:srgbClr val="BFA77A"/>
                </a:solidFill>
                <a:latin typeface="Manrope"/>
              </a:rPr>
              <a:t>[ ДИЗАЙН ] 2/5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1550" y="6008415"/>
            <a:ext cx="8286750" cy="18515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050" b="1">
                <a:solidFill>
                  <a:srgbClr val="111113"/>
                </a:solidFill>
                <a:latin typeface="Unbounded"/>
              </a:rPr>
              <a:t>ЗА КІЛЬКА СЕКУНД ЛЮДИНА МАЄ ЗРОЗУМІТИ: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8700" y="8240985"/>
            <a:ext cx="1143000" cy="38100"/>
          </a:xfrm>
          <a:prstGeom prst="roundRect">
            <a:avLst>
              <a:gd name="adj" fmla="val 0"/>
            </a:avLst>
          </a:prstGeom>
          <a:solidFill>
            <a:srgbClr val="BFA7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1550" y="8907735"/>
            <a:ext cx="82867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>
                <a:solidFill>
                  <a:srgbClr val="111113"/>
                </a:solidFill>
                <a:latin typeface="Manrope"/>
              </a:rPr>
              <a:t>— куди вона потрапила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28700" y="9784035"/>
            <a:ext cx="8229600" cy="19050"/>
          </a:xfrm>
          <a:prstGeom prst="roundRect">
            <a:avLst>
              <a:gd name="adj" fmla="val 0"/>
            </a:avLst>
          </a:prstGeom>
          <a:solidFill>
            <a:srgbClr val="D9D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1550" y="9803085"/>
            <a:ext cx="82867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>
                <a:solidFill>
                  <a:srgbClr val="111113"/>
                </a:solidFill>
                <a:latin typeface="Manrope"/>
              </a:rPr>
              <a:t>— що ви пропонуєте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8700" y="10679385"/>
            <a:ext cx="8229600" cy="19050"/>
          </a:xfrm>
          <a:prstGeom prst="roundRect">
            <a:avLst>
              <a:gd name="adj" fmla="val 0"/>
            </a:avLst>
          </a:prstGeom>
          <a:solidFill>
            <a:srgbClr val="D9D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1550" y="10698435"/>
            <a:ext cx="82867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>
                <a:solidFill>
                  <a:srgbClr val="111113"/>
                </a:solidFill>
                <a:latin typeface="Manrope"/>
              </a:rPr>
              <a:t>— чому вам можна довіряти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28700" y="11574735"/>
            <a:ext cx="8229600" cy="19050"/>
          </a:xfrm>
          <a:prstGeom prst="roundRect">
            <a:avLst>
              <a:gd name="adj" fmla="val 0"/>
            </a:avLst>
          </a:prstGeom>
          <a:solidFill>
            <a:srgbClr val="D9D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1550" y="11593785"/>
            <a:ext cx="82867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>
                <a:solidFill>
                  <a:srgbClr val="111113"/>
                </a:solidFill>
                <a:latin typeface="Manrope"/>
              </a:rPr>
              <a:t>— що робити далі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pic>
        <p:nvPicPr>
          <p:cNvPr id="3" name="Picture 2" descr="logo-mon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2381250"/>
            <a:ext cx="560263" cy="285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46113" y="2381250"/>
            <a:ext cx="1350318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264">
                <a:solidFill>
                  <a:srgbClr val="FFFFFF"/>
                </a:solidFill>
                <a:latin typeface="Manrope"/>
              </a:rPr>
              <a:t>MILEDEVS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24204" y="2381250"/>
            <a:ext cx="1934096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198">
                <a:solidFill>
                  <a:srgbClr val="BFA77A"/>
                </a:solidFill>
                <a:latin typeface="Manrope"/>
              </a:rPr>
              <a:t>[ ДИЗАЙН ] 3/5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1550" y="7511430"/>
            <a:ext cx="8286750" cy="7314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800" b="1">
                <a:solidFill>
                  <a:srgbClr val="FFFFFF"/>
                </a:solidFill>
                <a:latin typeface="Unbounded"/>
              </a:rPr>
              <a:t>UX — ЦЕ ЛОГІКА.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8700" y="8623920"/>
            <a:ext cx="1143000" cy="38100"/>
          </a:xfrm>
          <a:prstGeom prst="roundRect">
            <a:avLst>
              <a:gd name="adj" fmla="val 0"/>
            </a:avLst>
          </a:prstGeom>
          <a:solidFill>
            <a:srgbClr val="BFA7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1550" y="9043020"/>
            <a:ext cx="8286750" cy="1104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3000" b="0">
                <a:solidFill>
                  <a:srgbClr val="D6D6DA"/>
                </a:solidFill>
                <a:latin typeface="Manrope"/>
              </a:rPr>
              <a:t>Структура, навігація, шлях клієнта та сценарій покупки.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1550" y="10414620"/>
            <a:ext cx="8286750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3000" b="0">
                <a:solidFill>
                  <a:srgbClr val="D6D6DA"/>
                </a:solidFill>
                <a:latin typeface="Manrope"/>
              </a:rPr>
              <a:t>UI — те, як ця логіка виглядає візуально.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pic>
        <p:nvPicPr>
          <p:cNvPr id="3" name="Picture 2" descr="logo-mon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2381250"/>
            <a:ext cx="560263" cy="285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46113" y="2381250"/>
            <a:ext cx="1350318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264">
                <a:solidFill>
                  <a:srgbClr val="111113"/>
                </a:solidFill>
                <a:latin typeface="Manrope"/>
              </a:rPr>
              <a:t>MILEDEVS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8474" y="2381250"/>
            <a:ext cx="1939826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198">
                <a:solidFill>
                  <a:srgbClr val="BFA77A"/>
                </a:solidFill>
                <a:latin typeface="Manrope"/>
              </a:rPr>
              <a:t>[ ДИЗАЙН ] 4/5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1550" y="6764685"/>
            <a:ext cx="8286750" cy="1234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050" b="1">
                <a:solidFill>
                  <a:srgbClr val="111113"/>
                </a:solidFill>
                <a:latin typeface="Unbounded"/>
              </a:rPr>
              <a:t>СИЛЬНИЙ ДИЗАЙН НЕ ЗМУШУЄ ЛЮДИНУ: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8700" y="8380065"/>
            <a:ext cx="1143000" cy="38100"/>
          </a:xfrm>
          <a:prstGeom prst="roundRect">
            <a:avLst>
              <a:gd name="adj" fmla="val 0"/>
            </a:avLst>
          </a:prstGeom>
          <a:solidFill>
            <a:srgbClr val="BFA7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1550" y="9046815"/>
            <a:ext cx="82867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>
                <a:solidFill>
                  <a:srgbClr val="111113"/>
                </a:solidFill>
                <a:latin typeface="Manrope"/>
              </a:rPr>
              <a:t>— шукати кнопку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28700" y="9923115"/>
            <a:ext cx="8229600" cy="19050"/>
          </a:xfrm>
          <a:prstGeom prst="roundRect">
            <a:avLst>
              <a:gd name="adj" fmla="val 0"/>
            </a:avLst>
          </a:prstGeom>
          <a:solidFill>
            <a:srgbClr val="D9D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1550" y="9942165"/>
            <a:ext cx="82867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>
                <a:solidFill>
                  <a:srgbClr val="111113"/>
                </a:solidFill>
                <a:latin typeface="Manrope"/>
              </a:rPr>
              <a:t>— вгадувати наступний крок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8700" y="10818465"/>
            <a:ext cx="8229600" cy="19050"/>
          </a:xfrm>
          <a:prstGeom prst="roundRect">
            <a:avLst>
              <a:gd name="adj" fmla="val 0"/>
            </a:avLst>
          </a:prstGeom>
          <a:solidFill>
            <a:srgbClr val="D9D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1550" y="10837515"/>
            <a:ext cx="82867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>
                <a:solidFill>
                  <a:srgbClr val="111113"/>
                </a:solidFill>
                <a:latin typeface="Manrope"/>
              </a:rPr>
              <a:t>— перечитувати сторінку кілька разів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pic>
        <p:nvPicPr>
          <p:cNvPr id="3" name="Picture 2" descr="logo-mon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2381250"/>
            <a:ext cx="560263" cy="285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46113" y="2381250"/>
            <a:ext cx="1350318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264">
                <a:solidFill>
                  <a:srgbClr val="FFFFFF"/>
                </a:solidFill>
                <a:latin typeface="Manrope"/>
              </a:rPr>
              <a:t>MILEDEVS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23162" y="2381250"/>
            <a:ext cx="1935138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198">
                <a:solidFill>
                  <a:srgbClr val="BFA77A"/>
                </a:solidFill>
                <a:latin typeface="Manrope"/>
              </a:rPr>
              <a:t>[ ДИЗАЙН ] 5/5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1550" y="6768554"/>
            <a:ext cx="8286750" cy="21029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450" b="1">
                <a:solidFill>
                  <a:srgbClr val="FFFFFF"/>
                </a:solidFill>
                <a:latin typeface="Unbounded"/>
              </a:rPr>
              <a:t>У MILEDEVS МИ СТВОРЮЄМО ДИЗАЙН, ЯКИЙ НЕ ПРОСТО ДОБРЕ ВИГЛЯДАЄ У FIGMA.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8700" y="9252496"/>
            <a:ext cx="1143000" cy="38100"/>
          </a:xfrm>
          <a:prstGeom prst="roundRect">
            <a:avLst>
              <a:gd name="adj" fmla="val 0"/>
            </a:avLst>
          </a:prstGeom>
          <a:solidFill>
            <a:srgbClr val="BFA7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1550" y="9671596"/>
            <a:ext cx="8286750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3000" b="0">
                <a:solidFill>
                  <a:srgbClr val="D6D6DA"/>
                </a:solidFill>
                <a:latin typeface="Manrope"/>
              </a:rPr>
              <a:t>Він працює в реальному бізнесі.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28700" y="10757446"/>
            <a:ext cx="5060603" cy="952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9700" y="11043196"/>
            <a:ext cx="4298603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111111"/>
                </a:solidFill>
                <a:latin typeface="Unbounded"/>
              </a:rPr>
              <a:t>НАПИСАТИ В DIRECT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pic>
        <p:nvPicPr>
          <p:cNvPr id="3" name="Picture 2" descr="logo-mon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2381250"/>
            <a:ext cx="560263" cy="285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46113" y="2381250"/>
            <a:ext cx="1350318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264">
                <a:solidFill>
                  <a:srgbClr val="FFFFFF"/>
                </a:solidFill>
                <a:latin typeface="Manrope"/>
              </a:rPr>
              <a:t>MILEDEVS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2932" y="2381250"/>
            <a:ext cx="2585368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198">
                <a:solidFill>
                  <a:srgbClr val="BFA77A"/>
                </a:solidFill>
                <a:latin typeface="Manrope"/>
              </a:rPr>
              <a:t>[ БОТ НА САЙТІ ] 1/5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1550" y="6572250"/>
            <a:ext cx="8286750" cy="2057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500" b="1">
                <a:solidFill>
                  <a:srgbClr val="FFFFFF"/>
                </a:solidFill>
                <a:latin typeface="Unbounded"/>
              </a:rPr>
              <a:t>ЛЮДИНА ЗАХОДИТЬ НА САЙТ ІЗ ЗАПИТАННЯМ.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8700" y="9010650"/>
            <a:ext cx="1143000" cy="38100"/>
          </a:xfrm>
          <a:prstGeom prst="roundRect">
            <a:avLst>
              <a:gd name="adj" fmla="val 0"/>
            </a:avLst>
          </a:prstGeom>
          <a:solidFill>
            <a:srgbClr val="BFA7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1550" y="9429750"/>
            <a:ext cx="8286750" cy="1104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3000" b="0">
                <a:solidFill>
                  <a:srgbClr val="D6D6DA"/>
                </a:solidFill>
                <a:latin typeface="Manrope"/>
              </a:rPr>
              <a:t>Не знаходить відповіді за кілька секунд — і закриває сторінку.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1550" y="10801350"/>
            <a:ext cx="8286750" cy="1104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3000" b="0">
                <a:solidFill>
                  <a:srgbClr val="D6D6DA"/>
                </a:solidFill>
                <a:latin typeface="Manrope"/>
              </a:rPr>
              <a:t>Так бізнес може втрачати клієнтів ще до першого контакту з менеджером.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pic>
        <p:nvPicPr>
          <p:cNvPr id="3" name="Picture 2" descr="logo-mon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2381250"/>
            <a:ext cx="560263" cy="285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46113" y="2381250"/>
            <a:ext cx="1350318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264">
                <a:solidFill>
                  <a:srgbClr val="111113"/>
                </a:solidFill>
                <a:latin typeface="Manrope"/>
              </a:rPr>
              <a:t>MILEDEVS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39967" y="2381250"/>
            <a:ext cx="2618333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198">
                <a:solidFill>
                  <a:srgbClr val="BFA77A"/>
                </a:solidFill>
                <a:latin typeface="Manrope"/>
              </a:rPr>
              <a:t>[ БОТ НА САЙТІ ] 2/5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1550" y="5882729"/>
            <a:ext cx="8286750" cy="21029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450" b="1">
                <a:solidFill>
                  <a:srgbClr val="111113"/>
                </a:solidFill>
                <a:latin typeface="Unbounded"/>
              </a:rPr>
              <a:t>БОТ НА САЙТІ МОЖЕ СПІЛКУВАТИСЯ З ВІДВІДУВАЧЕМ У РЕЖИМІ РЕАЛЬНОГО ЧАСУ: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8700" y="8366671"/>
            <a:ext cx="1143000" cy="38100"/>
          </a:xfrm>
          <a:prstGeom prst="roundRect">
            <a:avLst>
              <a:gd name="adj" fmla="val 0"/>
            </a:avLst>
          </a:prstGeom>
          <a:solidFill>
            <a:srgbClr val="BFA7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1550" y="9033421"/>
            <a:ext cx="82867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>
                <a:solidFill>
                  <a:srgbClr val="111113"/>
                </a:solidFill>
                <a:latin typeface="Manrope"/>
              </a:rPr>
              <a:t>— відповідати на запитання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28700" y="9909721"/>
            <a:ext cx="8229600" cy="19050"/>
          </a:xfrm>
          <a:prstGeom prst="roundRect">
            <a:avLst>
              <a:gd name="adj" fmla="val 0"/>
            </a:avLst>
          </a:prstGeom>
          <a:solidFill>
            <a:srgbClr val="D9D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1550" y="9928771"/>
            <a:ext cx="82867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>
                <a:solidFill>
                  <a:srgbClr val="111113"/>
                </a:solidFill>
                <a:latin typeface="Manrope"/>
              </a:rPr>
              <a:t>— допомагати з вибором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8700" y="10805071"/>
            <a:ext cx="8229600" cy="19050"/>
          </a:xfrm>
          <a:prstGeom prst="roundRect">
            <a:avLst>
              <a:gd name="adj" fmla="val 0"/>
            </a:avLst>
          </a:prstGeom>
          <a:solidFill>
            <a:srgbClr val="D9D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1550" y="10824121"/>
            <a:ext cx="82867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>
                <a:solidFill>
                  <a:srgbClr val="111113"/>
                </a:solidFill>
                <a:latin typeface="Manrope"/>
              </a:rPr>
              <a:t>— пояснювати умови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28700" y="11700421"/>
            <a:ext cx="8229600" cy="19050"/>
          </a:xfrm>
          <a:prstGeom prst="roundRect">
            <a:avLst>
              <a:gd name="adj" fmla="val 0"/>
            </a:avLst>
          </a:prstGeom>
          <a:solidFill>
            <a:srgbClr val="D9D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1550" y="11719471"/>
            <a:ext cx="82867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>
                <a:solidFill>
                  <a:srgbClr val="111113"/>
                </a:solidFill>
                <a:latin typeface="Manrope"/>
              </a:rPr>
              <a:t>— вести до потрібної дії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pic>
        <p:nvPicPr>
          <p:cNvPr id="3" name="Picture 2" descr="logo-mon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2381250"/>
            <a:ext cx="560263" cy="285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46113" y="2381250"/>
            <a:ext cx="1350318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264">
                <a:solidFill>
                  <a:srgbClr val="FFFFFF"/>
                </a:solidFill>
                <a:latin typeface="Manrope"/>
              </a:rPr>
              <a:t>MILEDEVS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42869" y="2381250"/>
            <a:ext cx="2615431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198">
                <a:solidFill>
                  <a:srgbClr val="BFA77A"/>
                </a:solidFill>
                <a:latin typeface="Manrope"/>
              </a:rPr>
              <a:t>[ БОТ НА САЙТІ ] 3/5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1550" y="6808515"/>
            <a:ext cx="8286750" cy="18515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050" b="1">
                <a:solidFill>
                  <a:srgbClr val="FFFFFF"/>
                </a:solidFill>
                <a:latin typeface="Unbounded"/>
              </a:rPr>
              <a:t>ЦЕ НЕ ПРОСТО ВІКНО З ФРАЗОЮ «ЧИМ ВАМ ДОПОМОГТИ?»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8700" y="9041085"/>
            <a:ext cx="1143000" cy="38100"/>
          </a:xfrm>
          <a:prstGeom prst="roundRect">
            <a:avLst>
              <a:gd name="adj" fmla="val 0"/>
            </a:avLst>
          </a:prstGeom>
          <a:solidFill>
            <a:srgbClr val="BFA7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1550" y="9460185"/>
            <a:ext cx="8286750" cy="2209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3000" b="0">
                <a:solidFill>
                  <a:srgbClr val="D6D6DA"/>
                </a:solidFill>
                <a:latin typeface="Manrope"/>
              </a:rPr>
              <a:t>Бота можна навчити працювати саме з інформацією вашого бізнесу — продуктами, послугами, цінами, доставкою та частими запитами клієнтів.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pic>
        <p:nvPicPr>
          <p:cNvPr id="3" name="Picture 2" descr="logo-mon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2381250"/>
            <a:ext cx="560263" cy="285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46113" y="2381250"/>
            <a:ext cx="1350318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264">
                <a:solidFill>
                  <a:srgbClr val="111113"/>
                </a:solidFill>
                <a:latin typeface="Manrope"/>
              </a:rPr>
              <a:t>MILEDEVS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37213" y="2381250"/>
            <a:ext cx="2621087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198">
                <a:solidFill>
                  <a:srgbClr val="BFA77A"/>
                </a:solidFill>
                <a:latin typeface="Manrope"/>
              </a:rPr>
              <a:t>[ БОТ НА САЙТІ ] 4/5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1550" y="5700712"/>
            <a:ext cx="8286750" cy="7314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800" b="1">
                <a:solidFill>
                  <a:srgbClr val="111113"/>
                </a:solidFill>
                <a:latin typeface="Unbounded"/>
              </a:rPr>
              <a:t>ВІН МОЖЕ: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8700" y="6813203"/>
            <a:ext cx="1143000" cy="38100"/>
          </a:xfrm>
          <a:prstGeom prst="roundRect">
            <a:avLst>
              <a:gd name="adj" fmla="val 0"/>
            </a:avLst>
          </a:prstGeom>
          <a:solidFill>
            <a:srgbClr val="BFA7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1550" y="7479953"/>
            <a:ext cx="82867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>
                <a:solidFill>
                  <a:srgbClr val="111113"/>
                </a:solidFill>
                <a:latin typeface="Manrope"/>
              </a:rPr>
              <a:t>— підібрати товар або послугу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28700" y="8356253"/>
            <a:ext cx="8229600" cy="19050"/>
          </a:xfrm>
          <a:prstGeom prst="roundRect">
            <a:avLst>
              <a:gd name="adj" fmla="val 0"/>
            </a:avLst>
          </a:prstGeom>
          <a:solidFill>
            <a:srgbClr val="D9D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1550" y="8375303"/>
            <a:ext cx="82867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>
                <a:solidFill>
                  <a:srgbClr val="111113"/>
                </a:solidFill>
                <a:latin typeface="Manrope"/>
              </a:rPr>
              <a:t>— зібрати контактні дані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8700" y="9251603"/>
            <a:ext cx="8229600" cy="19050"/>
          </a:xfrm>
          <a:prstGeom prst="roundRect">
            <a:avLst>
              <a:gd name="adj" fmla="val 0"/>
            </a:avLst>
          </a:prstGeom>
          <a:solidFill>
            <a:srgbClr val="D9D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1550" y="9270653"/>
            <a:ext cx="82867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>
                <a:solidFill>
                  <a:srgbClr val="111113"/>
                </a:solidFill>
                <a:latin typeface="Manrope"/>
              </a:rPr>
              <a:t>— кваліфікувати заявку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28700" y="10146953"/>
            <a:ext cx="8229600" cy="19050"/>
          </a:xfrm>
          <a:prstGeom prst="roundRect">
            <a:avLst>
              <a:gd name="adj" fmla="val 0"/>
            </a:avLst>
          </a:prstGeom>
          <a:solidFill>
            <a:srgbClr val="D9D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1550" y="10166003"/>
            <a:ext cx="82867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>
                <a:solidFill>
                  <a:srgbClr val="111113"/>
                </a:solidFill>
                <a:latin typeface="Manrope"/>
              </a:rPr>
              <a:t>— записати на консультацію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28700" y="11042303"/>
            <a:ext cx="8229600" cy="19050"/>
          </a:xfrm>
          <a:prstGeom prst="roundRect">
            <a:avLst>
              <a:gd name="adj" fmla="val 0"/>
            </a:avLst>
          </a:prstGeom>
          <a:solidFill>
            <a:srgbClr val="D9D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1550" y="11061353"/>
            <a:ext cx="82867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>
                <a:solidFill>
                  <a:srgbClr val="111113"/>
                </a:solidFill>
                <a:latin typeface="Manrope"/>
              </a:rPr>
              <a:t>— передати діалог менеджеру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1550" y="12280553"/>
            <a:ext cx="8286750" cy="49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700" b="0">
                <a:solidFill>
                  <a:srgbClr val="77777F"/>
                </a:solidFill>
                <a:latin typeface="Manrope"/>
              </a:rPr>
              <a:t>24/7, навіть коли команда офлайн.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pic>
        <p:nvPicPr>
          <p:cNvPr id="3" name="Picture 2" descr="logo-mon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2381250"/>
            <a:ext cx="560263" cy="285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46113" y="2381250"/>
            <a:ext cx="1350318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264">
                <a:solidFill>
                  <a:srgbClr val="FFFFFF"/>
                </a:solidFill>
                <a:latin typeface="Manrope"/>
              </a:rPr>
              <a:t>MILEDEVS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41902" y="2381250"/>
            <a:ext cx="2616398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198">
                <a:solidFill>
                  <a:srgbClr val="BFA77A"/>
                </a:solidFill>
                <a:latin typeface="Manrope"/>
              </a:rPr>
              <a:t>[ БОТ НА САЙТІ ] 5/5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1550" y="5964585"/>
            <a:ext cx="8286750" cy="1234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050" b="1">
                <a:solidFill>
                  <a:srgbClr val="FFFFFF"/>
                </a:solidFill>
                <a:latin typeface="Unbounded"/>
              </a:rPr>
              <a:t>БОТ НЕ ЗАМІНЮЄ ЖИВЕ СПІЛКУВАННЯ.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8700" y="7579965"/>
            <a:ext cx="1143000" cy="38100"/>
          </a:xfrm>
          <a:prstGeom prst="roundRect">
            <a:avLst>
              <a:gd name="adj" fmla="val 0"/>
            </a:avLst>
          </a:prstGeom>
          <a:solidFill>
            <a:srgbClr val="BFA7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1550" y="7999065"/>
            <a:ext cx="8286750" cy="1657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3000" b="0">
                <a:solidFill>
                  <a:srgbClr val="D6D6DA"/>
                </a:solidFill>
                <a:latin typeface="Manrope"/>
              </a:rPr>
              <a:t>Він допомагає не втрачати звернення, швидше відповідати клієнтам і зменшувати навантаження на команду.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1550" y="9923115"/>
            <a:ext cx="8286750" cy="1104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3000" b="0">
                <a:solidFill>
                  <a:srgbClr val="D6D6DA"/>
                </a:solidFill>
                <a:latin typeface="Manrope"/>
              </a:rPr>
              <a:t>Хочете такого бота для свого сайту? Напишіть MILEDEVS у Direct.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28700" y="11561415"/>
            <a:ext cx="2995017" cy="952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09700" y="11847165"/>
            <a:ext cx="2233017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111111"/>
                </a:solidFill>
                <a:latin typeface="Unbounded"/>
              </a:rPr>
              <a:t>MILEDEVS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pic>
        <p:nvPicPr>
          <p:cNvPr id="3" name="Picture 2" descr="logo-mon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2381250"/>
            <a:ext cx="560263" cy="285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46113" y="2381250"/>
            <a:ext cx="1350318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264">
                <a:solidFill>
                  <a:srgbClr val="FFFFFF"/>
                </a:solidFill>
                <a:latin typeface="Manrope"/>
              </a:rPr>
              <a:t>MILEDEVS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30739" y="2381250"/>
            <a:ext cx="2627561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198">
                <a:solidFill>
                  <a:srgbClr val="BFA77A"/>
                </a:solidFill>
                <a:latin typeface="Manrope"/>
              </a:rPr>
              <a:t>[ КЕЙС · LUNESI ] 1/5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1550" y="7511504"/>
            <a:ext cx="8286750" cy="21029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450" b="1">
                <a:solidFill>
                  <a:srgbClr val="FFFFFF"/>
                </a:solidFill>
                <a:latin typeface="Unbounded"/>
              </a:rPr>
              <a:t>ЯК ЗАПУСТИТИ МІЖНАРОДНИЙ E-COMMERCE І НЕ ПОТОНУТИ В РУЧНІЙ РОБОТІ?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8700" y="9995446"/>
            <a:ext cx="1143000" cy="38100"/>
          </a:xfrm>
          <a:prstGeom prst="roundRect">
            <a:avLst>
              <a:gd name="adj" fmla="val 0"/>
            </a:avLst>
          </a:prstGeom>
          <a:solidFill>
            <a:srgbClr val="BFA7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1550" y="10414546"/>
            <a:ext cx="8286750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3000" b="0">
                <a:solidFill>
                  <a:srgbClr val="D6D6DA"/>
                </a:solidFill>
                <a:latin typeface="Manrope"/>
              </a:rPr>
              <a:t>Показуємо на прикладі LUNESI.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pic>
        <p:nvPicPr>
          <p:cNvPr id="3" name="Picture 2" descr="logo-mon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2381250"/>
            <a:ext cx="560263" cy="285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46113" y="2381250"/>
            <a:ext cx="1350318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264">
                <a:solidFill>
                  <a:srgbClr val="111113"/>
                </a:solidFill>
                <a:latin typeface="Manrope"/>
              </a:rPr>
              <a:t>MILEDEVS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97774" y="2381250"/>
            <a:ext cx="2660526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198">
                <a:solidFill>
                  <a:srgbClr val="BFA77A"/>
                </a:solidFill>
                <a:latin typeface="Manrope"/>
              </a:rPr>
              <a:t>[ КЕЙС · LUNESI ] 2/5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1550" y="7221885"/>
            <a:ext cx="8286750" cy="15772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450" b="1">
                <a:solidFill>
                  <a:srgbClr val="111113"/>
                </a:solidFill>
                <a:latin typeface="Unbounded"/>
              </a:rPr>
              <a:t>БРЕНДУ БУВ ПОТРІБЕН НЕ ПРОСТО КРАСИВИЙ SHOPIFY-МАГАЗИН.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8700" y="9180091"/>
            <a:ext cx="1143000" cy="38100"/>
          </a:xfrm>
          <a:prstGeom prst="roundRect">
            <a:avLst>
              <a:gd name="adj" fmla="val 0"/>
            </a:avLst>
          </a:prstGeom>
          <a:solidFill>
            <a:srgbClr val="BFA7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1550" y="9599191"/>
            <a:ext cx="8286750" cy="1657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3000" b="0">
                <a:solidFill>
                  <a:srgbClr val="2F2F35"/>
                </a:solidFill>
                <a:latin typeface="Manrope"/>
              </a:rPr>
              <a:t>Потрібно було обʼєднати продажі на різних ринках, валюти, доставку, податки та маркетинг.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pic>
        <p:nvPicPr>
          <p:cNvPr id="3" name="Picture 2" descr="logo-mon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2381250"/>
            <a:ext cx="560263" cy="285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46113" y="2381250"/>
            <a:ext cx="1350318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264">
                <a:solidFill>
                  <a:srgbClr val="FFFFFF"/>
                </a:solidFill>
                <a:latin typeface="Manrope"/>
              </a:rPr>
              <a:t>MILEDEVS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00676" y="2381250"/>
            <a:ext cx="2657624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198">
                <a:solidFill>
                  <a:srgbClr val="BFA77A"/>
                </a:solidFill>
                <a:latin typeface="Manrope"/>
              </a:rPr>
              <a:t>[ КЕЙС · LUNESI ] 3/5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1550" y="6008415"/>
            <a:ext cx="8286750" cy="18515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050" b="1">
                <a:solidFill>
                  <a:srgbClr val="FFFFFF"/>
                </a:solidFill>
                <a:latin typeface="Unbounded"/>
              </a:rPr>
              <a:t>МИ РОЗРОБИЛИ МАГАЗИН І ПІДКЛЮЧИЛИ: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8700" y="8240985"/>
            <a:ext cx="1143000" cy="38100"/>
          </a:xfrm>
          <a:prstGeom prst="roundRect">
            <a:avLst>
              <a:gd name="adj" fmla="val 0"/>
            </a:avLst>
          </a:prstGeom>
          <a:solidFill>
            <a:srgbClr val="BFA7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1550" y="8907735"/>
            <a:ext cx="82867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>
                <a:solidFill>
                  <a:srgbClr val="FFFFFF"/>
                </a:solidFill>
                <a:latin typeface="Manrope"/>
              </a:rPr>
              <a:t>— GBP та EUR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28700" y="9784035"/>
            <a:ext cx="8229600" cy="19050"/>
          </a:xfrm>
          <a:prstGeom prst="roundRect">
            <a:avLst>
              <a:gd name="adj" fmla="val 0"/>
            </a:avLst>
          </a:prstGeom>
          <a:solidFill>
            <a:srgbClr val="2C2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1550" y="9803085"/>
            <a:ext cx="82867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>
                <a:solidFill>
                  <a:srgbClr val="FFFFFF"/>
                </a:solidFill>
                <a:latin typeface="Manrope"/>
              </a:rPr>
              <a:t>— Royal Mail і DHL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8700" y="10679385"/>
            <a:ext cx="8229600" cy="19050"/>
          </a:xfrm>
          <a:prstGeom prst="roundRect">
            <a:avLst>
              <a:gd name="adj" fmla="val 0"/>
            </a:avLst>
          </a:prstGeom>
          <a:solidFill>
            <a:srgbClr val="2C2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1550" y="10698435"/>
            <a:ext cx="82867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>
                <a:solidFill>
                  <a:srgbClr val="FFFFFF"/>
                </a:solidFill>
                <a:latin typeface="Manrope"/>
              </a:rPr>
              <a:t>— VAT, QuickBooks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28700" y="11574735"/>
            <a:ext cx="8229600" cy="19050"/>
          </a:xfrm>
          <a:prstGeom prst="roundRect">
            <a:avLst>
              <a:gd name="adj" fmla="val 0"/>
            </a:avLst>
          </a:prstGeom>
          <a:solidFill>
            <a:srgbClr val="2C2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1550" y="11593785"/>
            <a:ext cx="82867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>
                <a:solidFill>
                  <a:srgbClr val="FFFFFF"/>
                </a:solidFill>
                <a:latin typeface="Manrope"/>
              </a:rPr>
              <a:t>— Omnisend, Meta Pixel і GA4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pic>
        <p:nvPicPr>
          <p:cNvPr id="3" name="Picture 2" descr="logo-mon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2381250"/>
            <a:ext cx="560263" cy="285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46113" y="2381250"/>
            <a:ext cx="1350318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264">
                <a:solidFill>
                  <a:srgbClr val="111113"/>
                </a:solidFill>
                <a:latin typeface="Manrope"/>
              </a:rPr>
              <a:t>MILEDEVS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94946" y="2381250"/>
            <a:ext cx="2663354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198">
                <a:solidFill>
                  <a:srgbClr val="BFA77A"/>
                </a:solidFill>
                <a:latin typeface="Manrope"/>
              </a:rPr>
              <a:t>[ КЕЙС · LUNESI ] 4/5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1550" y="6202710"/>
            <a:ext cx="8286750" cy="1462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800" b="1">
                <a:solidFill>
                  <a:srgbClr val="111113"/>
                </a:solidFill>
                <a:latin typeface="Unbounded"/>
              </a:rPr>
              <a:t>ТАКОЖ РЕАЛІЗУВАЛИ: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8700" y="8046690"/>
            <a:ext cx="1143000" cy="38100"/>
          </a:xfrm>
          <a:prstGeom prst="roundRect">
            <a:avLst>
              <a:gd name="adj" fmla="val 0"/>
            </a:avLst>
          </a:prstGeom>
          <a:solidFill>
            <a:srgbClr val="BFA7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1550" y="8713440"/>
            <a:ext cx="82867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>
                <a:solidFill>
                  <a:srgbClr val="111113"/>
                </a:solidFill>
                <a:latin typeface="Manrope"/>
              </a:rPr>
              <a:t>— розумний кошик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28700" y="9589740"/>
            <a:ext cx="8229600" cy="19050"/>
          </a:xfrm>
          <a:prstGeom prst="roundRect">
            <a:avLst>
              <a:gd name="adj" fmla="val 0"/>
            </a:avLst>
          </a:prstGeom>
          <a:solidFill>
            <a:srgbClr val="D9D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1550" y="9608790"/>
            <a:ext cx="82867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>
                <a:solidFill>
                  <a:srgbClr val="111113"/>
                </a:solidFill>
                <a:latin typeface="Manrope"/>
              </a:rPr>
              <a:t>— набори товарів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8700" y="10485090"/>
            <a:ext cx="8229600" cy="19050"/>
          </a:xfrm>
          <a:prstGeom prst="roundRect">
            <a:avLst>
              <a:gd name="adj" fmla="val 0"/>
            </a:avLst>
          </a:prstGeom>
          <a:solidFill>
            <a:srgbClr val="D9D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1550" y="10504140"/>
            <a:ext cx="82867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>
                <a:solidFill>
                  <a:srgbClr val="111113"/>
                </a:solidFill>
                <a:latin typeface="Manrope"/>
              </a:rPr>
              <a:t>— автоматичні акції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28700" y="11380440"/>
            <a:ext cx="8229600" cy="19050"/>
          </a:xfrm>
          <a:prstGeom prst="roundRect">
            <a:avLst>
              <a:gd name="adj" fmla="val 0"/>
            </a:avLst>
          </a:prstGeom>
          <a:solidFill>
            <a:srgbClr val="D9D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1550" y="11399490"/>
            <a:ext cx="82867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>
                <a:solidFill>
                  <a:srgbClr val="111113"/>
                </a:solidFill>
                <a:latin typeface="Manrope"/>
              </a:rPr>
              <a:t>— product quiz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pic>
        <p:nvPicPr>
          <p:cNvPr id="3" name="Picture 2" descr="logo-mon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2381250"/>
            <a:ext cx="560263" cy="285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46113" y="2381250"/>
            <a:ext cx="1350318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264">
                <a:solidFill>
                  <a:srgbClr val="FFFFFF"/>
                </a:solidFill>
                <a:latin typeface="Manrope"/>
              </a:rPr>
              <a:t>MILEDEVS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99709" y="2381250"/>
            <a:ext cx="2658591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198">
                <a:solidFill>
                  <a:srgbClr val="BFA77A"/>
                </a:solidFill>
                <a:latin typeface="Manrope"/>
              </a:rPr>
              <a:t>[ КЕЙС · LUNESI ] 5/5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1550" y="5605462"/>
            <a:ext cx="8286750" cy="7314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800" b="1">
                <a:solidFill>
                  <a:srgbClr val="FFFFFF"/>
                </a:solidFill>
                <a:latin typeface="Unbounded"/>
              </a:rPr>
              <a:t>РЕЗУЛЬТАТ: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8700" y="6717953"/>
            <a:ext cx="1143000" cy="38100"/>
          </a:xfrm>
          <a:prstGeom prst="roundRect">
            <a:avLst>
              <a:gd name="adj" fmla="val 0"/>
            </a:avLst>
          </a:prstGeom>
          <a:solidFill>
            <a:srgbClr val="BFA7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1550" y="7384703"/>
            <a:ext cx="828675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>
                <a:solidFill>
                  <a:srgbClr val="FFFFFF"/>
                </a:solidFill>
                <a:latin typeface="Manrope"/>
              </a:rPr>
              <a:t>— доставка у 30+ країн з автоматичними тарифами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28700" y="8756303"/>
            <a:ext cx="8229600" cy="19050"/>
          </a:xfrm>
          <a:prstGeom prst="roundRect">
            <a:avLst>
              <a:gd name="adj" fmla="val 0"/>
            </a:avLst>
          </a:prstGeom>
          <a:solidFill>
            <a:srgbClr val="2C2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1550" y="8775353"/>
            <a:ext cx="82867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>
                <a:solidFill>
                  <a:srgbClr val="FFFFFF"/>
                </a:solidFill>
                <a:latin typeface="Manrope"/>
              </a:rPr>
              <a:t>— VAT і рахунки рахуються автоматично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8700" y="9651653"/>
            <a:ext cx="8229600" cy="19050"/>
          </a:xfrm>
          <a:prstGeom prst="roundRect">
            <a:avLst>
              <a:gd name="adj" fmla="val 0"/>
            </a:avLst>
          </a:prstGeom>
          <a:solidFill>
            <a:srgbClr val="2C2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1550" y="9670703"/>
            <a:ext cx="82867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>
                <a:solidFill>
                  <a:srgbClr val="FFFFFF"/>
                </a:solidFill>
                <a:latin typeface="Manrope"/>
              </a:rPr>
              <a:t>— облік у QuickBooks без ручного переносу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1550" y="10889903"/>
            <a:ext cx="8286750" cy="49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700" b="0">
                <a:solidFill>
                  <a:srgbClr val="8E8E96"/>
                </a:solidFill>
                <a:latin typeface="Manrope"/>
              </a:rPr>
              <a:t>Більше кейсів — на сайті MILEDEVS.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28700" y="11920463"/>
            <a:ext cx="4033465" cy="952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09700" y="12206213"/>
            <a:ext cx="3271465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111111"/>
                </a:solidFill>
                <a:latin typeface="Unbounded"/>
              </a:rPr>
              <a:t>MILEDEVS.COM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pic>
        <p:nvPicPr>
          <p:cNvPr id="3" name="Picture 2" descr="logo-mon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2381250"/>
            <a:ext cx="560263" cy="285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46113" y="2381250"/>
            <a:ext cx="1350318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264">
                <a:solidFill>
                  <a:srgbClr val="FFFFFF"/>
                </a:solidFill>
                <a:latin typeface="Manrope"/>
              </a:rPr>
              <a:t>MILEDEVS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26213" y="2381250"/>
            <a:ext cx="2532087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198">
                <a:solidFill>
                  <a:srgbClr val="BFA77A"/>
                </a:solidFill>
                <a:latin typeface="Manrope"/>
              </a:rPr>
              <a:t>[ E-COMMERCE ] 1/5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1550" y="7258050"/>
            <a:ext cx="8286750" cy="2057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500" b="1">
                <a:solidFill>
                  <a:srgbClr val="FFFFFF"/>
                </a:solidFill>
                <a:latin typeface="Unbounded"/>
              </a:rPr>
              <a:t>ОНЛАЙН-МАГАЗИН — ЦЕ НЕ ПРОСТО САЙТ ІЗ ТОВАРАМИ.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8700" y="9696450"/>
            <a:ext cx="1143000" cy="38100"/>
          </a:xfrm>
          <a:prstGeom prst="roundRect">
            <a:avLst>
              <a:gd name="adj" fmla="val 0"/>
            </a:avLst>
          </a:prstGeom>
          <a:solidFill>
            <a:srgbClr val="BFA7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1550" y="10115550"/>
            <a:ext cx="8286750" cy="1104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3000" b="0">
                <a:solidFill>
                  <a:srgbClr val="D6D6DA"/>
                </a:solidFill>
                <a:latin typeface="Manrope"/>
              </a:rPr>
              <a:t>Це весь шлях клієнта від першого знайомства до повторної покупки.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pic>
        <p:nvPicPr>
          <p:cNvPr id="3" name="Picture 2" descr="logo-mon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2381250"/>
            <a:ext cx="560263" cy="285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46113" y="2381250"/>
            <a:ext cx="1350318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264">
                <a:solidFill>
                  <a:srgbClr val="111113"/>
                </a:solidFill>
                <a:latin typeface="Manrope"/>
              </a:rPr>
              <a:t>MILEDEVS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93247" y="2381250"/>
            <a:ext cx="2565053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198">
                <a:solidFill>
                  <a:srgbClr val="BFA77A"/>
                </a:solidFill>
                <a:latin typeface="Manrope"/>
              </a:rPr>
              <a:t>[ E-COMMERCE ] 2/5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1550" y="7235279"/>
            <a:ext cx="8286750" cy="21029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450" b="1">
                <a:solidFill>
                  <a:srgbClr val="111113"/>
                </a:solidFill>
                <a:latin typeface="Unbounded"/>
              </a:rPr>
              <a:t>КОНТЕНТ І РЕКЛАМА ПРИВЕРТАЮТЬ УВАГУ ТА ПРИВОДЯТЬ ЛЮДИНУ НА САЙТ.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8700" y="9719221"/>
            <a:ext cx="1143000" cy="38100"/>
          </a:xfrm>
          <a:prstGeom prst="roundRect">
            <a:avLst>
              <a:gd name="adj" fmla="val 0"/>
            </a:avLst>
          </a:prstGeom>
          <a:solidFill>
            <a:srgbClr val="BFA7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1550" y="10138321"/>
            <a:ext cx="8286750" cy="1104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3000" b="0">
                <a:solidFill>
                  <a:srgbClr val="2F2F35"/>
                </a:solidFill>
                <a:latin typeface="Manrope"/>
              </a:rPr>
              <a:t>Але саме сайт має пояснити пропозицію, створити довіру й допомогти обрати.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pic>
        <p:nvPicPr>
          <p:cNvPr id="3" name="Picture 2" descr="logo-mon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2381250"/>
            <a:ext cx="560263" cy="285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46113" y="2381250"/>
            <a:ext cx="1350318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264">
                <a:solidFill>
                  <a:srgbClr val="FFFFFF"/>
                </a:solidFill>
                <a:latin typeface="Manrope"/>
              </a:rPr>
              <a:t>MILEDEVS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96149" y="2381250"/>
            <a:ext cx="2562151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198">
                <a:solidFill>
                  <a:srgbClr val="BFA77A"/>
                </a:solidFill>
                <a:latin typeface="Manrope"/>
              </a:rPr>
              <a:t>[ E-COMMERCE ] 3/5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1550" y="6120780"/>
            <a:ext cx="8286750" cy="7314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800" b="1">
                <a:solidFill>
                  <a:srgbClr val="FFFFFF"/>
                </a:solidFill>
                <a:latin typeface="Unbounded"/>
              </a:rPr>
              <a:t>ДАЛІ ПРАЦЮЮТЬ: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8700" y="7233270"/>
            <a:ext cx="1143000" cy="38100"/>
          </a:xfrm>
          <a:prstGeom prst="roundRect">
            <a:avLst>
              <a:gd name="adj" fmla="val 0"/>
            </a:avLst>
          </a:prstGeom>
          <a:solidFill>
            <a:srgbClr val="BFA7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1550" y="7900020"/>
            <a:ext cx="82867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>
                <a:solidFill>
                  <a:srgbClr val="FFFFFF"/>
                </a:solidFill>
                <a:latin typeface="Manrope"/>
              </a:rPr>
              <a:t>— кошик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28700" y="8776320"/>
            <a:ext cx="8229600" cy="19050"/>
          </a:xfrm>
          <a:prstGeom prst="roundRect">
            <a:avLst>
              <a:gd name="adj" fmla="val 0"/>
            </a:avLst>
          </a:prstGeom>
          <a:solidFill>
            <a:srgbClr val="2C2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1550" y="8795370"/>
            <a:ext cx="82867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>
                <a:solidFill>
                  <a:srgbClr val="FFFFFF"/>
                </a:solidFill>
                <a:latin typeface="Manrope"/>
              </a:rPr>
              <a:t>— оплата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8700" y="9671670"/>
            <a:ext cx="8229600" cy="19050"/>
          </a:xfrm>
          <a:prstGeom prst="roundRect">
            <a:avLst>
              <a:gd name="adj" fmla="val 0"/>
            </a:avLst>
          </a:prstGeom>
          <a:solidFill>
            <a:srgbClr val="2C2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1550" y="9690720"/>
            <a:ext cx="82867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>
                <a:solidFill>
                  <a:srgbClr val="FFFFFF"/>
                </a:solidFill>
                <a:latin typeface="Manrope"/>
              </a:rPr>
              <a:t>— доставка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28700" y="10567020"/>
            <a:ext cx="8229600" cy="19050"/>
          </a:xfrm>
          <a:prstGeom prst="roundRect">
            <a:avLst>
              <a:gd name="adj" fmla="val 0"/>
            </a:avLst>
          </a:prstGeom>
          <a:solidFill>
            <a:srgbClr val="2C2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1550" y="10586070"/>
            <a:ext cx="82867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>
                <a:solidFill>
                  <a:srgbClr val="FFFFFF"/>
                </a:solidFill>
                <a:latin typeface="Manrope"/>
              </a:rPr>
              <a:t>— повідомлення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28700" y="11462370"/>
            <a:ext cx="8229600" cy="19050"/>
          </a:xfrm>
          <a:prstGeom prst="roundRect">
            <a:avLst>
              <a:gd name="adj" fmla="val 0"/>
            </a:avLst>
          </a:prstGeom>
          <a:solidFill>
            <a:srgbClr val="2C2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1550" y="11481420"/>
            <a:ext cx="82867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>
                <a:solidFill>
                  <a:srgbClr val="FFFFFF"/>
                </a:solidFill>
                <a:latin typeface="Manrope"/>
              </a:rPr>
              <a:t>— автоматичні сценарії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pic>
        <p:nvPicPr>
          <p:cNvPr id="3" name="Picture 2" descr="logo-mon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2381250"/>
            <a:ext cx="560263" cy="285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46113" y="2381250"/>
            <a:ext cx="1350318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264">
                <a:solidFill>
                  <a:srgbClr val="111113"/>
                </a:solidFill>
                <a:latin typeface="Manrope"/>
              </a:rPr>
              <a:t>MILEDEVS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90494" y="2381250"/>
            <a:ext cx="2567806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198">
                <a:solidFill>
                  <a:srgbClr val="BFA77A"/>
                </a:solidFill>
                <a:latin typeface="Manrope"/>
              </a:rPr>
              <a:t>[ E-COMMERCE ] 4/5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1550" y="7360965"/>
            <a:ext cx="8286750" cy="18515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050" b="1">
                <a:solidFill>
                  <a:srgbClr val="111113"/>
                </a:solidFill>
                <a:latin typeface="Unbounded"/>
              </a:rPr>
              <a:t>ЯКЩО ЛЮДИНА НЕ КУПИЛА ОДРАЗУ, ЇЇ МОЖНА ПОВЕРНУТИ.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8700" y="9593535"/>
            <a:ext cx="1143000" cy="38100"/>
          </a:xfrm>
          <a:prstGeom prst="roundRect">
            <a:avLst>
              <a:gd name="adj" fmla="val 0"/>
            </a:avLst>
          </a:prstGeom>
          <a:solidFill>
            <a:srgbClr val="BFA7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1550" y="10012635"/>
            <a:ext cx="8286750" cy="1104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3000" b="0">
                <a:solidFill>
                  <a:srgbClr val="2F2F35"/>
                </a:solidFill>
                <a:latin typeface="Manrope"/>
              </a:rPr>
              <a:t>Через ретаргетинг, email або нагадування про залишений кошик.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pic>
        <p:nvPicPr>
          <p:cNvPr id="3" name="Picture 2" descr="logo-mon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2381250"/>
            <a:ext cx="560263" cy="285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46113" y="2381250"/>
            <a:ext cx="1350318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264">
                <a:solidFill>
                  <a:srgbClr val="FFFFFF"/>
                </a:solidFill>
                <a:latin typeface="Manrope"/>
              </a:rPr>
              <a:t>MILEDEVS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95182" y="2381250"/>
            <a:ext cx="2563118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198">
                <a:solidFill>
                  <a:srgbClr val="BFA77A"/>
                </a:solidFill>
                <a:latin typeface="Manrope"/>
              </a:rPr>
              <a:t>[ E-COMMERCE ] 5/5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1550" y="6309420"/>
            <a:ext cx="8286750" cy="24687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050" b="1">
                <a:solidFill>
                  <a:srgbClr val="FFFFFF"/>
                </a:solidFill>
                <a:latin typeface="Unbounded"/>
              </a:rPr>
              <a:t>У MILEDEVS МИ СТВОРЮЄМО НЕ ПРОСТО ТОЧКУ ПРОДАЖУ.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8700" y="9159180"/>
            <a:ext cx="1143000" cy="38100"/>
          </a:xfrm>
          <a:prstGeom prst="roundRect">
            <a:avLst>
              <a:gd name="adj" fmla="val 0"/>
            </a:avLst>
          </a:prstGeom>
          <a:solidFill>
            <a:srgbClr val="BFA7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1550" y="9578280"/>
            <a:ext cx="8286750" cy="1104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3000" b="0">
                <a:solidFill>
                  <a:srgbClr val="D6D6DA"/>
                </a:solidFill>
                <a:latin typeface="Manrope"/>
              </a:rPr>
              <a:t>Ми будуємо систему, у якій усі етапи працюють разом.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28700" y="11216580"/>
            <a:ext cx="5060603" cy="952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9700" y="11502330"/>
            <a:ext cx="4298603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111111"/>
                </a:solidFill>
                <a:latin typeface="Unbounded"/>
              </a:rPr>
              <a:t>НАПИСАТИ В DIRECT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