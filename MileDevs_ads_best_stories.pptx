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80" y="6043612"/>
            <a:ext cx="933822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502" y="6060281"/>
            <a:ext cx="3144143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b="1" spc="399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2382" y="7186612"/>
            <a:ext cx="78822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4500" b="0">
                <a:solidFill>
                  <a:srgbClr val="151515"/>
                </a:solidFill>
                <a:latin typeface="Montserrat"/>
              </a:rPr>
              <a:t>ШУКАЄМО ВЛАСНИКІВ</a:t>
            </a:r>
          </a:p>
          <a:p>
            <a:pPr algn="ctr">
              <a:lnSpc>
                <a:spcPct val="120000"/>
              </a:lnSpc>
            </a:pPr>
            <a:r>
              <a:rPr sz="4500" b="0">
                <a:solidFill>
                  <a:srgbClr val="151515"/>
                </a:solidFill>
                <a:latin typeface="Montserrat"/>
              </a:rPr>
              <a:t>БІЗНЕСУ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7741" y="8767762"/>
            <a:ext cx="5471443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450" b="0">
                <a:solidFill>
                  <a:srgbClr val="151515"/>
                </a:solidFill>
                <a:latin typeface="Montserrat"/>
              </a:rPr>
              <a:t>які хочуть запустити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688" y="9682162"/>
            <a:ext cx="9661624" cy="881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700" b="1">
                <a:solidFill>
                  <a:srgbClr val="1800AD"/>
                </a:solidFill>
                <a:latin typeface="Montserrat"/>
              </a:rPr>
              <a:t>МАГАЗИН НА SHOPIFY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8813" y="11229975"/>
            <a:ext cx="5229299" cy="1014412"/>
          </a:xfrm>
          <a:prstGeom prst="roundRect">
            <a:avLst>
              <a:gd name="adj" fmla="val 24413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24113" y="11515725"/>
            <a:ext cx="4238699" cy="442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b="1">
                <a:solidFill>
                  <a:srgbClr val="FFFFFF"/>
                </a:solidFill>
                <a:latin typeface="Montserrat"/>
              </a:rPr>
              <a:t>ЗАЛИШИТИ ЗАЯВКУ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445" y="2381250"/>
            <a:ext cx="747043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95738" y="2397919"/>
            <a:ext cx="1937817" cy="347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1" spc="315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5750" y="3048000"/>
            <a:ext cx="9715500" cy="6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350" b="1">
                <a:solidFill>
                  <a:srgbClr val="151515"/>
                </a:solidFill>
                <a:latin typeface="Montserrat"/>
              </a:rPr>
              <a:t>ВСЕ, ЩО ЗАВАЖАЄ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293" y="3769965"/>
            <a:ext cx="9218488" cy="754335"/>
          </a:xfrm>
          <a:prstGeom prst="roundRect">
            <a:avLst>
              <a:gd name="adj" fmla="val 20203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743" y="3884265"/>
            <a:ext cx="8875588" cy="5257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Montserrat"/>
              </a:rPr>
              <a:t>ВАШОМУ МАГАЗИНУ ПРОДАВАТИ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4240" y="4638601"/>
            <a:ext cx="5058445" cy="476250"/>
          </a:xfrm>
          <a:prstGeom prst="roundRect">
            <a:avLst>
              <a:gd name="adj" fmla="val 24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9490" y="4714801"/>
            <a:ext cx="4867945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FFFFFF"/>
                </a:solidFill>
                <a:latin typeface="Montserrat"/>
              </a:rPr>
              <a:t>в одному безкоштовному аудиті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50" y="5495851"/>
            <a:ext cx="8953500" cy="1047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5705401"/>
            <a:ext cx="628650" cy="628650"/>
          </a:xfrm>
          <a:prstGeom prst="rect">
            <a:avLst/>
          </a:prstGeom>
        </p:spPr>
      </p:pic>
      <p:pic>
        <p:nvPicPr>
          <p:cNvPr id="12" name="Picture 11" descr="i-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5667301"/>
            <a:ext cx="704850" cy="7048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28900" y="5668714"/>
            <a:ext cx="5174456" cy="335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51515"/>
                </a:solidFill>
                <a:latin typeface="Montserrat"/>
              </a:rPr>
              <a:t>МОБІЛЬНА ВЕРСІЯ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8900" y="6061100"/>
            <a:ext cx="5174456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0">
                <a:solidFill>
                  <a:srgbClr val="5F5F68"/>
                </a:solidFill>
                <a:latin typeface="Montserrat"/>
              </a:rPr>
              <a:t>як магазин бачить покупець із телефона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" y="6696001"/>
            <a:ext cx="8953500" cy="1047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6905551"/>
            <a:ext cx="628650" cy="628650"/>
          </a:xfrm>
          <a:prstGeom prst="rect">
            <a:avLst/>
          </a:prstGeom>
        </p:spPr>
      </p:pic>
      <p:pic>
        <p:nvPicPr>
          <p:cNvPr id="17" name="Picture 16" descr="i-ta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6867451"/>
            <a:ext cx="704850" cy="704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28900" y="6868864"/>
            <a:ext cx="4109591" cy="335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51515"/>
                </a:solidFill>
                <a:latin typeface="Montserrat"/>
              </a:rPr>
              <a:t>СТОРІНКИ ТОВАРІВ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8900" y="7261250"/>
            <a:ext cx="4109591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0">
                <a:solidFill>
                  <a:srgbClr val="5F5F68"/>
                </a:solidFill>
                <a:latin typeface="Montserrat"/>
              </a:rPr>
              <a:t>що заважає натиснути «Купити»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" y="7896151"/>
            <a:ext cx="8953500" cy="1047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8105701"/>
            <a:ext cx="628650" cy="628650"/>
          </a:xfrm>
          <a:prstGeom prst="rect">
            <a:avLst/>
          </a:prstGeom>
        </p:spPr>
      </p:pic>
      <p:pic>
        <p:nvPicPr>
          <p:cNvPr id="22" name="Picture 21" descr="i-c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0" y="8067601"/>
            <a:ext cx="704850" cy="7048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28900" y="8069014"/>
            <a:ext cx="4114056" cy="335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51515"/>
                </a:solidFill>
                <a:latin typeface="Montserrat"/>
              </a:rPr>
              <a:t>КОШИК І ОФОРМЛЕННЯ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8900" y="8461400"/>
            <a:ext cx="4114056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0">
                <a:solidFill>
                  <a:srgbClr val="5F5F68"/>
                </a:solidFill>
                <a:latin typeface="Montserrat"/>
              </a:rPr>
              <a:t>де люди кидають замовлення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50" y="9096301"/>
            <a:ext cx="8953500" cy="1047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9305851"/>
            <a:ext cx="628650" cy="628650"/>
          </a:xfrm>
          <a:prstGeom prst="rect">
            <a:avLst/>
          </a:prstGeom>
        </p:spPr>
      </p:pic>
      <p:pic>
        <p:nvPicPr>
          <p:cNvPr id="27" name="Picture 26" descr="i-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1650" y="9267751"/>
            <a:ext cx="704850" cy="7048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628900" y="9269164"/>
            <a:ext cx="6490246" cy="335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51515"/>
                </a:solidFill>
                <a:latin typeface="Montserrat"/>
              </a:rPr>
              <a:t>ШВИДКІСТЬ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8900" y="9661550"/>
            <a:ext cx="6490246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0">
                <a:solidFill>
                  <a:srgbClr val="5F5F68"/>
                </a:solidFill>
                <a:latin typeface="Montserrat"/>
              </a:rPr>
              <a:t>скільки чекає покупець, поки відкриється сторінка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50" y="10296451"/>
            <a:ext cx="8953500" cy="1047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-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10506001"/>
            <a:ext cx="628650" cy="628650"/>
          </a:xfrm>
          <a:prstGeom prst="rect">
            <a:avLst/>
          </a:prstGeom>
        </p:spPr>
      </p:pic>
      <p:pic>
        <p:nvPicPr>
          <p:cNvPr id="32" name="Picture 31" descr="i-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1650" y="10467901"/>
            <a:ext cx="704850" cy="7048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628900" y="10469314"/>
            <a:ext cx="4152602" cy="335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51515"/>
                </a:solidFill>
                <a:latin typeface="Montserrat"/>
              </a:rPr>
              <a:t>КОНКУРЕНТИ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28900" y="10861700"/>
            <a:ext cx="4152602" cy="309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75" b="0">
                <a:solidFill>
                  <a:srgbClr val="5F5F68"/>
                </a:solidFill>
                <a:latin typeface="Montserrat"/>
              </a:rPr>
              <a:t>що вже є в них і чого бракує вам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6750" y="11591851"/>
            <a:ext cx="8953500" cy="1891605"/>
          </a:xfrm>
          <a:prstGeom prst="roundRect">
            <a:avLst>
              <a:gd name="adj" fmla="val 13092"/>
            </a:avLst>
          </a:prstGeom>
          <a:solidFill>
            <a:srgbClr val="EB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-do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12080453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057400" y="11839501"/>
            <a:ext cx="4081686" cy="643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 b="0">
                <a:solidFill>
                  <a:srgbClr val="151515"/>
                </a:solidFill>
                <a:latin typeface="Montserrat"/>
              </a:rPr>
              <a:t>Кожна знахідка — екран «зараз» і макет «як має бути»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12540481"/>
            <a:ext cx="4081686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500" b="1">
                <a:solidFill>
                  <a:srgbClr val="1800AD"/>
                </a:solidFill>
                <a:latin typeface="Montserrat"/>
              </a:rPr>
              <a:t>0 ГРН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86736" y="12028066"/>
            <a:ext cx="2947764" cy="1019175"/>
          </a:xfrm>
          <a:prstGeom prst="roundRect">
            <a:avLst>
              <a:gd name="adj" fmla="val 16822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0086" y="12237616"/>
            <a:ext cx="2681064" cy="600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Montserrat"/>
              </a:rPr>
              <a:t>ОТРИМАТИ</a:t>
            </a:r>
          </a:p>
          <a:p>
            <a:pPr algn="ctr">
              <a:lnSpc>
                <a:spcPct val="120000"/>
              </a:lnSpc>
            </a:pPr>
            <a:r>
              <a:rPr sz="1950" b="1">
                <a:solidFill>
                  <a:srgbClr val="FFFFFF"/>
                </a:solidFill>
                <a:latin typeface="Montserrat"/>
              </a:rPr>
              <a:t>БЕЗКОШТОВНО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714500" y="7239000"/>
            <a:ext cx="6858000" cy="8572500"/>
          </a:xfrm>
          <a:prstGeom prst="ellipse">
            <a:avLst/>
          </a:prstGeom>
          <a:solidFill>
            <a:srgbClr val="E6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2571750"/>
            <a:ext cx="8763000" cy="4571926"/>
          </a:xfrm>
          <a:prstGeom prst="roundRect">
            <a:avLst>
              <a:gd name="adj" fmla="val 70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780" y="2990850"/>
            <a:ext cx="709687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15867" y="3009900"/>
            <a:ext cx="251727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 spc="294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00450"/>
            <a:ext cx="8572500" cy="57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050" b="1">
                <a:solidFill>
                  <a:srgbClr val="151515"/>
                </a:solidFill>
                <a:latin typeface="Montserrat"/>
              </a:rPr>
              <a:t>БЕЗКОШТОВНИЙ АУДИТ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233639"/>
            <a:ext cx="8572500" cy="4906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450" b="1">
                <a:solidFill>
                  <a:srgbClr val="1800AD"/>
                </a:solidFill>
                <a:latin typeface="Montserrat"/>
              </a:rPr>
              <a:t>ВАШОГО SHOPIFY-МАГАЗИНУ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914826"/>
            <a:ext cx="85725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50" b="0">
                <a:solidFill>
                  <a:srgbClr val="3A3A42"/>
                </a:solidFill>
                <a:latin typeface="Montserrat"/>
              </a:rPr>
              <a:t>Звіт: що заважає покупцям</a:t>
            </a:r>
          </a:p>
          <a:p>
            <a:pPr algn="ctr">
              <a:lnSpc>
                <a:spcPct val="135000"/>
              </a:lnSpc>
            </a:pPr>
            <a:r>
              <a:rPr sz="2250" b="0">
                <a:solidFill>
                  <a:srgbClr val="3A3A42"/>
                </a:solidFill>
                <a:latin typeface="Montserrat"/>
              </a:rPr>
              <a:t>і що змінити першим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2972" y="5934001"/>
            <a:ext cx="2779142" cy="790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100" b="1">
                <a:solidFill>
                  <a:srgbClr val="1800AD"/>
                </a:solidFill>
                <a:latin typeface="Montserrat"/>
              </a:rPr>
              <a:t>0 ГРН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6864" y="5957813"/>
            <a:ext cx="3716089" cy="742950"/>
          </a:xfrm>
          <a:prstGeom prst="roundRect">
            <a:avLst>
              <a:gd name="adj" fmla="val 23076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6414" y="6167363"/>
            <a:ext cx="3296989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FFFFFF"/>
                </a:solidFill>
                <a:latin typeface="Montserrat"/>
              </a:rPr>
              <a:t>ОТРИМАТИ АУДИТ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6050" y="8096250"/>
            <a:ext cx="4924425" cy="9144000"/>
          </a:xfrm>
          <a:prstGeom prst="roundRect">
            <a:avLst>
              <a:gd name="adj" fmla="val 8897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ero-repor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8229600"/>
            <a:ext cx="4657725" cy="8877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vgen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381250"/>
            <a:ext cx="672331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4331" y="2402681"/>
            <a:ext cx="1687041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FFFFFF"/>
                </a:solidFill>
                <a:latin typeface="Montserrat"/>
              </a:rPr>
              <a:t>MILEDEVS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57226" y="11239500"/>
            <a:ext cx="6572473" cy="1815405"/>
          </a:xfrm>
          <a:prstGeom prst="roundRect">
            <a:avLst>
              <a:gd name="adj" fmla="val 11542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23926" y="11468100"/>
            <a:ext cx="6039073" cy="1358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650" b="1">
                <a:solidFill>
                  <a:srgbClr val="FFFFFF"/>
                </a:solidFill>
                <a:latin typeface="Montserrat"/>
              </a:rPr>
              <a:t>Реклама є,</a:t>
            </a:r>
          </a:p>
          <a:p>
            <a:pPr algn="ctr">
              <a:lnSpc>
                <a:spcPct val="115000"/>
              </a:lnSpc>
            </a:pPr>
            <a:r>
              <a:rPr sz="4650" b="1">
                <a:solidFill>
                  <a:srgbClr val="FFFFFF"/>
                </a:solidFill>
                <a:latin typeface="Montserrat"/>
              </a:rPr>
              <a:t>а продажів мало?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09800" y="13207305"/>
            <a:ext cx="5867326" cy="1097161"/>
          </a:xfrm>
          <a:prstGeom prst="roundRect">
            <a:avLst>
              <a:gd name="adj" fmla="val 15626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81250" y="13359705"/>
            <a:ext cx="5524426" cy="792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FFFFFF"/>
                </a:solidFill>
                <a:latin typeface="Montserrat"/>
              </a:rPr>
              <a:t>Покажу, де ваш Shopify-магазин</a:t>
            </a:r>
          </a:p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FFFFFF"/>
                </a:solidFill>
                <a:latin typeface="Montserrat"/>
              </a:rPr>
              <a:t>губить покупців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nna-sto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-mo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381250"/>
            <a:ext cx="672331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4331" y="2402681"/>
            <a:ext cx="1687041" cy="3000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 spc="273">
                <a:solidFill>
                  <a:srgbClr val="151515"/>
                </a:solidFill>
                <a:latin typeface="Montserrat"/>
              </a:rPr>
              <a:t>MILEDEVS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0859" y="11239500"/>
            <a:ext cx="5825207" cy="1815405"/>
          </a:xfrm>
          <a:prstGeom prst="roundRect">
            <a:avLst>
              <a:gd name="adj" fmla="val 11542"/>
            </a:avLst>
          </a:prstGeom>
          <a:solidFill>
            <a:srgbClr val="18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97559" y="11468100"/>
            <a:ext cx="5291807" cy="13582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650" b="1">
                <a:solidFill>
                  <a:srgbClr val="FFFFFF"/>
                </a:solidFill>
                <a:latin typeface="Montserrat"/>
              </a:rPr>
              <a:t>Чому з кошика</a:t>
            </a:r>
          </a:p>
          <a:p>
            <a:pPr algn="ctr">
              <a:lnSpc>
                <a:spcPct val="115000"/>
              </a:lnSpc>
            </a:pPr>
            <a:r>
              <a:rPr sz="4650" b="1">
                <a:solidFill>
                  <a:srgbClr val="FFFFFF"/>
                </a:solidFill>
                <a:latin typeface="Montserrat"/>
              </a:rPr>
              <a:t>ніхто не купує?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589" y="13207305"/>
            <a:ext cx="4581748" cy="1097161"/>
          </a:xfrm>
          <a:prstGeom prst="roundRect">
            <a:avLst>
              <a:gd name="adj" fmla="val 15626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4039" y="13359705"/>
            <a:ext cx="4238848" cy="792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FFFFFF"/>
                </a:solidFill>
                <a:latin typeface="Montserrat"/>
              </a:rPr>
              <a:t>Розберемо ваш магазин</a:t>
            </a:r>
          </a:p>
          <a:p>
            <a:pPr algn="ctr">
              <a:lnSpc>
                <a:spcPct val="130000"/>
              </a:lnSpc>
            </a:pPr>
            <a:r>
              <a:rPr sz="2400" b="0">
                <a:solidFill>
                  <a:srgbClr val="FFFFFF"/>
                </a:solidFill>
                <a:latin typeface="Montserrat"/>
              </a:rPr>
              <a:t>безкоштовно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