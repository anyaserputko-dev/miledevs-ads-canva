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7094" y="2395538"/>
            <a:ext cx="2031206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SHOPIFY ] 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678835"/>
            <a:ext cx="828675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500" b="1">
                <a:solidFill>
                  <a:srgbClr val="FFFFFF"/>
                </a:solidFill>
                <a:latin typeface="Montserrat"/>
              </a:rPr>
              <a:t>ВАШ БІЗНЕС УЖЕ ПЕРЕРІС ПРОДАЖІ ЧЕРЕЗ DIRECT?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117235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536335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Перевірте себе: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9336435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часто губляться заявки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" y="1018795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50" y="10207005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потрібно вручну писати ціну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" y="1105852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550" y="11077575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клієнти довго чекають на відповідь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700" y="1192909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1550" y="11948145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складно контролювати залишки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83562" y="2395538"/>
            <a:ext cx="2074738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SHOPIFY ] 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498110"/>
            <a:ext cx="8286750" cy="1577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111113"/>
                </a:solidFill>
                <a:latin typeface="Montserrat"/>
              </a:rPr>
              <a:t>ЯКЩО ЗБІГЛИСЯ ХОЧА Б ДВА ПУНКТИ — ПРОБЛЕМА НЕ В МЕНЕДЖЕРІ.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456316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875416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ontserrat"/>
              </a:rPr>
              <a:t>Бізнесу потрібна нормальна система продажів.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85273" y="2395538"/>
            <a:ext cx="20730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SHOPIFY ]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801892"/>
            <a:ext cx="8286750" cy="1577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FFFFFF"/>
                </a:solidFill>
                <a:latin typeface="Montserrat"/>
              </a:rPr>
              <a:t>SHOPIFY ДОЗВОЛЯЄ КЛІЄНТУ САМОСТІЙНО ПРОЙТИ ВЕСЬ ШЛЯХ: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760098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700" y="9236348"/>
            <a:ext cx="1539404" cy="723900"/>
          </a:xfrm>
          <a:prstGeom prst="roundRect">
            <a:avLst>
              <a:gd name="adj" fmla="val 50000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2050" y="9388748"/>
            <a:ext cx="1272704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0">
                <a:solidFill>
                  <a:srgbClr val="FFFFFF"/>
                </a:solidFill>
                <a:latin typeface="Montserrat"/>
              </a:rPr>
              <a:t>товар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3354" y="9388748"/>
            <a:ext cx="4000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0">
                <a:solidFill>
                  <a:srgbClr val="BFA77A"/>
                </a:solidFill>
                <a:latin typeface="Montserra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5804" y="9236348"/>
            <a:ext cx="1704156" cy="723900"/>
          </a:xfrm>
          <a:prstGeom prst="roundRect">
            <a:avLst>
              <a:gd name="adj" fmla="val 50000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9154" y="9388748"/>
            <a:ext cx="1437456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0">
                <a:solidFill>
                  <a:srgbClr val="FFFFFF"/>
                </a:solidFill>
                <a:latin typeface="Montserrat"/>
              </a:rPr>
              <a:t>кошик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5210" y="9388748"/>
            <a:ext cx="4000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0">
                <a:solidFill>
                  <a:srgbClr val="BFA77A"/>
                </a:solidFill>
                <a:latin typeface="Montserra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67660" y="9236348"/>
            <a:ext cx="1759669" cy="723900"/>
          </a:xfrm>
          <a:prstGeom prst="roundRect">
            <a:avLst>
              <a:gd name="adj" fmla="val 50000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01010" y="9388748"/>
            <a:ext cx="1492969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0">
                <a:solidFill>
                  <a:srgbClr val="FFFFFF"/>
                </a:solidFill>
                <a:latin typeface="Montserrat"/>
              </a:rPr>
              <a:t>оплата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2579" y="9388748"/>
            <a:ext cx="4000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0">
                <a:solidFill>
                  <a:srgbClr val="BFA77A"/>
                </a:solidFill>
                <a:latin typeface="Montserrat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700" y="10112648"/>
            <a:ext cx="2154659" cy="723900"/>
          </a:xfrm>
          <a:prstGeom prst="roundRect">
            <a:avLst>
              <a:gd name="adj" fmla="val 50000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2050" y="10265048"/>
            <a:ext cx="1887959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0">
                <a:solidFill>
                  <a:srgbClr val="FFFFFF"/>
                </a:solidFill>
                <a:latin typeface="Montserrat"/>
              </a:rPr>
              <a:t>доставка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8609" y="10265048"/>
            <a:ext cx="4000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0">
                <a:solidFill>
                  <a:srgbClr val="BFA77A"/>
                </a:solidFill>
                <a:latin typeface="Montserrat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31059" y="10112648"/>
            <a:ext cx="3337024" cy="723900"/>
          </a:xfrm>
          <a:prstGeom prst="roundRect">
            <a:avLst>
              <a:gd name="adj" fmla="val 50000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4409" y="10265048"/>
            <a:ext cx="3070324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0">
                <a:solidFill>
                  <a:srgbClr val="FFFFFF"/>
                </a:solidFill>
                <a:latin typeface="Montserrat"/>
              </a:rPr>
              <a:t>підтвердження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550" y="11179448"/>
            <a:ext cx="8286750" cy="4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700" b="0">
                <a:solidFill>
                  <a:srgbClr val="8E8E96"/>
                </a:solidFill>
                <a:latin typeface="Montserrat"/>
              </a:rPr>
              <a:t>24/7, навіть коли команда не онлайн.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59898" y="2395538"/>
            <a:ext cx="209840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SHOPIFY ]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182692"/>
            <a:ext cx="8286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111113"/>
                </a:solidFill>
                <a:latin typeface="Montserrat"/>
              </a:rPr>
              <a:t>А БІЗНЕС ОТРИМУЄ: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7295183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7961933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аналітику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8813453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8832503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автоматизацію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9684023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9703073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контроль замовлень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554593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573643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можливість виходити на нові ринки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425163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444213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менше ручної роботи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84603" y="2395538"/>
            <a:ext cx="207369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SHOPIFY ] 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759922"/>
            <a:ext cx="8286750" cy="1577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FFFFFF"/>
                </a:solidFill>
                <a:latin typeface="Montserrat"/>
              </a:rPr>
              <a:t>ПОТРІБНО ЗРОЗУМІТИ, ЧИ ПІДІЙДЕ SHOPIFY ВАШОМУ БІЗНЕСУ?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718128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137228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Напишіть SHOPIFY у Direct — проведемо коротку консультацію.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10775528"/>
            <a:ext cx="2422922" cy="942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9700" y="11061278"/>
            <a:ext cx="1660922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111"/>
                </a:solidFill>
                <a:latin typeface="Montserrat"/>
              </a:rPr>
              <a:t>SHOPIFY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9386" y="2395538"/>
            <a:ext cx="3458914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ЯК МИ ПРАЦЮЄМО ] 1/9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114083"/>
            <a:ext cx="828675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500" b="1">
                <a:solidFill>
                  <a:srgbClr val="FFFFFF"/>
                </a:solidFill>
                <a:latin typeface="Montserrat"/>
              </a:rPr>
              <a:t>СИЛЬНИЙ ПРОЄКТ ПОЧИНАЄТЬСЯ НЕ З ДИЗАЙНУ.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552483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971583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Він починається з розуміння: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9771683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що потрібно бізнесу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" y="10623203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50" y="10642253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де він втрачає клієнтів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" y="11493773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550" y="11512823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якого результату хоче досягти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55853" y="2395538"/>
            <a:ext cx="350244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ЯК МИ ПРАЦЮЄМО ] 2/9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774335"/>
            <a:ext cx="8286750" cy="1577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111113"/>
                </a:solidFill>
                <a:latin typeface="Montserrat"/>
              </a:rPr>
              <a:t>МИ НЕ ПОЧИНАЄМО СПІВПРАЦЮ З ФРАЗИ «ПОКАЖІТЬ САЙТИ, ЯКІ ВАМ ПОДОБАЮТЬСЯ».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732541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10151641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ontserrat"/>
              </a:rPr>
              <a:t>Спочатку ми занурюємося у ваш бізнес.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57565" y="2395538"/>
            <a:ext cx="350073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ЯК МИ ПРАЦЮЄМО ] 3/9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850681"/>
            <a:ext cx="8286750" cy="3000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ontserrat"/>
              </a:rPr>
              <a:t>ЕТАП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5360268"/>
            <a:ext cx="8286750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Montserrat"/>
              </a:rPr>
              <a:t>ЗНАЙОМСТВО ТА БРИФІНГ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7204249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7623349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Ми аналізуємо: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8423449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продукт і бізнес-модель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927496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9294019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цільову аудиторію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14553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164589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конкурентів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01610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035159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поточні процеси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700" y="1188667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550" y="11905729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ринки, на яких ви працюєте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8700" y="1275724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550" y="12776299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цілі проєкту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32190" y="2395538"/>
            <a:ext cx="352611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ЯК МИ ПРАЦЮЄМО ] 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485954"/>
            <a:ext cx="8286750" cy="3000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ontserrat"/>
              </a:rPr>
              <a:t>ЕТАП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5995541"/>
            <a:ext cx="8286750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111113"/>
                </a:solidFill>
                <a:latin typeface="Montserrat"/>
              </a:rPr>
              <a:t>ДОСЛІДЖЕННЯ ТА СТРАТЕГІЯ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7839521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8258621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ontserrat"/>
              </a:rPr>
              <a:t>Визначаємо: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9058721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що потрібно створити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9910242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9929292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які функції необхідні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780812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799862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яким буде шлях клієнта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651382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670432"/>
            <a:ext cx="8286750" cy="132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що має привести його до покупки або заявки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56895" y="2395538"/>
            <a:ext cx="350140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ЯК МИ ПРАЦЮЄМО ] 5/9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445026"/>
            <a:ext cx="8286750" cy="3000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ontserrat"/>
              </a:rPr>
              <a:t>ЕТАП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5954613"/>
            <a:ext cx="8286750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Montserrat"/>
              </a:rPr>
              <a:t>СТРУКТУРА ТА UX/UI-ДИЗАЙН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7798594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8217694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Продумуємо не просто красиві екрани. Ми будуємо логіку: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9570244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що людина побачить першою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10421764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10440814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як знайде потрібну інформацію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1292334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1311384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де отримає відповіді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2162904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2181954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як перейде до цільової дії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45882" y="2395538"/>
            <a:ext cx="3512418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ЯК МИ ПРАЦЮЄМО ] 6/9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574456"/>
            <a:ext cx="8286750" cy="3000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ontserrat"/>
              </a:rPr>
              <a:t>ЕТАП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5084043"/>
            <a:ext cx="8286750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111113"/>
                </a:solidFill>
                <a:latin typeface="Montserrat"/>
              </a:rPr>
              <a:t>РОЗРОБКА ТА ІНТЕГРАЦІЇ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6928024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7347124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ontserrat"/>
              </a:rPr>
              <a:t>Перетворюємо дизайн на повноцінний робочий продукт. Підключаємо: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8699674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оплати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955119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9570244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доставку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42176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440814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CRM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29233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311384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аналітику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700" y="1216290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550" y="12181954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маркетингові інструменти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8700" y="1303347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550" y="13052524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автоматизації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59797" y="2395538"/>
            <a:ext cx="3498503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ЯК МИ ПРАЦЮЄМО ] 7/9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781104"/>
            <a:ext cx="8286750" cy="3000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ontserrat"/>
              </a:rPr>
              <a:t>ЕТАП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5290691"/>
            <a:ext cx="8286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Montserrat"/>
              </a:rPr>
              <a:t>ТЕСТУВАННЯ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6403181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6822281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Перевіряємо: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7622381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мобільну версію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8473901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8492951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швидкість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9344471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9363521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форми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0215042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0234092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кошик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700" y="11085612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550" y="11104662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оплату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8700" y="11956182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550" y="11975232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інтеграції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" y="12826752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550" y="12845802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різні сценарії поведінки користувача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43277" y="2395538"/>
            <a:ext cx="3515023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ЯК МИ ПРАЦЮЄМО ] 8/9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285929"/>
            <a:ext cx="8286750" cy="3000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ontserrat"/>
              </a:rPr>
              <a:t>ЕТАП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5795516"/>
            <a:ext cx="8286750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111113"/>
                </a:solidFill>
                <a:latin typeface="Montserrat"/>
              </a:rPr>
              <a:t>ЗАПУСК — НЕ КІНЕЦЬ РОБОТИ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7639496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8058596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ontserrat"/>
              </a:rPr>
              <a:t>Після запуску ми можемо: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8858696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аналізувати результати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9710217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9729267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виправляти слабкі місця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580787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599837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додавати нові функції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451357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470407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покращувати конверсію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700" y="12321927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550" y="12340977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масштабувати проєкт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52133" y="2395538"/>
            <a:ext cx="350616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ЯК МИ ПРАЦЮЄМО ] 9/9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947419"/>
            <a:ext cx="8286750" cy="1577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FFFFFF"/>
                </a:solidFill>
                <a:latin typeface="Montserrat"/>
              </a:rPr>
              <a:t>У MILEDEVS ВИ НЕ ОТРИМУЄТЕ НАБІР НЕЗРОЗУМІЛИХ ТЕХНІЧНИХ РОБІТ.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6905625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7324725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Ви бачите: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8124825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що ми робимо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" y="897634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50" y="8995395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чому це потрібно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" y="984691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550" y="9865965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як це впливає на бізнес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11060385"/>
            <a:ext cx="8286750" cy="994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700" b="0">
                <a:solidFill>
                  <a:srgbClr val="8E8E96"/>
                </a:solidFill>
                <a:latin typeface="Montserrat"/>
              </a:rPr>
              <a:t>Готові обговорити проєкт? Напишіть нам у Direct або залиште заявку на сайті.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2588106"/>
            <a:ext cx="4498851" cy="942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09700" y="12873856"/>
            <a:ext cx="3736851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111"/>
                </a:solidFill>
                <a:latin typeface="Montserrat"/>
              </a:rPr>
              <a:t>НАПИСАТИ В DIRECT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90470" y="2395538"/>
            <a:ext cx="216783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ПОСЛУГИ ] 1/9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021735"/>
            <a:ext cx="828675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500" b="1">
                <a:solidFill>
                  <a:srgbClr val="FFFFFF"/>
                </a:solidFill>
                <a:latin typeface="Montserrat"/>
              </a:rPr>
              <a:t>БІЗНЕСУ НЕ ЗАВЖДИ ПОТРІБЕН НОВИЙ САЙТ.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7774335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193435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Іноді йому потрібні: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8993535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краща конверсія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" y="984505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50" y="9864105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автоматизація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" y="1071562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550" y="10734675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сильніший маркетинг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700" y="11586195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1550" y="11605245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вихід на новий ринок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6937" y="2395538"/>
            <a:ext cx="2211363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ПОСЛУГИ ] 2/9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484790"/>
            <a:ext cx="8286750" cy="1051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111113"/>
                </a:solidFill>
                <a:latin typeface="Montserrat"/>
              </a:rPr>
              <a:t>ТОМУ МИ НЕ ПРОДАЄМО ОДНУ Й ТУ САМУ ПОСЛУГУ КОЖНОМУ.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91726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336360"/>
            <a:ext cx="8286750" cy="165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ontserrat"/>
              </a:rPr>
              <a:t>Ми визначаємо проблему — і підбираємо рішення під конкретний бізнес.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649" y="2395538"/>
            <a:ext cx="2209651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ПОСЛУГИ ] 3/9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706838"/>
            <a:ext cx="8286750" cy="3000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5216426"/>
            <a:ext cx="8286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Montserrat"/>
              </a:rPr>
              <a:t>SHOPIFY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6328916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6748016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Створюємо та розвиваємо онлайн-магазини: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8100566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запуск із нуля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8952086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8971136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перенесення на Shopify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9822656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9841706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кастомна розробка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0693226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0712276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інтеграції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700" y="11563796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550" y="11582846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оптимізація чинного магазину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550" y="12777267"/>
            <a:ext cx="8286750" cy="994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700" b="0">
                <a:solidFill>
                  <a:srgbClr val="8E8E96"/>
                </a:solidFill>
                <a:latin typeface="Montserrat"/>
              </a:rPr>
              <a:t>Для бізнесів, яким потрібна стабільна система онлайн-продажів.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23274" y="2395538"/>
            <a:ext cx="2235026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ПОСЛУГИ ] 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534546"/>
            <a:ext cx="8286750" cy="3000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ontserrat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6044133"/>
            <a:ext cx="8286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111113"/>
                </a:solidFill>
                <a:latin typeface="Montserrat"/>
              </a:rPr>
              <a:t>UX/UI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7156624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7575724"/>
            <a:ext cx="8286750" cy="165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ontserrat"/>
              </a:rPr>
              <a:t>Проєктуємо сайти, якими легко користуватися. Не просто «гарно», а зрозуміло: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9480724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де знайти продукт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1033224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10351294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як обрати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120281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1221864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чому довіряти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207338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2092434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як оформити покупку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7979" y="2395538"/>
            <a:ext cx="2210321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ПОСЛУГИ ] 5/9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651674"/>
            <a:ext cx="8286750" cy="3000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ontserrat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6161261"/>
            <a:ext cx="8286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Montserrat"/>
              </a:rPr>
              <a:t>АВТОМАТИЗАЦІЯ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7273751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7692851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Допомагаємо скоротити ручну роботу: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8492951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обробку заявок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9344471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9363521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передачу даних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215042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234092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комунікацію з клієнтами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085612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104662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внутрішні процеси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700" y="11956182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550" y="11975232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повторювані завдання команди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36966" y="2395538"/>
            <a:ext cx="2221334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ПОСЛУГИ ] 6/9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086996"/>
            <a:ext cx="8286750" cy="3000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ontserrat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6596583"/>
            <a:ext cx="8286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111113"/>
                </a:solidFill>
                <a:latin typeface="Montserrat"/>
              </a:rPr>
              <a:t>SMM ТА КОНТЕНТ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7709074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8128174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ontserrat"/>
              </a:rPr>
              <a:t>Створюємо систему комунікації, яка: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8928274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привертає увагу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977979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9798844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формує довіру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65036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669414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пояснює цінність продукту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520934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539984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веде аудиторію до заявки або покупки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50881" y="2395538"/>
            <a:ext cx="220741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ПОСЛУГИ ] 7/9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810771"/>
            <a:ext cx="8286750" cy="3000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ontserrat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6320358"/>
            <a:ext cx="8286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Montserrat"/>
              </a:rPr>
              <a:t>META 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7432849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7851949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Не просто запускаємо рекламу. Ми аналізуємо: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9204499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куди ведемо трафік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1005601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10075069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що бачить клієнт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92658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945639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як працює воронка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797159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816209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де бізнес втрачає потенційні продажі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34361" y="2395538"/>
            <a:ext cx="222393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ПОСЛУГИ ] 8/9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748016"/>
            <a:ext cx="8286750" cy="3000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ontserrat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7257604"/>
            <a:ext cx="8286750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111113"/>
                </a:solidFill>
                <a:latin typeface="Montserrat"/>
              </a:rPr>
              <a:t>SEO ТА РОЗВИТОК САЙТУ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9101584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9520684"/>
            <a:ext cx="8286750" cy="2209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ontserrat"/>
              </a:rPr>
              <a:t>Допомагаємо бізнесу отримувати органічний трафік, покращувати структуру сайту та створювати контент під реальні пошукові запити клієнтів.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3291" y="2395538"/>
            <a:ext cx="221500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ПОСЛУГИ ] 9/9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245572"/>
            <a:ext cx="8286750" cy="123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FFFFFF"/>
                </a:solidFill>
                <a:latin typeface="Montserrat"/>
              </a:rPr>
              <a:t>НЕ ЗНАЄТЕ, ЯКА ПОСЛУГА ПОТРІБНА САМЕ ВАМ?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7860953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280053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Це нормально.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9099203"/>
            <a:ext cx="8286750" cy="165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Опишіть задачу або проблему — ми допоможемо визначити, з чого варто почати.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" y="11289953"/>
            <a:ext cx="4498851" cy="942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11575703"/>
            <a:ext cx="3736851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111"/>
                </a:solidFill>
                <a:latin typeface="Montserrat"/>
              </a:rPr>
              <a:t>НАПИСАТИ В DIRECT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39894" y="2395538"/>
            <a:ext cx="1418406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FAQ ] 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546056"/>
            <a:ext cx="8286750" cy="3000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ontserrat"/>
              </a:rPr>
              <a:t>ПИТАННЯ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7055644"/>
            <a:ext cx="828675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250" b="1">
                <a:solidFill>
                  <a:srgbClr val="FFFFFF"/>
                </a:solidFill>
                <a:latin typeface="Montserrat"/>
              </a:rPr>
              <a:t>СКІЛЬКИ КОШТУЄ ПРОЄКТ?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9036844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9455944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Залежить від задач, функціоналу, дизайну та інтеграцій.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10827544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Після знайомства ми готуємо індивідуальну пропозицію.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96361" y="2395538"/>
            <a:ext cx="146193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FAQ ] 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138541"/>
            <a:ext cx="8286750" cy="3000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ontserrat"/>
              </a:rPr>
              <a:t>ПИТАННЯ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7648129"/>
            <a:ext cx="8286750" cy="123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111113"/>
                </a:solidFill>
                <a:latin typeface="Montserrat"/>
              </a:rPr>
              <a:t>ЧИ МОЖНА ЗВЕРНУТИСЯ, ЯКЩО САЙТ УЖЕ 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9263509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9682609"/>
            <a:ext cx="8286750" cy="165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ontserrat"/>
              </a:rPr>
              <a:t>Так. Можемо провести аудит, виправити проблеми, додати функціонал або покращити UX.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98073" y="2395538"/>
            <a:ext cx="14602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FAQ ]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106171"/>
            <a:ext cx="8286750" cy="3000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ontserrat"/>
              </a:rPr>
              <a:t>ПИТАННЯ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7615758"/>
            <a:ext cx="8286750" cy="18515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FFFFFF"/>
                </a:solidFill>
                <a:latin typeface="Montserrat"/>
              </a:rPr>
              <a:t>ЧИ ОБОВʼЯЗКОВО ЗАМОВЛЯТИ КОМПЛЕКСНУ РОЗРОБКУ?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9848329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10267429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Ні. Ми можемо підключитися до конкретного етапу або окремої задачі.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698" y="2395538"/>
            <a:ext cx="148560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FAQ ]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829946"/>
            <a:ext cx="8286750" cy="3000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BFA77A"/>
                </a:solidFill>
                <a:latin typeface="Montserrat"/>
              </a:rPr>
              <a:t>ПИТАННЯ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7339533"/>
            <a:ext cx="8286750" cy="18515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111113"/>
                </a:solidFill>
                <a:latin typeface="Montserrat"/>
              </a:rPr>
              <a:t>ЧИ ПРАЦЮЄТЕ З МІЖНАРОДНИМИ ПРОЄКТАМИ?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9572104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9991204"/>
            <a:ext cx="8286750" cy="165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ontserrat"/>
              </a:rPr>
              <a:t>Так. Допомагаємо з різними ринками, мовами, валютами, оплатами та доставкою.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97403" y="2395538"/>
            <a:ext cx="146089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FAQ ] 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540847"/>
            <a:ext cx="8286750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Montserrat"/>
              </a:rPr>
              <a:t>НЕ ЗНАЙШЛИ СВОЄ ЗАПИТАННЯ?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384828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803928"/>
            <a:ext cx="8286750" cy="165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Напишіть нам у Direct — обговоримо вашу задачу без складних технічних термінів.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10994678"/>
            <a:ext cx="4498851" cy="942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9700" y="11280428"/>
            <a:ext cx="3736851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111"/>
                </a:solidFill>
                <a:latin typeface="Montserrat"/>
              </a:rPr>
              <a:t>НАПИСАТИ В DIRECT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67228" y="2395538"/>
            <a:ext cx="179107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АУДИТ ] 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534275"/>
            <a:ext cx="828675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500" b="1">
                <a:solidFill>
                  <a:srgbClr val="FFFFFF"/>
                </a:solidFill>
                <a:latin typeface="Montserrat"/>
              </a:rPr>
              <a:t>САЙТ МОЖЕ ВИГЛЯДАТИ СУЧАСНО Й ТЕХНІЧНО ПРАЦЮВАТИ.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972675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10391775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Але все одно щодня втрачати клієнтів.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3696" y="2395538"/>
            <a:ext cx="1834604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АУДИТ ] 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618015"/>
            <a:ext cx="8286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111113"/>
                </a:solidFill>
                <a:latin typeface="Montserrat"/>
              </a:rPr>
              <a:t>ЛЮДИНА МОЖЕ: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7730505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397255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не зрозуміти пропозицію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9248775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9267825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не знайти потрібний товар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10119345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10138395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не довіритися бренду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989915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1008965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залишити складний checkout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5407" y="2395538"/>
            <a:ext cx="1832893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АУДИТ ]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931247"/>
            <a:ext cx="8286750" cy="123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FFFFFF"/>
                </a:solidFill>
                <a:latin typeface="Montserrat"/>
              </a:rPr>
              <a:t>ПІД ЧАС АУДИТУ МИ ПЕРЕВІРЯЄМО: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7546628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213378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структуру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9064898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9083948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мобільну версію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9935468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9954518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швидкість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806038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825088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сторінки товарів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676608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695658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кошик і checkout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0032" y="2395538"/>
            <a:ext cx="1858268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АУДИТ ]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498110"/>
            <a:ext cx="8286750" cy="1577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111113"/>
                </a:solidFill>
                <a:latin typeface="Montserrat"/>
              </a:rPr>
              <a:t>ПІСЛЯ АНАЛІЗУ ВИ ОТРИМУЄТЕ НЕ ФРАЗУ «САЙТ ПОТРІБНО ПОКРАЩИТИ».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456316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875416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ontserrat"/>
              </a:rPr>
              <a:t>А конкретний список проблем, пріоритетів і рішень.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4738" y="2395538"/>
            <a:ext cx="183356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АУДИТ ] 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245572"/>
            <a:ext cx="8286750" cy="123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FFFFFF"/>
                </a:solidFill>
                <a:latin typeface="Montserrat"/>
              </a:rPr>
              <a:t>ІНОДІ БІЗНЕСУ НЕ ПОТРІБЕН ПОВНИЙ РЕДИЗАЙН.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7860953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280053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Потрібно знайти й виправити те, що реально заважає продавати.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9651653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Залиште сайт на аудит — напишіть нам у Direct.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" y="11289953"/>
            <a:ext cx="5826472" cy="942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11575703"/>
            <a:ext cx="5064472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111"/>
                </a:solidFill>
                <a:latin typeface="Montserrat"/>
              </a:rPr>
              <a:t>ЗАЛИШИТИ САЙТ НА АУДИТ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55296" y="2395538"/>
            <a:ext cx="3203004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АВТОМАТИЗАЦІЯ ] 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955060"/>
            <a:ext cx="828675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500" b="1">
                <a:solidFill>
                  <a:srgbClr val="FFFFFF"/>
                </a:solidFill>
                <a:latin typeface="Montserrat"/>
              </a:rPr>
              <a:t>СКІЛЬКИ ГОДИН ВАША КОМАНДА ВИТРАЧАЄ НА ТЕ, ЩОБ: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39346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060210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переносити заявки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9911730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9930780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копіювати дані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10782300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10801350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надсилати однакові повідомлення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1652870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1671920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формувати звіти вручну?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11763" y="2395538"/>
            <a:ext cx="324653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АВТОМАТИЗАЦІЯ ] 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669560"/>
            <a:ext cx="8286750" cy="123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111113"/>
                </a:solidFill>
                <a:latin typeface="Montserrat"/>
              </a:rPr>
              <a:t>ОДНА ДІЯ ЗАЙМАЄ КІЛЬКА ХВИЛИН.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28494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704040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ontserrat"/>
              </a:rPr>
              <a:t>Але за місяць така рутина забирає десятки годин і створює ризик помилок.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13475" y="2395538"/>
            <a:ext cx="32448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АВТОМАТИЗАЦІЯ ]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816947"/>
            <a:ext cx="8286750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Montserrat"/>
              </a:rPr>
              <a:t>АВТОМАТИЗУВАТИ МОЖНА: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7660928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327678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збір і розподіл заявок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9179198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9198248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роботу з CRM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10049768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10068818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нагадування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920338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939388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статуси замовлень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790908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809958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звіти та комунікацію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8174" y="2395538"/>
            <a:ext cx="3270126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АВТОМАТИЗАЦІЯ ]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669560"/>
            <a:ext cx="8286750" cy="123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111113"/>
                </a:solidFill>
                <a:latin typeface="Montserrat"/>
              </a:rPr>
              <a:t>АЛЕ СПОЧАТКУ ПОТРІБНО РОЗІБРАТИ ПРОЦЕС.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28494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704040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ontserrat"/>
              </a:rPr>
              <a:t>Прибрати зайві кроки — і лише тоді підключати технології.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12805" y="2395538"/>
            <a:ext cx="324549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АВТОМАТИЗАЦІЯ ] 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759922"/>
            <a:ext cx="8286750" cy="1577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FFFFFF"/>
                </a:solidFill>
                <a:latin typeface="Montserrat"/>
              </a:rPr>
              <a:t>ОПИШІТЬ ПРОЦЕС, ЯКИЙ ПОСТІЙНО ЗАБИРАЄ ЧАС У ВАШОЇ КОМАНДИ.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718128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137228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Ми покажемо, що в ньому можна автоматизувати.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10775528"/>
            <a:ext cx="4498851" cy="942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9700" y="11061278"/>
            <a:ext cx="3736851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111"/>
                </a:solidFill>
                <a:latin typeface="Montserrat"/>
              </a:rPr>
              <a:t>НАПИСАТИ В DIRECT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3940" y="2395538"/>
            <a:ext cx="202436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ДИЗАЙН ] 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210425"/>
            <a:ext cx="828675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250" b="1">
                <a:solidFill>
                  <a:srgbClr val="FFFFFF"/>
                </a:solidFill>
                <a:latin typeface="Montserrat"/>
              </a:rPr>
              <a:t>ДИЗАЙН САЙТУ — ЦЕ НЕ ДЕКОР.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191625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610725"/>
            <a:ext cx="8286750" cy="165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Він або допомагає клієнту прийняти рішення, або змушує його закрити сторінку.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90333" y="2395538"/>
            <a:ext cx="206796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ДИЗАЙН ] 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366570"/>
            <a:ext cx="8286750" cy="123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111113"/>
                </a:solidFill>
                <a:latin typeface="Montserrat"/>
              </a:rPr>
              <a:t>ЗА КІЛЬКА СЕКУНД ЛЮДИНА МАЄ ЗРОЗУМІТИ: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798195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648700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куди вона потрапила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9500220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9519270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що ви пропонуєте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10370790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10389840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чому вам можна довіряти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1241360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1260410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що робити далі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92045" y="2395538"/>
            <a:ext cx="206625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ДИЗАЙН ]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511430"/>
            <a:ext cx="8286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Montserrat"/>
              </a:rPr>
              <a:t>UX — ЦЕ ЛОГІКА.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62392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043020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Структура, навігація, шлях клієнта та сценарій покупки.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0414620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UI — те, як ця логіка виглядає візуально.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6744" y="2395538"/>
            <a:ext cx="2091556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ДИЗАЙН ]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801817"/>
            <a:ext cx="8286750" cy="123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111113"/>
                </a:solidFill>
                <a:latin typeface="Montserrat"/>
              </a:rPr>
              <a:t>СИЛЬНИЙ ДИЗАЙН НЕ ЗМУШУЄ ЛЮДИНУ: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417198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083948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шукати кнопку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9935468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9954518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вгадувати наступний крок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10806038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10825088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перечитувати сторінку кілька разів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91375" y="2395538"/>
            <a:ext cx="20669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ДИЗАЙН ] 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036147"/>
            <a:ext cx="8286750" cy="1577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FFFFFF"/>
                </a:solidFill>
                <a:latin typeface="Montserrat"/>
              </a:rPr>
              <a:t>У MILEDEVS МИ СТВОРЮЄМО ДИЗАЙН, ЯКИЙ НЕ ПРОСТО ДОБРЕ ВИГЛЯДАЄ У FIGMA.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994353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413453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Він працює в реальному бізнесі.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10499303"/>
            <a:ext cx="4498851" cy="942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9700" y="10785053"/>
            <a:ext cx="3736851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111"/>
                </a:solidFill>
                <a:latin typeface="Montserrat"/>
              </a:rPr>
              <a:t>НАПИСАТИ В DIRECT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64647" y="2395538"/>
            <a:ext cx="2793653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БОТ НА САЙТІ ] 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915150"/>
            <a:ext cx="828675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500" b="1">
                <a:solidFill>
                  <a:srgbClr val="FFFFFF"/>
                </a:solidFill>
                <a:latin typeface="Montserrat"/>
              </a:rPr>
              <a:t>ЛЮДИНА ЗАХОДИТЬ НА САЙТ ІЗ ЗАПИТАННЯМ.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66775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086850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Не знаходить відповіді за кілька секунд — і закриває сторінку.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0458450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Так бізнес може втрачати клієнтів ще до першого контакту з менеджером.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21041" y="2395538"/>
            <a:ext cx="283725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БОТ НА САЙТІ ] 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195120"/>
            <a:ext cx="8286750" cy="1577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111113"/>
                </a:solidFill>
                <a:latin typeface="Montserrat"/>
              </a:rPr>
              <a:t>БОТ НА САЙТІ МОЖЕ СПІЛКУВАТИСЯ З ВІДВІДУВАЧЕМ У РЕЖИМІ РЕАЛЬНОГО ЧАСУ: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153326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820076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відповідати на запитання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9671596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9690646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допомагати з вибором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10542166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10561216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пояснювати умови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1412736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1431786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вести до потрібної дії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22752" y="2395538"/>
            <a:ext cx="2835548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БОТ НА САЙТІ ]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532290"/>
            <a:ext cx="8286750" cy="18515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FFFFFF"/>
                </a:solidFill>
                <a:latin typeface="Montserrat"/>
              </a:rPr>
              <a:t>ЦЕ НЕ ПРОСТО ВІКНО З ФРАЗОЮ «ЧИМ ВАМ ДОПОМОГТИ?»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76486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183960"/>
            <a:ext cx="8286750" cy="276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Бота можна навчити працювати саме з інформацією вашого бізнесу — продуктами, послугами, цінами, доставкою та частими запитами клієнтів.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97451" y="2395538"/>
            <a:ext cx="286084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БОТ НА САЙТІ ]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762699"/>
            <a:ext cx="8286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111113"/>
                </a:solidFill>
                <a:latin typeface="Montserrat"/>
              </a:rPr>
              <a:t>ВІН МОЖЕ: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687519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7541940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підібрати товар або послугу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8393460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8412510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зібрати контактні дані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9264030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9283080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кваліфікувати заявку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134600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153650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записати на консультацію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005170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024220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передати діалог менеджеру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2218640"/>
            <a:ext cx="8286750" cy="4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700" b="0">
                <a:solidFill>
                  <a:srgbClr val="77777F"/>
                </a:solidFill>
                <a:latin typeface="Montserrat"/>
              </a:rPr>
              <a:t>24/7, навіть коли команда офлайн.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22082" y="2395538"/>
            <a:ext cx="2836218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БОТ НА САЙТІ ] 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969347"/>
            <a:ext cx="8286750" cy="123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FFFFFF"/>
                </a:solidFill>
                <a:latin typeface="Montserrat"/>
              </a:rPr>
              <a:t>БОТ НЕ ЗАМІНЮЄ ЖИВЕ СПІЛКУВАННЯ.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7584728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003828"/>
            <a:ext cx="8286750" cy="165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Він допомагає не втрачати звернення, швидше відповідати клієнтам і зменшувати навантаження на команду.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9927878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Хочете такого бота для свого сайту? Напишіть MILEDEVS у Direct.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" y="11566178"/>
            <a:ext cx="2655243" cy="942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11851928"/>
            <a:ext cx="1893243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111"/>
                </a:solidFill>
                <a:latin typeface="Montserrat"/>
              </a:rPr>
              <a:t>MILEDEVS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2220" y="2395538"/>
            <a:ext cx="280608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КЕЙС · LUNESI ] 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774335"/>
            <a:ext cx="8286750" cy="1577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FFFFFF"/>
                </a:solidFill>
                <a:latin typeface="Montserrat"/>
              </a:rPr>
              <a:t>ЯК ЗАПУСТИТИ МІЖНАРОДНИЙ E-COMMERCE І НЕ ПОТОНУТИ В РУЧНІЙ РОБОТІ?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732541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10151641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Показуємо на прикладі LUNESI.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8688" y="2395538"/>
            <a:ext cx="284961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КЕЙС · LUNESI ] 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221885"/>
            <a:ext cx="8286750" cy="1577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111113"/>
                </a:solidFill>
                <a:latin typeface="Montserrat"/>
              </a:rPr>
              <a:t>БРЕНДУ БУВ ПОТРІБЕН НЕ ПРОСТО КРАСИВИЙ SHOPIFY-МАГАЗИН.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180091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599191"/>
            <a:ext cx="8286750" cy="165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ontserrat"/>
              </a:rPr>
              <a:t>Потрібно було обʼєднати продажі на різних ринках, валюти, доставку, податки та маркетинг.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0399" y="2395538"/>
            <a:ext cx="2847901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КЕЙС · LUNESI ]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366570"/>
            <a:ext cx="8286750" cy="123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FFFFFF"/>
                </a:solidFill>
                <a:latin typeface="Montserrat"/>
              </a:rPr>
              <a:t>МИ РОЗРОБИЛИ МАГАЗИН І ПІДКЛЮЧИЛИ: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798195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648700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GBP та EUR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9500220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9519270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Royal Mail і DHL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10370790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10389840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VAT, QuickBooks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1241360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1260410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Omnisend, Meta Pixel і GA4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5024" y="2395538"/>
            <a:ext cx="2873276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КЕЙС · LUNESI ]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618015"/>
            <a:ext cx="8286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111113"/>
                </a:solidFill>
                <a:latin typeface="Montserrat"/>
              </a:rPr>
              <a:t>ТАКОЖ РЕАЛІЗУВАЛИ: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7730505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8397255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розумний кошик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9248775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9267825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набори товарів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10119345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10138395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автоматичні акції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989915"/>
            <a:ext cx="8229600" cy="19050"/>
          </a:xfrm>
          <a:prstGeom prst="roundRect">
            <a:avLst>
              <a:gd name="adj" fmla="val 0"/>
            </a:avLst>
          </a:prstGeom>
          <a:solidFill>
            <a:srgbClr val="D9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1008965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111113"/>
                </a:solidFill>
                <a:latin typeface="Montserrat"/>
              </a:rPr>
              <a:t>— product quiz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9730" y="2395538"/>
            <a:ext cx="284857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КЕЙС · LUNESI ] 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5424562"/>
            <a:ext cx="8286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Montserrat"/>
              </a:rPr>
              <a:t>РЕЗУЛЬТАТ: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6537052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7203802"/>
            <a:ext cx="8286750" cy="132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доставка у 30+ країн з автоматичними тарифами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8525842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8544892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VAT і рахунки рахуються автоматично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9396412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9415462"/>
            <a:ext cx="8286750" cy="132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облік у QuickBooks без ручного переносу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11080403"/>
            <a:ext cx="8286750" cy="4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700" b="0">
                <a:solidFill>
                  <a:srgbClr val="8E8E96"/>
                </a:solidFill>
                <a:latin typeface="Montserrat"/>
              </a:rPr>
              <a:t>Більше кейсів — на сайті MILEDEVS.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700" y="12110963"/>
            <a:ext cx="3504084" cy="942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09700" y="12396713"/>
            <a:ext cx="2742084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111"/>
                </a:solidFill>
                <a:latin typeface="Montserrat"/>
              </a:rPr>
              <a:t>MILEDEVS.COM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99858" y="2395538"/>
            <a:ext cx="265844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E-COMMERCE ] 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258050"/>
            <a:ext cx="828675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500" b="1">
                <a:solidFill>
                  <a:srgbClr val="FFFFFF"/>
                </a:solidFill>
                <a:latin typeface="Montserrat"/>
              </a:rPr>
              <a:t>ОНЛАЙН-МАГАЗИН — ЦЕ НЕ ПРОСТО САЙТ ІЗ ТОВАРАМИ.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696450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10115550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Це весь шлях клієнта від першого знайомства до повторної покупки.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6251" y="2395538"/>
            <a:ext cx="270204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E-COMMERCE ] 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221885"/>
            <a:ext cx="8286750" cy="1577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50" b="1">
                <a:solidFill>
                  <a:srgbClr val="111113"/>
                </a:solidFill>
                <a:latin typeface="Montserrat"/>
              </a:rPr>
              <a:t>КОНТЕНТ І РЕКЛАМА ПРИВЕРТАЮТЬ УВАГУ ТА ПРИВОДЯТЬ ЛЮДИНУ НА САЙТ.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180091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599191"/>
            <a:ext cx="8286750" cy="165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ontserrat"/>
              </a:rPr>
              <a:t>Але саме сайт має пояснити пропозицію, створити довіру й допомогти обрати.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8037" y="2395538"/>
            <a:ext cx="2700263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E-COMMERCE ]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182692"/>
            <a:ext cx="82867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FFFFF"/>
                </a:solidFill>
                <a:latin typeface="Montserrat"/>
              </a:rPr>
              <a:t>ДАЛІ ПРАЦЮЮТЬ: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7295183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7961933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кошик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8813453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8832503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оплата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9684023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9703073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доставка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10554593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10573643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повідомлення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" y="11425163"/>
            <a:ext cx="8229600" cy="19050"/>
          </a:xfrm>
          <a:prstGeom prst="roundRect">
            <a:avLst>
              <a:gd name="adj" fmla="val 0"/>
            </a:avLst>
          </a:prstGeom>
          <a:solidFill>
            <a:srgbClr val="2C2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11444213"/>
            <a:ext cx="8286750" cy="85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— автоматичні сценарії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111113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2662" y="2395538"/>
            <a:ext cx="2725638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E-COMMERCE ]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7360965"/>
            <a:ext cx="8286750" cy="18515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111113"/>
                </a:solidFill>
                <a:latin typeface="Montserrat"/>
              </a:rPr>
              <a:t>ЯКЩО ЛЮДИНА НЕ КУПИЛА ОДРАЗУ, ЇЇ МОЖНА ПОВЕРНУТИ.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9593535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10012635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2F2F35"/>
                </a:solidFill>
                <a:latin typeface="Montserrat"/>
              </a:rPr>
              <a:t>Через ретаргетинг, email або нагадування про залишений кошик.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1250"/>
            <a:ext cx="56026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6113" y="2395538"/>
            <a:ext cx="146982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26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7367" y="2395538"/>
            <a:ext cx="2700933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spc="198">
                <a:solidFill>
                  <a:srgbClr val="BFA77A"/>
                </a:solidFill>
                <a:latin typeface="Montserrat"/>
              </a:rPr>
              <a:t>[ E-COMMERCE ] 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6622777"/>
            <a:ext cx="8286750" cy="18515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50" b="1">
                <a:solidFill>
                  <a:srgbClr val="FFFFFF"/>
                </a:solidFill>
                <a:latin typeface="Montserrat"/>
              </a:rPr>
              <a:t>У MILEDEVS МИ СТВОРЮЄМО НЕ ПРОСТО ТОЧКУ ПРОДАЖУ.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8855348"/>
            <a:ext cx="1143000" cy="38100"/>
          </a:xfrm>
          <a:prstGeom prst="roundRect">
            <a:avLst>
              <a:gd name="adj" fmla="val 0"/>
            </a:avLst>
          </a:prstGeom>
          <a:solidFill>
            <a:srgbClr val="BF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9274448"/>
            <a:ext cx="82867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0">
                <a:solidFill>
                  <a:srgbClr val="D6D6DA"/>
                </a:solidFill>
                <a:latin typeface="Montserrat"/>
              </a:rPr>
              <a:t>Ми будуємо систему, у якій усі етапи працюють разом.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10912748"/>
            <a:ext cx="4498851" cy="9429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9700" y="11198498"/>
            <a:ext cx="3736851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11111"/>
                </a:solidFill>
                <a:latin typeface="Montserrat"/>
              </a:rPr>
              <a:t>НАПИСАТИ В DIRECT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