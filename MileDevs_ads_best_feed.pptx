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10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per-fee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pic>
        <p:nvPicPr>
          <p:cNvPr id="3" name="Picture 2" descr="logo-mon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9280" y="3555727"/>
            <a:ext cx="933822" cy="4762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502" y="3572396"/>
            <a:ext cx="3144143" cy="442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850" b="1" spc="399">
                <a:solidFill>
                  <a:srgbClr val="151515"/>
                </a:solidFill>
                <a:latin typeface="Montserrat"/>
              </a:rPr>
              <a:t>MILEDEVS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39689" y="4565377"/>
            <a:ext cx="7407548" cy="12800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4200" b="0">
                <a:solidFill>
                  <a:srgbClr val="151515"/>
                </a:solidFill>
                <a:latin typeface="Montserrat"/>
              </a:rPr>
              <a:t>ШУКАЄМО ВЛАСНИКІВ</a:t>
            </a:r>
          </a:p>
          <a:p>
            <a:pPr algn="ctr">
              <a:lnSpc>
                <a:spcPct val="120000"/>
              </a:lnSpc>
            </a:pPr>
            <a:r>
              <a:rPr sz="4200" b="0">
                <a:solidFill>
                  <a:srgbClr val="151515"/>
                </a:solidFill>
                <a:latin typeface="Montserrat"/>
              </a:rPr>
              <a:t>БІЗНЕСУ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12529" y="6054998"/>
            <a:ext cx="5061942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3150" b="0">
                <a:solidFill>
                  <a:srgbClr val="151515"/>
                </a:solidFill>
                <a:latin typeface="Montserrat"/>
              </a:rPr>
              <a:t>які хочуть запустити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6869" y="6921773"/>
            <a:ext cx="9193188" cy="8334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5400" b="1">
                <a:solidFill>
                  <a:srgbClr val="1800AD"/>
                </a:solidFill>
                <a:latin typeface="Montserrat"/>
              </a:rPr>
              <a:t>МАГАЗИН НА SHOPIFY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28813" y="8288610"/>
            <a:ext cx="5229299" cy="1014412"/>
          </a:xfrm>
          <a:prstGeom prst="roundRect">
            <a:avLst>
              <a:gd name="adj" fmla="val 24413"/>
            </a:avLst>
          </a:prstGeom>
          <a:solidFill>
            <a:srgbClr val="180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24113" y="8574360"/>
            <a:ext cx="4238699" cy="442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850" b="1">
                <a:solidFill>
                  <a:srgbClr val="FFFFFF"/>
                </a:solidFill>
                <a:latin typeface="Montserrat"/>
              </a:rPr>
              <a:t>ЗАЛИШИТИ ЗАЯВКУ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per-fee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pic>
        <p:nvPicPr>
          <p:cNvPr id="3" name="Picture 2" descr="logo-mon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4867" y="476250"/>
            <a:ext cx="634975" cy="3238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665092" y="488156"/>
            <a:ext cx="1687041" cy="3000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950" b="1" spc="273">
                <a:solidFill>
                  <a:srgbClr val="151515"/>
                </a:solidFill>
                <a:latin typeface="Montserrat"/>
              </a:rPr>
              <a:t>MILEDEVS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5750" y="971550"/>
            <a:ext cx="9715500" cy="523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3750" b="1">
                <a:solidFill>
                  <a:srgbClr val="151515"/>
                </a:solidFill>
                <a:latin typeface="Montserrat"/>
              </a:rPr>
              <a:t>ВСЕ, ЩО ЗАВАЖАЄ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74688" y="1609725"/>
            <a:ext cx="8137624" cy="688628"/>
          </a:xfrm>
          <a:prstGeom prst="roundRect">
            <a:avLst>
              <a:gd name="adj" fmla="val 22130"/>
            </a:avLst>
          </a:prstGeom>
          <a:solidFill>
            <a:srgbClr val="180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46138" y="1724025"/>
            <a:ext cx="7794724" cy="4600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3150" b="1">
                <a:solidFill>
                  <a:srgbClr val="FFFFFF"/>
                </a:solidFill>
                <a:latin typeface="Montserrat"/>
              </a:rPr>
              <a:t>ВАШОМУ МАГАЗИНУ ПРОДАВАТИ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45606" y="2412653"/>
            <a:ext cx="4395713" cy="428625"/>
          </a:xfrm>
          <a:prstGeom prst="roundRect">
            <a:avLst>
              <a:gd name="adj" fmla="val 26666"/>
            </a:avLst>
          </a:prstGeom>
          <a:solidFill>
            <a:srgbClr val="1515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0856" y="2488853"/>
            <a:ext cx="4205213" cy="2762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>
                <a:solidFill>
                  <a:srgbClr val="FFFFFF"/>
                </a:solidFill>
                <a:latin typeface="Montserrat"/>
              </a:rPr>
              <a:t>в одному безкоштовному аудиті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6750" y="3088928"/>
            <a:ext cx="8953500" cy="889546"/>
          </a:xfrm>
          <a:prstGeom prst="roundRect">
            <a:avLst>
              <a:gd name="adj" fmla="val 2355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-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3450" y="3276526"/>
            <a:ext cx="514350" cy="514350"/>
          </a:xfrm>
          <a:prstGeom prst="rect">
            <a:avLst/>
          </a:prstGeom>
        </p:spPr>
      </p:pic>
      <p:pic>
        <p:nvPicPr>
          <p:cNvPr id="12" name="Picture 11" descr="i-phon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57350" y="3238426"/>
            <a:ext cx="590550" cy="5905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400300" y="3222278"/>
            <a:ext cx="4560391" cy="293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100" b="1">
                <a:solidFill>
                  <a:srgbClr val="151515"/>
                </a:solidFill>
                <a:latin typeface="Montserrat"/>
              </a:rPr>
              <a:t>МОБІЛЬНА ВЕРСІЯ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00300" y="3572768"/>
            <a:ext cx="4560391" cy="2723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0">
                <a:solidFill>
                  <a:srgbClr val="5F5F68"/>
                </a:solidFill>
                <a:latin typeface="Montserrat"/>
              </a:rPr>
              <a:t>як магазин бачить покупець із телефона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6750" y="4092773"/>
            <a:ext cx="8953500" cy="889546"/>
          </a:xfrm>
          <a:prstGeom prst="roundRect">
            <a:avLst>
              <a:gd name="adj" fmla="val 2355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-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3450" y="4280371"/>
            <a:ext cx="514350" cy="514350"/>
          </a:xfrm>
          <a:prstGeom prst="rect">
            <a:avLst/>
          </a:prstGeom>
        </p:spPr>
      </p:pic>
      <p:pic>
        <p:nvPicPr>
          <p:cNvPr id="17" name="Picture 16" descr="i-ta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57350" y="4242271"/>
            <a:ext cx="590550" cy="5905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2400300" y="4226123"/>
            <a:ext cx="3623295" cy="293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100" b="1">
                <a:solidFill>
                  <a:srgbClr val="151515"/>
                </a:solidFill>
                <a:latin typeface="Montserrat"/>
              </a:rPr>
              <a:t>СТОРІНКИ ТОВАРІВ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00300" y="4576614"/>
            <a:ext cx="3623295" cy="2723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0">
                <a:solidFill>
                  <a:srgbClr val="5F5F68"/>
                </a:solidFill>
                <a:latin typeface="Montserrat"/>
              </a:rPr>
              <a:t>що заважає натиснути «Купити»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6750" y="5096619"/>
            <a:ext cx="8953500" cy="889546"/>
          </a:xfrm>
          <a:prstGeom prst="roundRect">
            <a:avLst>
              <a:gd name="adj" fmla="val 2355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-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3450" y="5284217"/>
            <a:ext cx="514350" cy="514350"/>
          </a:xfrm>
          <a:prstGeom prst="rect">
            <a:avLst/>
          </a:prstGeom>
        </p:spPr>
      </p:pic>
      <p:pic>
        <p:nvPicPr>
          <p:cNvPr id="22" name="Picture 21" descr="i-car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57350" y="5246117"/>
            <a:ext cx="590550" cy="59055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400300" y="5229969"/>
            <a:ext cx="3606924" cy="293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100" b="1">
                <a:solidFill>
                  <a:srgbClr val="151515"/>
                </a:solidFill>
                <a:latin typeface="Montserrat"/>
              </a:rPr>
              <a:t>КОШИК І ОФОРМЛЕННЯ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00300" y="5580459"/>
            <a:ext cx="3606924" cy="2723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0">
                <a:solidFill>
                  <a:srgbClr val="5F5F68"/>
                </a:solidFill>
                <a:latin typeface="Montserrat"/>
              </a:rPr>
              <a:t>де люди кидають замовлення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66750" y="6100465"/>
            <a:ext cx="8953500" cy="889546"/>
          </a:xfrm>
          <a:prstGeom prst="roundRect">
            <a:avLst>
              <a:gd name="adj" fmla="val 2355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-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3450" y="6288063"/>
            <a:ext cx="514350" cy="514350"/>
          </a:xfrm>
          <a:prstGeom prst="rect">
            <a:avLst/>
          </a:prstGeom>
        </p:spPr>
      </p:pic>
      <p:pic>
        <p:nvPicPr>
          <p:cNvPr id="27" name="Picture 26" descr="i-bol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57350" y="6249963"/>
            <a:ext cx="590550" cy="59055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2400300" y="6233815"/>
            <a:ext cx="5718274" cy="293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100" b="1">
                <a:solidFill>
                  <a:srgbClr val="151515"/>
                </a:solidFill>
                <a:latin typeface="Montserrat"/>
              </a:rPr>
              <a:t>ШВИДКІСТЬ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400300" y="6584305"/>
            <a:ext cx="5718274" cy="2723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0">
                <a:solidFill>
                  <a:srgbClr val="5F5F68"/>
                </a:solidFill>
                <a:latin typeface="Montserrat"/>
              </a:rPr>
              <a:t>скільки чекає покупець, поки відкриється сторінка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66750" y="7104311"/>
            <a:ext cx="8953500" cy="889546"/>
          </a:xfrm>
          <a:prstGeom prst="roundRect">
            <a:avLst>
              <a:gd name="adj" fmla="val 2355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i-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3450" y="7291908"/>
            <a:ext cx="514350" cy="514350"/>
          </a:xfrm>
          <a:prstGeom prst="rect">
            <a:avLst/>
          </a:prstGeom>
        </p:spPr>
      </p:pic>
      <p:pic>
        <p:nvPicPr>
          <p:cNvPr id="32" name="Picture 31" descr="i-char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57350" y="7253808"/>
            <a:ext cx="590550" cy="59055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2400300" y="7237661"/>
            <a:ext cx="3661172" cy="293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100" b="1">
                <a:solidFill>
                  <a:srgbClr val="151515"/>
                </a:solidFill>
                <a:latin typeface="Montserrat"/>
              </a:rPr>
              <a:t>КОНКУРЕНТИ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400300" y="7588151"/>
            <a:ext cx="3661172" cy="2723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0">
                <a:solidFill>
                  <a:srgbClr val="5F5F68"/>
                </a:solidFill>
                <a:latin typeface="Montserrat"/>
              </a:rPr>
              <a:t>що вже є в них і чого бракує вам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66750" y="8146256"/>
            <a:ext cx="8953500" cy="1588740"/>
          </a:xfrm>
          <a:prstGeom prst="roundRect">
            <a:avLst>
              <a:gd name="adj" fmla="val 15587"/>
            </a:avLst>
          </a:prstGeom>
          <a:solidFill>
            <a:srgbClr val="EB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i-doc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52500" y="8559626"/>
            <a:ext cx="762000" cy="7620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1905000" y="8336756"/>
            <a:ext cx="4517082" cy="5695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725" b="0">
                <a:solidFill>
                  <a:srgbClr val="151515"/>
                </a:solidFill>
                <a:latin typeface="Montserrat"/>
              </a:rPr>
              <a:t>Кожна знахідка — екран «зараз» і макет «як має бути»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05000" y="8963471"/>
            <a:ext cx="4517082" cy="581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750" b="1">
                <a:solidFill>
                  <a:srgbClr val="1800AD"/>
                </a:solidFill>
                <a:latin typeface="Montserrat"/>
              </a:rPr>
              <a:t>0 ГРН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669732" y="8459614"/>
            <a:ext cx="2664768" cy="962025"/>
          </a:xfrm>
          <a:prstGeom prst="roundRect">
            <a:avLst>
              <a:gd name="adj" fmla="val 17821"/>
            </a:avLst>
          </a:prstGeom>
          <a:solidFill>
            <a:srgbClr val="180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803082" y="8669164"/>
            <a:ext cx="2398068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725" b="1">
                <a:solidFill>
                  <a:srgbClr val="FFFFFF"/>
                </a:solidFill>
                <a:latin typeface="Montserrat"/>
              </a:rPr>
              <a:t>ОТРИМАТИ</a:t>
            </a:r>
          </a:p>
          <a:p>
            <a:pPr algn="ctr">
              <a:lnSpc>
                <a:spcPct val="120000"/>
              </a:lnSpc>
            </a:pPr>
            <a:r>
              <a:rPr sz="1725" b="1">
                <a:solidFill>
                  <a:srgbClr val="FFFFFF"/>
                </a:solidFill>
                <a:latin typeface="Montserrat"/>
              </a:rPr>
              <a:t>БЕЗКОШТОВНО →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per-fee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Oval 2"/>
          <p:cNvSpPr/>
          <p:nvPr/>
        </p:nvSpPr>
        <p:spPr>
          <a:xfrm>
            <a:off x="1714500" y="4953000"/>
            <a:ext cx="6858000" cy="6667500"/>
          </a:xfrm>
          <a:prstGeom prst="ellipse">
            <a:avLst/>
          </a:prstGeom>
          <a:solidFill>
            <a:srgbClr val="E6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2000" y="476250"/>
            <a:ext cx="8763000" cy="3895204"/>
          </a:xfrm>
          <a:prstGeom prst="roundRect">
            <a:avLst>
              <a:gd name="adj" fmla="val 831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-mon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4780" y="800100"/>
            <a:ext cx="709687" cy="3619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315867" y="819150"/>
            <a:ext cx="2517279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100" b="1" spc="294">
                <a:solidFill>
                  <a:srgbClr val="151515"/>
                </a:solidFill>
                <a:latin typeface="Montserrat"/>
              </a:rPr>
              <a:t>MILEDEVS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7250" y="1333500"/>
            <a:ext cx="8572500" cy="5120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3600" b="1">
                <a:solidFill>
                  <a:srgbClr val="151515"/>
                </a:solidFill>
                <a:latin typeface="Montserrat"/>
              </a:rPr>
              <a:t>БЕЗКОШТОВНИЙ АУДИТ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7250" y="1902693"/>
            <a:ext cx="8572500" cy="4266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3000" b="1">
                <a:solidFill>
                  <a:srgbClr val="1800AD"/>
                </a:solidFill>
                <a:latin typeface="Montserrat"/>
              </a:rPr>
              <a:t>ВАШОГО SHOPIFY-МАГАЗИНУ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7250" y="2462733"/>
            <a:ext cx="8572500" cy="6942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2025" b="0">
                <a:solidFill>
                  <a:srgbClr val="3A3A42"/>
                </a:solidFill>
                <a:latin typeface="Montserrat"/>
              </a:rPr>
              <a:t>Звіт: що заважає покупцям</a:t>
            </a:r>
          </a:p>
          <a:p>
            <a:pPr algn="ctr">
              <a:lnSpc>
                <a:spcPct val="135000"/>
              </a:lnSpc>
            </a:pPr>
            <a:r>
              <a:rPr sz="2025" b="0">
                <a:solidFill>
                  <a:srgbClr val="3A3A42"/>
                </a:solidFill>
                <a:latin typeface="Montserrat"/>
              </a:rPr>
              <a:t>і що змінити першим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0891" y="3352279"/>
            <a:ext cx="2482453" cy="6715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4350" b="1">
                <a:solidFill>
                  <a:srgbClr val="1800AD"/>
                </a:solidFill>
                <a:latin typeface="Montserrat"/>
              </a:rPr>
              <a:t>0 ГРН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98094" y="3328467"/>
            <a:ext cx="3496940" cy="719138"/>
          </a:xfrm>
          <a:prstGeom prst="roundRect">
            <a:avLst>
              <a:gd name="adj" fmla="val 23841"/>
            </a:avLst>
          </a:prstGeom>
          <a:solidFill>
            <a:srgbClr val="180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07644" y="3538017"/>
            <a:ext cx="3077840" cy="3000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950" b="1">
                <a:solidFill>
                  <a:srgbClr val="FFFFFF"/>
                </a:solidFill>
                <a:latin typeface="Montserrat"/>
              </a:rPr>
              <a:t>ОТРИМАТИ АУДИТ 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86125" y="5619750"/>
            <a:ext cx="3724275" cy="6858000"/>
          </a:xfrm>
          <a:prstGeom prst="roundRect">
            <a:avLst>
              <a:gd name="adj" fmla="val 11764"/>
            </a:avLst>
          </a:prstGeom>
          <a:solidFill>
            <a:srgbClr val="1515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hero-report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9475" y="5753100"/>
            <a:ext cx="3457575" cy="65913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vgen-fee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pic>
        <p:nvPicPr>
          <p:cNvPr id="3" name="Picture 2" descr="logo-mon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" y="571500"/>
            <a:ext cx="672331" cy="3429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434331" y="592931"/>
            <a:ext cx="1687041" cy="3000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950" b="1" spc="273">
                <a:solidFill>
                  <a:srgbClr val="FFFFFF"/>
                </a:solidFill>
                <a:latin typeface="Montserrat"/>
              </a:rPr>
              <a:t>MILEDEVS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38362" y="7620000"/>
            <a:ext cx="6010201" cy="1683990"/>
          </a:xfrm>
          <a:prstGeom prst="roundRect">
            <a:avLst>
              <a:gd name="adj" fmla="val 12443"/>
            </a:avLst>
          </a:prstGeom>
          <a:solidFill>
            <a:srgbClr val="180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405062" y="7848600"/>
            <a:ext cx="5476801" cy="12267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4200" b="1">
                <a:solidFill>
                  <a:srgbClr val="FFFFFF"/>
                </a:solidFill>
                <a:latin typeface="Montserrat"/>
              </a:rPr>
              <a:t>Реклама є,</a:t>
            </a:r>
          </a:p>
          <a:p>
            <a:pPr algn="ctr">
              <a:lnSpc>
                <a:spcPct val="115000"/>
              </a:lnSpc>
            </a:pPr>
            <a:r>
              <a:rPr sz="4200" b="1">
                <a:solidFill>
                  <a:srgbClr val="FFFFFF"/>
                </a:solidFill>
                <a:latin typeface="Montserrat"/>
              </a:rPr>
              <a:t>а продажів мало?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58045" y="9456390"/>
            <a:ext cx="5370835" cy="1022896"/>
          </a:xfrm>
          <a:prstGeom prst="roundRect">
            <a:avLst>
              <a:gd name="adj" fmla="val 16761"/>
            </a:avLst>
          </a:prstGeom>
          <a:solidFill>
            <a:srgbClr val="1515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29495" y="9608790"/>
            <a:ext cx="5027935" cy="7180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2175" b="0">
                <a:solidFill>
                  <a:srgbClr val="FFFFFF"/>
                </a:solidFill>
                <a:latin typeface="Montserrat"/>
              </a:rPr>
              <a:t>Покажу, де ваш Shopify-магазин</a:t>
            </a:r>
          </a:p>
          <a:p>
            <a:pPr algn="ctr">
              <a:lnSpc>
                <a:spcPct val="130000"/>
              </a:lnSpc>
            </a:pPr>
            <a:r>
              <a:rPr sz="2175" b="0">
                <a:solidFill>
                  <a:srgbClr val="FFFFFF"/>
                </a:solidFill>
                <a:latin typeface="Montserrat"/>
              </a:rPr>
              <a:t>губить покупців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nna-fee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pic>
        <p:nvPicPr>
          <p:cNvPr id="3" name="Picture 2" descr="logo-mon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" y="571500"/>
            <a:ext cx="672331" cy="3429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434331" y="592931"/>
            <a:ext cx="1687041" cy="3000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950" b="1" spc="273">
                <a:solidFill>
                  <a:srgbClr val="151515"/>
                </a:solidFill>
                <a:latin typeface="Montserrat"/>
              </a:rPr>
              <a:t>MILEDEVS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475905" y="7620000"/>
            <a:ext cx="5335191" cy="1683990"/>
          </a:xfrm>
          <a:prstGeom prst="roundRect">
            <a:avLst>
              <a:gd name="adj" fmla="val 12443"/>
            </a:avLst>
          </a:prstGeom>
          <a:solidFill>
            <a:srgbClr val="180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2605" y="7848600"/>
            <a:ext cx="4801791" cy="12267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4200" b="1">
                <a:solidFill>
                  <a:srgbClr val="FFFFFF"/>
                </a:solidFill>
                <a:latin typeface="Montserrat"/>
              </a:rPr>
              <a:t>Чому з кошика</a:t>
            </a:r>
          </a:p>
          <a:p>
            <a:pPr algn="ctr">
              <a:lnSpc>
                <a:spcPct val="115000"/>
              </a:lnSpc>
            </a:pPr>
            <a:r>
              <a:rPr sz="4200" b="1">
                <a:solidFill>
                  <a:srgbClr val="FFFFFF"/>
                </a:solidFill>
                <a:latin typeface="Montserrat"/>
              </a:rPr>
              <a:t>ніхто не купує?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40559" y="9456390"/>
            <a:ext cx="4205808" cy="1022896"/>
          </a:xfrm>
          <a:prstGeom prst="roundRect">
            <a:avLst>
              <a:gd name="adj" fmla="val 16761"/>
            </a:avLst>
          </a:prstGeom>
          <a:solidFill>
            <a:srgbClr val="1515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12009" y="9608790"/>
            <a:ext cx="3862908" cy="7180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2175" b="0">
                <a:solidFill>
                  <a:srgbClr val="FFFFFF"/>
                </a:solidFill>
                <a:latin typeface="Montserrat"/>
              </a:rPr>
              <a:t>Розберемо ваш магазин</a:t>
            </a:r>
          </a:p>
          <a:p>
            <a:pPr algn="ctr">
              <a:lnSpc>
                <a:spcPct val="130000"/>
              </a:lnSpc>
            </a:pPr>
            <a:r>
              <a:rPr sz="2175" b="0">
                <a:solidFill>
                  <a:srgbClr val="FFFFFF"/>
                </a:solidFill>
                <a:latin typeface="Montserrat"/>
              </a:rPr>
              <a:t>безкоштовно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