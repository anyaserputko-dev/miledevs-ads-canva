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evgen-c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0" y="7334250"/>
            <a:ext cx="8953500" cy="10953750"/>
          </a:xfrm>
          <a:prstGeom prst="rect">
            <a:avLst/>
          </a:prstGeom>
        </p:spPr>
      </p:pic>
      <p:pic>
        <p:nvPicPr>
          <p:cNvPr id="4" name="Picture 3" descr="logo-mon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381250"/>
            <a:ext cx="747043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85243" y="2409825"/>
            <a:ext cx="18695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spc="29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3850" y="2457450"/>
            <a:ext cx="5448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spc="216">
                <a:solidFill>
                  <a:srgbClr val="A89FFF"/>
                </a:solidFill>
                <a:latin typeface="Montserrat"/>
              </a:rPr>
              <a:t>ВЛАСНИКАМ SHOPIFY-МАГАЗИНІВ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3429000"/>
            <a:ext cx="8877300" cy="2544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6300" b="1" spc="-63">
                <a:solidFill>
                  <a:srgbClr val="FFFFFF"/>
                </a:solidFill>
                <a:latin typeface="Montserrat"/>
              </a:rPr>
              <a:t>ПОКУПЦІ ЙДУТЬ</a:t>
            </a:r>
          </a:p>
          <a:p>
            <a:pPr algn="l">
              <a:lnSpc>
                <a:spcPct val="106000"/>
              </a:lnSpc>
            </a:pPr>
            <a:r>
              <a:rPr sz="6300" b="1" spc="-63">
                <a:solidFill>
                  <a:srgbClr val="FFFFFF"/>
                </a:solidFill>
                <a:latin typeface="Montserrat"/>
              </a:rPr>
              <a:t>З КОШИКА —</a:t>
            </a:r>
          </a:p>
          <a:p>
            <a:pPr algn="l">
              <a:lnSpc>
                <a:spcPct val="106000"/>
              </a:lnSpc>
            </a:pPr>
            <a:r>
              <a:rPr sz="6300" b="1" spc="-63">
                <a:solidFill>
                  <a:srgbClr val="8D8B9C"/>
                </a:solidFill>
                <a:latin typeface="Montserrat"/>
              </a:rPr>
              <a:t>ПОКАЖЕМО ЧОМУ.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9525000"/>
            <a:ext cx="4476750" cy="1394371"/>
          </a:xfrm>
          <a:prstGeom prst="roundRect">
            <a:avLst>
              <a:gd name="adj" fmla="val 20493"/>
            </a:avLst>
          </a:prstGeom>
          <a:solidFill>
            <a:srgbClr val="8F82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9525000"/>
            <a:ext cx="4591050" cy="1394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FFFFFF"/>
                </a:solidFill>
                <a:latin typeface="Montserrat"/>
              </a:rPr>
              <a:t>Подивіться, чому з кошика ніхто не купує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11144250"/>
            <a:ext cx="4591050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50" b="0">
                <a:solidFill>
                  <a:srgbClr val="C9C7D6"/>
                </a:solidFill>
                <a:latin typeface="Montserrat"/>
              </a:rPr>
              <a:t>Ви просто надсилаєте лінк на магазин. Розбір — безкоштовний.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13525500"/>
            <a:ext cx="4312667" cy="990600"/>
          </a:xfrm>
          <a:prstGeom prst="roundRect">
            <a:avLst>
              <a:gd name="adj" fmla="val 50000"/>
            </a:avLst>
          </a:prstGeom>
          <a:solidFill>
            <a:srgbClr val="9D9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13525500"/>
            <a:ext cx="5074667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700" b="1">
                <a:solidFill>
                  <a:srgbClr val="120F2E"/>
                </a:solidFill>
                <a:latin typeface="Montserrat"/>
              </a:rPr>
              <a:t>Отримати аудит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4763750"/>
            <a:ext cx="3142655" cy="347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1">
                <a:solidFill>
                  <a:srgbClr val="FFFFFF"/>
                </a:solidFill>
                <a:latin typeface="Montserrat"/>
              </a:rPr>
              <a:t>Євгеній</a:t>
            </a:r>
            <a:r>
              <a:rPr sz="2250" b="0">
                <a:solidFill>
                  <a:srgbClr val="C9C7D6"/>
                </a:solidFill>
                <a:latin typeface="Montserrat"/>
              </a:rPr>
              <a:t> · засновник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anna-c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7334250"/>
            <a:ext cx="8972550" cy="10953750"/>
          </a:xfrm>
          <a:prstGeom prst="rect">
            <a:avLst/>
          </a:prstGeom>
        </p:spPr>
      </p:pic>
      <p:pic>
        <p:nvPicPr>
          <p:cNvPr id="4" name="Picture 3" descr="logo-mon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381250"/>
            <a:ext cx="747043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85243" y="2409825"/>
            <a:ext cx="18695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spc="29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3850" y="2457450"/>
            <a:ext cx="5448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spc="216">
                <a:solidFill>
                  <a:srgbClr val="A89FFF"/>
                </a:solidFill>
                <a:latin typeface="Montserrat"/>
              </a:rPr>
              <a:t>SHOPIFY SELECT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3429000"/>
            <a:ext cx="8877300" cy="2301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700" b="1" spc="-57">
                <a:solidFill>
                  <a:srgbClr val="FFFFFF"/>
                </a:solidFill>
                <a:latin typeface="Montserrat"/>
              </a:rPr>
              <a:t>БІЛЬШЕ ПРОДАЖІВ —</a:t>
            </a:r>
          </a:p>
          <a:p>
            <a:pPr algn="l">
              <a:lnSpc>
                <a:spcPct val="106000"/>
              </a:lnSpc>
            </a:pPr>
            <a:r>
              <a:rPr sz="5700" b="1" spc="-57">
                <a:solidFill>
                  <a:srgbClr val="8D8B9C"/>
                </a:solidFill>
                <a:latin typeface="Montserrat"/>
              </a:rPr>
              <a:t>БЕЗ БІЛЬШОГО</a:t>
            </a:r>
          </a:p>
          <a:p>
            <a:pPr algn="l">
              <a:lnSpc>
                <a:spcPct val="106000"/>
              </a:lnSpc>
            </a:pPr>
            <a:r>
              <a:rPr sz="5700" b="1" spc="-57">
                <a:solidFill>
                  <a:srgbClr val="8D8B9C"/>
                </a:solidFill>
                <a:latin typeface="Montserrat"/>
              </a:rPr>
              <a:t>БЮДЖЕТУ.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6286500"/>
            <a:ext cx="6210300" cy="1440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0">
                <a:solidFill>
                  <a:srgbClr val="E9E8F2"/>
                </a:solidFill>
                <a:latin typeface="Montserrat"/>
              </a:rPr>
              <a:t>Безкоштовно розберемо ваш Shopify-магазин: де покупці йдуть і що змінити першим.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13525500"/>
            <a:ext cx="5103465" cy="990600"/>
          </a:xfrm>
          <a:prstGeom prst="roundRect">
            <a:avLst>
              <a:gd name="adj" fmla="val 50000"/>
            </a:avLst>
          </a:prstGeom>
          <a:solidFill>
            <a:srgbClr val="9D9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000" y="13525500"/>
            <a:ext cx="5865465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700" b="1">
                <a:solidFill>
                  <a:srgbClr val="120F2E"/>
                </a:solidFill>
                <a:latin typeface="Montserrat"/>
              </a:rPr>
              <a:t>Перевірити магазин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14763750"/>
            <a:ext cx="2665586" cy="347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1">
                <a:solidFill>
                  <a:srgbClr val="FFFFFF"/>
                </a:solidFill>
                <a:latin typeface="Montserrat"/>
              </a:rPr>
              <a:t>Анна</a:t>
            </a:r>
            <a:r>
              <a:rPr sz="2250" b="0">
                <a:solidFill>
                  <a:srgbClr val="C9C7D6"/>
                </a:solidFill>
                <a:latin typeface="Montserrat"/>
              </a:rPr>
              <a:t> · MILEDEVS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