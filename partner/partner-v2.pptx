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Eastman Pac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3" Type="http://schemas.openxmlformats.org/officeDocument/2006/relationships/image" Target="../media/image2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783" y="1058743"/>
            <a:ext cx="17214434" cy="5436633"/>
            <a:chOff x="0" y="0"/>
            <a:chExt cx="22952579" cy="724884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-38858" t="34209" r="-38858" b="34209"/>
            <a:stretch>
              <a:fillRect/>
            </a:stretch>
          </p:blipFill>
          <p:spPr>
            <a:xfrm flipH="false" flipV="false">
              <a:off x="0" y="0"/>
              <a:ext cx="22952579" cy="7248844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6857326"/>
            <a:ext cx="16230600" cy="253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9009"/>
              </a:lnSpc>
              <a:spcBef>
                <a:spcPct val="0"/>
              </a:spcBef>
            </a:pPr>
            <a:r>
              <a:rPr lang="en-US" b="true" sz="19009" spc="2072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MILEDEVS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6783" y="624890"/>
            <a:ext cx="28996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miledevs.com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51617" y="537260"/>
            <a:ext cx="28996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Партнерство з агенціями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01233" y="2113011"/>
            <a:ext cx="7658067" cy="5743551"/>
          </a:xfrm>
          <a:custGeom>
            <a:avLst/>
            <a:gdLst/>
            <a:ahLst/>
            <a:cxnLst/>
            <a:rect r="r" b="b" t="t" l="l"/>
            <a:pathLst>
              <a:path h="5743551" w="7658067">
                <a:moveTo>
                  <a:pt x="0" y="0"/>
                </a:moveTo>
                <a:lnTo>
                  <a:pt x="7658067" y="0"/>
                </a:lnTo>
                <a:lnTo>
                  <a:pt x="7658067" y="5743551"/>
                </a:lnTo>
                <a:lnTo>
                  <a:pt x="0" y="5743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8764" y="2338083"/>
            <a:ext cx="8125236" cy="97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66"/>
              </a:lnSpc>
              <a:spcBef>
                <a:spcPct val="0"/>
              </a:spcBef>
            </a:pPr>
            <a:r>
              <a:rPr lang="en-US" b="true" sz="7266" spc="792">
                <a:solidFill>
                  <a:srgbClr val="020202"/>
                </a:solidFill>
                <a:latin typeface="Eastman Pack Bold"/>
                <a:ea typeface="Eastman Pack Bold"/>
                <a:cs typeface="Eastman Pack Bold"/>
                <a:sym typeface="Eastman Pack Bold"/>
              </a:rPr>
              <a:t>МИ </a:t>
            </a:r>
            <a:r>
              <a:rPr lang="en-US" b="true" sz="7266" spc="792" strike="noStrike" u="none">
                <a:solidFill>
                  <a:srgbClr val="020202"/>
                </a:solidFill>
                <a:latin typeface="Eastman Pack Bold"/>
                <a:ea typeface="Eastman Pack Bold"/>
                <a:cs typeface="Eastman Pack Bold"/>
                <a:sym typeface="Eastman Pack Bold"/>
              </a:rPr>
              <a:t>MILEDEVS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8764" y="3498404"/>
            <a:ext cx="8125236" cy="89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Shopify-команда для брендів і агенцій. Будуємо і покращуємо магазини, які продають.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" y="49530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238750" y="49530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28700" y="66675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238750" y="66675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95400" y="5162550"/>
            <a:ext cx="71973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57912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років на Shopify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5450" y="5162550"/>
            <a:ext cx="1325166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5450" y="5791200"/>
            <a:ext cx="34861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магазинів для брендів США, Канади та Європи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6877050"/>
            <a:ext cx="18900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Shopify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75057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Selected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5450" y="6877050"/>
            <a:ext cx="24578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5450" y="75057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на Upwork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991552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Коли потрібне підсилення команди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3295650"/>
            <a:ext cx="11306175" cy="925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Ми доповнюємо вашу експертизу розробкою та автоматизаціями. Клієнт лишається вашим.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16255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29640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43025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37160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5730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50545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9115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963930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500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377315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65885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Новий запит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Клієнт просить Shopify-магазин, а розробника у вашій команді немає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545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Готовий дизайн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5450" y="6819900"/>
            <a:ext cx="32575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Дизайн і маркетинг є, треба втілити їх у магазині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30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Супровід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930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Магазину потрібні регулярні правки й покращення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7315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Нова задача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7315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Інтеграції, автоматизації чи міграція, що виходять за межі вашої команди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53125" cy="10287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ne_lun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990600"/>
            <a:ext cx="4381500" cy="830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48450" y="1790700"/>
            <a:ext cx="107251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Для SEO- і PPC-агенцій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48450" y="3143250"/>
            <a:ext cx="4762500" cy="91440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34150" y="3143250"/>
            <a:ext cx="4991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Ви знаходите, що виправити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582400" y="3409950"/>
            <a:ext cx="571500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2325350" y="3143250"/>
            <a:ext cx="4933950" cy="9144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211050" y="3143250"/>
            <a:ext cx="516255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Ми впроваджуємо це в магазині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8450" y="476250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Технічне SEO в темі Shopify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50" y="518160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Швидкість, розмітка, структура URL, редиректи, мета-теги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8450" y="571500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48450" y="590550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Лендинги й картки товару під рекламу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8450" y="632460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З чітким шляхом до покупки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8450" y="685800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48450" y="704850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Трекінг і події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8450" y="746760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Пікселі, конверсії, аналітика для звітів по кампаніях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8450" y="800100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48450" y="819150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Переклад і мультимовність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861060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Під нові ринки ваших клієнтів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 магазином стоїть команда</a:t>
            </a:r>
          </a:p>
        </p:txBody>
      </p:sp>
      <p:pic>
        <p:nvPicPr>
          <p:cNvPr id="3" name="Picture 2" descr="team_mak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762250"/>
            <a:ext cx="3048000" cy="3619500"/>
          </a:xfrm>
          <a:prstGeom prst="rect">
            <a:avLst/>
          </a:prstGeom>
        </p:spPr>
      </p:pic>
      <p:pic>
        <p:nvPicPr>
          <p:cNvPr id="4" name="Picture 3" descr="team_serhi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0" y="2762250"/>
            <a:ext cx="3048000" cy="3619500"/>
          </a:xfrm>
          <a:prstGeom prst="rect">
            <a:avLst/>
          </a:prstGeom>
        </p:spPr>
      </p:pic>
      <p:pic>
        <p:nvPicPr>
          <p:cNvPr id="5" name="Picture 4" descr="team_yevh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2762250"/>
            <a:ext cx="3048000" cy="3619500"/>
          </a:xfrm>
          <a:prstGeom prst="rect">
            <a:avLst/>
          </a:prstGeom>
        </p:spPr>
      </p:pic>
      <p:pic>
        <p:nvPicPr>
          <p:cNvPr id="6" name="Picture 5" descr="team_angeli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5650" y="2762250"/>
            <a:ext cx="3048000" cy="3619500"/>
          </a:xfrm>
          <a:prstGeom prst="rect">
            <a:avLst/>
          </a:prstGeom>
        </p:spPr>
      </p:pic>
      <p:pic>
        <p:nvPicPr>
          <p:cNvPr id="7" name="Picture 6" descr="team_oksa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11300" y="2762250"/>
            <a:ext cx="3048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" y="6610350"/>
            <a:ext cx="3162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Дизайн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701040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Максим Петренко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7391400"/>
            <a:ext cx="31623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Сучасний дизайн, що поєднує естетику й конверсію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4350" y="6610350"/>
            <a:ext cx="3162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Розробка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4350" y="701040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Сергій Степанюк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4350" y="7391400"/>
            <a:ext cx="31623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Кастомні теми й секції Shopify, швидкість і якість коду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6610350"/>
            <a:ext cx="3162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Інтеграції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701040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Євген Квітка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0" y="7391400"/>
            <a:ext cx="31623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Складні інтеграції та кастомні рішення для Shopify 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5650" y="6610350"/>
            <a:ext cx="3162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Тестування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5650" y="701040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Ангеліна Пінчук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5650" y="7391400"/>
            <a:ext cx="31623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Перевіряє кожну збірку на різних пристроях і браузерах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11300" y="6610350"/>
            <a:ext cx="3162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Ведення проєкту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11300" y="701040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Оксана Пономаренко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11300" y="7391400"/>
            <a:ext cx="3162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Строки, комунікація і статус для вас і клієнта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" y="8858250"/>
            <a:ext cx="162306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8700" y="9105900"/>
            <a:ext cx="16344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Засновник:</a:t>
            </a: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 Євгеній Мілевич · </a:t>
            </a: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Партнерства:</a:t>
            </a: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 Анна Серпутько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browser_carb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381000"/>
            <a:ext cx="7620000" cy="5334000"/>
          </a:xfrm>
          <a:prstGeom prst="rect">
            <a:avLst/>
          </a:prstGeom>
        </p:spPr>
      </p:pic>
      <p:pic>
        <p:nvPicPr>
          <p:cNvPr id="4" name="Picture 3" descr="phone_carb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0" y="2476500"/>
            <a:ext cx="2667000" cy="4729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1171575"/>
            <a:ext cx="634365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Магазин під ваш спосіб продавати</a:t>
            </a:r>
          </a:p>
        </p:txBody>
      </p:sp>
      <p:sp>
        <p:nvSpPr>
          <p:cNvPr id="6" name="Oval 5"/>
          <p:cNvSpPr/>
          <p:nvPr/>
        </p:nvSpPr>
        <p:spPr>
          <a:xfrm>
            <a:off x="1028700" y="46386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33500" y="44767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Кастомна розробка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під бренд і асортимент</a:t>
            </a:r>
          </a:p>
        </p:txBody>
      </p:sp>
      <p:sp>
        <p:nvSpPr>
          <p:cNvPr id="8" name="Oval 7"/>
          <p:cNvSpPr/>
          <p:nvPr/>
        </p:nvSpPr>
        <p:spPr>
          <a:xfrm>
            <a:off x="1028700" y="52101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33500" y="5048250"/>
            <a:ext cx="74485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Міграція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з WordPress та інших платформ без втрати товарів, клієнтів і замовлень</a:t>
            </a:r>
          </a:p>
        </p:txBody>
      </p:sp>
      <p:sp>
        <p:nvSpPr>
          <p:cNvPr id="10" name="Oval 9"/>
          <p:cNvSpPr/>
          <p:nvPr/>
        </p:nvSpPr>
        <p:spPr>
          <a:xfrm>
            <a:off x="1028700" y="614362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33500" y="5981700"/>
            <a:ext cx="74485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Свій функціонал: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застосунки й інтеграції під процеси клієнта</a:t>
            </a:r>
          </a:p>
        </p:txBody>
      </p:sp>
      <p:sp>
        <p:nvSpPr>
          <p:cNvPr id="12" name="Oval 11"/>
          <p:cNvSpPr/>
          <p:nvPr/>
        </p:nvSpPr>
        <p:spPr>
          <a:xfrm>
            <a:off x="1028700" y="70770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33500" y="69151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Мультимовність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для нових ринків</a:t>
            </a:r>
          </a:p>
        </p:txBody>
      </p:sp>
      <p:sp>
        <p:nvSpPr>
          <p:cNvPr id="14" name="Oval 13"/>
          <p:cNvSpPr/>
          <p:nvPr/>
        </p:nvSpPr>
        <p:spPr>
          <a:xfrm>
            <a:off x="1028700" y="76485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33500" y="74866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WordPress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, якщо так краще для клієнта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0" y="7524750"/>
            <a:ext cx="5829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Скільки часу займає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0" y="81534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Магазин з нуля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73000" y="82105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2573000" y="8210550"/>
            <a:ext cx="1905000" cy="209550"/>
          </a:xfrm>
          <a:prstGeom prst="roundRect">
            <a:avLst>
              <a:gd name="adj" fmla="val 50000"/>
            </a:avLst>
          </a:prstGeom>
          <a:solidFill>
            <a:srgbClr val="9A9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4287500" y="8210550"/>
            <a:ext cx="209550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6573500" y="81534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4–8 тижнів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0" y="87249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Редизайн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573000" y="87820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2573000" y="8782050"/>
            <a:ext cx="952500" cy="209550"/>
          </a:xfrm>
          <a:prstGeom prst="roundRect">
            <a:avLst>
              <a:gd name="adj" fmla="val 50000"/>
            </a:avLst>
          </a:prstGeom>
          <a:solidFill>
            <a:srgbClr val="9A9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3335000" y="8782050"/>
            <a:ext cx="114300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6573500" y="87249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2–4 тижні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0" y="92964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Дрібні правки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573000" y="93535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573000" y="9353550"/>
            <a:ext cx="24765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6573500" y="92964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24–72 год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53125" cy="10287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ne_rin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990600"/>
            <a:ext cx="4381500" cy="830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48450" y="1790700"/>
            <a:ext cx="107251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Менше перешкод на шляху до покупки</a:t>
            </a:r>
          </a:p>
        </p:txBody>
      </p:sp>
      <p:sp>
        <p:nvSpPr>
          <p:cNvPr id="5" name="Pentagon 4"/>
          <p:cNvSpPr/>
          <p:nvPr/>
        </p:nvSpPr>
        <p:spPr>
          <a:xfrm>
            <a:off x="6648450" y="4095750"/>
            <a:ext cx="2209800" cy="838200"/>
          </a:xfrm>
          <a:prstGeom prst="homePlate">
            <a:avLst>
              <a:gd name="adj" fmla="val 34090"/>
            </a:avLst>
          </a:prstGeom>
          <a:solidFill>
            <a:srgbClr val="E3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34150" y="4095750"/>
            <a:ext cx="24384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Пошук</a:t>
            </a:r>
          </a:p>
        </p:txBody>
      </p:sp>
      <p:sp>
        <p:nvSpPr>
          <p:cNvPr id="7" name="Chevron 6"/>
          <p:cNvSpPr/>
          <p:nvPr/>
        </p:nvSpPr>
        <p:spPr>
          <a:xfrm>
            <a:off x="87439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BEB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92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Товар</a:t>
            </a:r>
          </a:p>
        </p:txBody>
      </p:sp>
      <p:sp>
        <p:nvSpPr>
          <p:cNvPr id="9" name="Chevron 8"/>
          <p:cNvSpPr/>
          <p:nvPr/>
        </p:nvSpPr>
        <p:spPr>
          <a:xfrm>
            <a:off x="108394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9347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Кошик</a:t>
            </a:r>
          </a:p>
        </p:txBody>
      </p:sp>
      <p:sp>
        <p:nvSpPr>
          <p:cNvPr id="11" name="Chevron 10"/>
          <p:cNvSpPr/>
          <p:nvPr/>
        </p:nvSpPr>
        <p:spPr>
          <a:xfrm>
            <a:off x="129349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4A4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0302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Чекаут</a:t>
            </a:r>
          </a:p>
        </p:txBody>
      </p:sp>
      <p:sp>
        <p:nvSpPr>
          <p:cNvPr id="13" name="Chevron 12"/>
          <p:cNvSpPr/>
          <p:nvPr/>
        </p:nvSpPr>
        <p:spPr>
          <a:xfrm>
            <a:off x="15030450" y="4095750"/>
            <a:ext cx="2228850" cy="838200"/>
          </a:xfrm>
          <a:prstGeom prst="chevron">
            <a:avLst>
              <a:gd name="adj" fmla="val 3409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125700" y="4095750"/>
            <a:ext cx="22479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Оплата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8450" y="5619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 та UX/UI-аудит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450" y="6038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Знаходимо, де магазин втрачає покупця, від пошуку товару до оплати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8450" y="6572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8450" y="6762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Мобільна версія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7181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Сторінки товару, навігація та чекаут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8450" y="7715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48450" y="7905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Швидкість завантаження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450" y="8324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Напряму впливає на продажі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8450" y="8858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48450" y="9048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Функції під нішу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50" y="9467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На основі аналізу ніші й конкурентів: 3D і огляд товару на 360°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607695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Менше ручної роботи після кожної заявки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6250" y="1428750"/>
            <a:ext cx="868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Що підключаємо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6250" y="1981200"/>
            <a:ext cx="238125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81950" y="1981200"/>
            <a:ext cx="26098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GoHighLevel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8000" y="1981200"/>
            <a:ext cx="209550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53700" y="1981200"/>
            <a:ext cx="23241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Чат-боти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54000" y="1981200"/>
            <a:ext cx="430530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39700" y="1981200"/>
            <a:ext cx="4533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Інтеграції сайту з CRM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91025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5335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1115675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447800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3905250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ight Arrow 15"/>
          <p:cNvSpPr/>
          <p:nvPr/>
        </p:nvSpPr>
        <p:spPr>
          <a:xfrm>
            <a:off x="7267575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10629900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13992225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95400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Крок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Заявка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624840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Клієнт залишає заявку на сайті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7725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Крок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7725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6248400"/>
            <a:ext cx="24003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Заявка одразу потрапляє в CRM, без ручного внесення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0050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Крок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0050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Бот 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0050" y="624840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Відповідає на типові питання клієнтів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2375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Крок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2375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Команда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2375" y="6248400"/>
            <a:ext cx="24003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Отримує сповіщення і бере заявку в роботу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44700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AAAAAA"/>
                </a:solidFill>
                <a:latin typeface="Open Sauce"/>
                <a:ea typeface="Open Sauce"/>
                <a:cs typeface="Open Sauce"/>
                <a:sym typeface="Open Sauce"/>
              </a:rPr>
              <a:t>Крок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44700" y="5753100"/>
            <a:ext cx="24003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Повторний контакт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44700" y="661035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Сценарій повертає клієнта до покупки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Власні продукти MILEDEVS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381250"/>
            <a:ext cx="14401800" cy="462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Готові рішення, які можна запропонувати вашим клієнтам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3415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203960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447800" y="3943350"/>
            <a:ext cx="11032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Продукт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Blog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50482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Пише й публікує SEO-статті в голосі бренду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780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47800" y="6915150"/>
            <a:ext cx="11246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це дає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7258050"/>
            <a:ext cx="4476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Трафік з пошуку без копірайтера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0" y="3943350"/>
            <a:ext cx="11032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Продукт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 Shopify 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0" y="50482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Наша швидка тема: SEO-ready, 90+ PageSpeed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325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53250" y="6915150"/>
            <a:ext cx="11246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це дає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0" y="7258050"/>
            <a:ext cx="44767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Швидкий старт без дорогої кастомної розробки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58700" y="3943350"/>
            <a:ext cx="11032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Продукт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5870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Sales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58700" y="50482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Знає каталог, радить товари й збирає заявки 24/7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45870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458700" y="6915150"/>
            <a:ext cx="11246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це дає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58700" y="7258050"/>
            <a:ext cx="4476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Заявки навіть уночі та у вихідні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Робота, яку можна побачити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634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2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Усі кейси на </a:t>
            </a: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miledevs.com/pages/portfolio</a:t>
            </a:r>
            <a:r>
              <a:rPr sz="22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. Будь-який проєкт покажемо зсередини на дзвінку.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16255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29640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43025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se_lun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390900"/>
            <a:ext cx="3524250" cy="2857500"/>
          </a:xfrm>
          <a:prstGeom prst="rect">
            <a:avLst/>
          </a:prstGeom>
        </p:spPr>
      </p:pic>
      <p:pic>
        <p:nvPicPr>
          <p:cNvPr id="9" name="Picture 8" descr="case_rin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50" y="3390900"/>
            <a:ext cx="3524250" cy="2857500"/>
          </a:xfrm>
          <a:prstGeom prst="rect">
            <a:avLst/>
          </a:prstGeom>
        </p:spPr>
      </p:pic>
      <p:pic>
        <p:nvPicPr>
          <p:cNvPr id="10" name="Picture 9" descr="case_joyfol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3390900"/>
            <a:ext cx="3524250" cy="2857500"/>
          </a:xfrm>
          <a:prstGeom prst="rect">
            <a:avLst/>
          </a:prstGeom>
        </p:spPr>
      </p:pic>
      <p:pic>
        <p:nvPicPr>
          <p:cNvPr id="11" name="Picture 10" descr="case_carb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2650" y="3390900"/>
            <a:ext cx="3524250" cy="285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50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Lunesi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Доглядова косметика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7353300"/>
            <a:ext cx="335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Кастомна тема, мультивалютність, логістичні й маркетингові інтеграції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35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Rinfit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35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Силіконові кільця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350" y="7353300"/>
            <a:ext cx="335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Реалізація дизайну, мобільні покращення, фільтри за розміром і кольором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Joyfolie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Мода та взуття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735330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Повний цикл розробки магазину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3505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Carbon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3505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Автомобільні аксесуари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35050" y="735330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Повний цикл розробки магазину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Як працюємо з партнером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5900" y="3905250"/>
            <a:ext cx="12172950" cy="38100"/>
          </a:xfrm>
          <a:prstGeom prst="rect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ight Arrow 3"/>
          <p:cNvSpPr/>
          <p:nvPr/>
        </p:nvSpPr>
        <p:spPr>
          <a:xfrm>
            <a:off x="455295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ight Arrow 4"/>
          <p:cNvSpPr/>
          <p:nvPr/>
        </p:nvSpPr>
        <p:spPr>
          <a:xfrm>
            <a:off x="861060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ight Arrow 5"/>
          <p:cNvSpPr/>
          <p:nvPr/>
        </p:nvSpPr>
        <p:spPr>
          <a:xfrm>
            <a:off x="1266825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2870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508635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7205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2970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3201650" y="3467100"/>
            <a:ext cx="914400" cy="9144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08735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08635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14400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3201650" y="4857750"/>
            <a:ext cx="4057650" cy="3143250"/>
          </a:xfrm>
          <a:prstGeom prst="roundRect">
            <a:avLst>
              <a:gd name="adj" fmla="val 7272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7160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Інтро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1025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Ви знайомите нас із клієнтом або передаєте його запит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25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Дзвінок і оцінка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0" y="581025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Говоримо з клієнтом разом або самі. Строки й ціну погоджуємо до старту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690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Робота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6900" y="5810250"/>
            <a:ext cx="32575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Ведемо проєкт і регулярно звітуємо вам про статус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44550" y="5124450"/>
            <a:ext cx="3543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800"/>
              </a:lnSpc>
            </a:pPr>
            <a:r>
              <a:rPr sz="42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Ваші 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44550" y="5905500"/>
            <a:ext cx="354330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З кожного проєкту приведеного клієнта. Клієнт лишається вашим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3125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67525" y="1238250"/>
            <a:ext cx="101536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Де можемо підсилити вас?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67525" y="3619500"/>
            <a:ext cx="10391775" cy="1066800"/>
          </a:xfrm>
          <a:prstGeom prst="roundRect">
            <a:avLst>
              <a:gd name="adj" fmla="val 17857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867525" y="4838700"/>
            <a:ext cx="10391775" cy="1066800"/>
          </a:xfrm>
          <a:prstGeom prst="roundRect">
            <a:avLst>
              <a:gd name="adj" fmla="val 17857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67525" y="6057900"/>
            <a:ext cx="10391775" cy="1066800"/>
          </a:xfrm>
          <a:prstGeom prst="roundRect">
            <a:avLst>
              <a:gd name="adj" fmla="val 17857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10425" y="397192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Рекомендація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0" y="3819525"/>
            <a:ext cx="6877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Ви передаєте Shopify-запит, ми ведемо проєкт, вам 10% з кожного проєкту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0425" y="519112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Спільний проєкт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0" y="5200650"/>
            <a:ext cx="6877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Ви ведете SEO чи рекламу, ми робимо магазин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0425" y="641032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White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0" y="6257925"/>
            <a:ext cx="6877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Працюємо під вашим брендом, ціну для клієнта ставите ви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67525" y="7524750"/>
            <a:ext cx="10391775" cy="2000250"/>
          </a:xfrm>
          <a:prstGeom prst="roundRect">
            <a:avLst>
              <a:gd name="adj" fmla="val 11428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48525" y="7829550"/>
            <a:ext cx="137539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AAAAAA"/>
                </a:solidFill>
                <a:latin typeface="Open Sauce"/>
                <a:ea typeface="Open Sauce"/>
                <a:cs typeface="Open Sauce"/>
                <a:sym typeface="Open Sauce"/>
              </a:rPr>
              <a:t>Перший крок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8525" y="8172450"/>
            <a:ext cx="97440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4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Дайте нам одного клієнта, і ми зробимо безкоштовний аудит його магазину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8525" y="9048750"/>
            <a:ext cx="9744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Анна Серпутько · t.me/anna_miledevs · miledevs.com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DAHYBIgPRNQ</dc:identifier>
  <dcterms:modified xsi:type="dcterms:W3CDTF">2011-08-01T06:04:30Z</dcterms:modified>
  <cp:revision>1</cp:revision>
  <dc:title>MileDevs × партнери — дзвінок 16.10 (Panem)</dc:title>
</cp:coreProperties>
</file>