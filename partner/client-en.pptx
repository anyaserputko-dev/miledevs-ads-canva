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8" r:id="rId8"/>
    <p:sldId id="257" r:id="rId7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21"/>
    <p:sldId id="269" r:id="rId22"/>
  </p:sldIdLst>
  <p:sldSz cx="18288000" cy="10287000"/>
  <p:notesSz cx="6858000" cy="9144000"/>
  <p:embeddedFontLst>
    <p:embeddedFont>
      <p:font typeface="Open Sauce Bold" charset="1" panose="00000800000000000000"/>
      <p:regular r:id="rId18"/>
    </p:embeddedFont>
    <p:embeddedFont>
      <p:font typeface="Open Sauce" charset="1" panose="00000500000000000000"/>
      <p:regular r:id="rId19"/>
    </p:embeddedFont>
    <p:embeddedFont>
      <p:font typeface="Eastman Pack Bold" charset="1" panose="000008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image" Target="../media/image1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ver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34" y="1058704"/>
            <a:ext cx="17214437" cy="543668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6496050"/>
            <a:ext cx="16230600" cy="2530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19009"/>
              </a:lnSpc>
              <a:spcBef>
                <a:spcPct val="0"/>
              </a:spcBef>
            </a:pPr>
            <a:r>
              <a:rPr lang="en-US" b="true" sz="19009" spc="2072" strike="noStrike" u="none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MILEDEVS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36783" y="624890"/>
            <a:ext cx="2899600" cy="184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60"/>
              </a:lnSpc>
              <a:spcBef>
                <a:spcPct val="0"/>
              </a:spcBef>
            </a:pPr>
            <a:r>
              <a:rPr lang="en-US" sz="1200" strike="noStrike" u="none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miledevs.com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851617" y="537260"/>
            <a:ext cx="2899600" cy="184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60"/>
              </a:lnSpc>
              <a:spcBef>
                <a:spcPct val="0"/>
              </a:spcBef>
            </a:pPr>
            <a:r>
              <a:rPr lang="en-US" sz="1200" strike="noStrike" u="none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Партнерство з агенціями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601233" y="2113011"/>
            <a:ext cx="7658067" cy="5743551"/>
          </a:xfrm>
          <a:custGeom>
            <a:avLst/>
            <a:gdLst/>
            <a:ahLst/>
            <a:cxnLst/>
            <a:rect r="r" b="b" t="t" l="l"/>
            <a:pathLst>
              <a:path h="5743551" w="7658067">
                <a:moveTo>
                  <a:pt x="0" y="0"/>
                </a:moveTo>
                <a:lnTo>
                  <a:pt x="7658067" y="0"/>
                </a:lnTo>
                <a:lnTo>
                  <a:pt x="7658067" y="5743551"/>
                </a:lnTo>
                <a:lnTo>
                  <a:pt x="0" y="57435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18764" y="2338083"/>
            <a:ext cx="8125236" cy="978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7266"/>
              </a:lnSpc>
              <a:spcBef>
                <a:spcPct val="0"/>
              </a:spcBef>
            </a:pPr>
            <a:r>
              <a:rPr lang="en-US" b="true" sz="7266" spc="792">
                <a:solidFill>
                  <a:srgbClr val="020202"/>
                </a:solidFill>
                <a:latin typeface="Eastman Pack Bold"/>
                <a:ea typeface="Eastman Pack Bold"/>
                <a:cs typeface="Eastman Pack Bold"/>
                <a:sym typeface="Eastman Pack Bold"/>
              </a:rPr>
              <a:t>МИ </a:t>
            </a:r>
            <a:r>
              <a:rPr lang="en-US" b="true" sz="7266" spc="792" strike="noStrike" u="none">
                <a:solidFill>
                  <a:srgbClr val="020202"/>
                </a:solidFill>
                <a:latin typeface="Eastman Pack Bold"/>
                <a:ea typeface="Eastman Pack Bold"/>
                <a:cs typeface="Eastman Pack Bold"/>
                <a:sym typeface="Eastman Pack Bold"/>
              </a:rPr>
              <a:t>MILEDEVS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9175" y="3495675"/>
            <a:ext cx="8239125" cy="925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645"/>
              </a:lnSpc>
            </a:pPr>
            <a:r>
              <a:rPr sz="2700" b="0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A Shopify agency for growing brands. We build and improve stores that sell.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8700" y="4953000"/>
            <a:ext cx="3905250" cy="152400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238750" y="4953000"/>
            <a:ext cx="3905250" cy="152400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28700" y="6667500"/>
            <a:ext cx="3905250" cy="152400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238750" y="6667500"/>
            <a:ext cx="3905250" cy="152400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95400" y="5162550"/>
            <a:ext cx="719733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4500"/>
              </a:lnSpc>
            </a:pPr>
            <a:r>
              <a:rPr sz="3900" b="1" spc="-112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7+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5791200"/>
            <a:ext cx="3486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years on Shopify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05450" y="5162550"/>
            <a:ext cx="1325166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4500"/>
              </a:lnSpc>
            </a:pPr>
            <a:r>
              <a:rPr sz="3900" b="1" spc="-112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5450" y="5791200"/>
            <a:ext cx="34861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stores for brands in the US, Canada and Europe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6877050"/>
            <a:ext cx="1890043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4500"/>
              </a:lnSpc>
            </a:pPr>
            <a:r>
              <a:rPr sz="3900" b="1" spc="-112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Shopify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400" y="7505700"/>
            <a:ext cx="3486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Selected Partner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5450" y="6877050"/>
            <a:ext cx="2457822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4500"/>
              </a:lnSpc>
            </a:pPr>
            <a:r>
              <a:rPr sz="3900" b="1" spc="-112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Top 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5450" y="7505700"/>
            <a:ext cx="3486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on Upwork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1028700"/>
            <a:ext cx="163449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MileDevs in short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2247900"/>
            <a:ext cx="15354300" cy="462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645"/>
              </a:lnSpc>
            </a:pPr>
            <a:r>
              <a:rPr sz="27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We build and grow Shopify stores for brands. Here is what working with us looks like: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3619500"/>
            <a:ext cx="5067300" cy="4191000"/>
          </a:xfrm>
          <a:prstGeom prst="roundRect">
            <a:avLst>
              <a:gd name="adj" fmla="val 5454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610350" y="3619500"/>
            <a:ext cx="5067300" cy="4191000"/>
          </a:xfrm>
          <a:prstGeom prst="roundRect">
            <a:avLst>
              <a:gd name="adj" fmla="val 5454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2192000" y="3619500"/>
            <a:ext cx="5067300" cy="4191000"/>
          </a:xfrm>
          <a:prstGeom prst="roundRect">
            <a:avLst>
              <a:gd name="adj" fmla="val 5454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6162675" y="5562600"/>
            <a:ext cx="381000" cy="3048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11744325" y="5562600"/>
            <a:ext cx="381000" cy="3048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409700" y="400050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95400" y="40005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6991350" y="400050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77050" y="40005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12573000" y="4000500"/>
            <a:ext cx="685800" cy="685800"/>
          </a:xfrm>
          <a:prstGeom prst="ellipse">
            <a:avLst/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458700" y="40005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5029200"/>
            <a:ext cx="44196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We build stores that sell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9700" y="6096000"/>
            <a:ext cx="4419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000"/>
              </a:lnSpc>
            </a:pPr>
            <a:r>
              <a:rPr sz="2100" b="0">
                <a:solidFill>
                  <a:srgbClr val="333333"/>
                </a:solidFill>
                <a:latin typeface="Open Sauce"/>
                <a:ea typeface="Open Sauce"/>
                <a:cs typeface="Open Sauce"/>
                <a:sym typeface="Open Sauce"/>
              </a:rPr>
              <a:t>New stores, redesigns, migration to Shopify, fixes, speed and conversion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1350" y="5029200"/>
            <a:ext cx="44196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One team for the whole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1350" y="6096000"/>
            <a:ext cx="4419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000"/>
              </a:lnSpc>
            </a:pPr>
            <a:r>
              <a:rPr sz="2100" b="0">
                <a:solidFill>
                  <a:srgbClr val="333333"/>
                </a:solidFill>
                <a:latin typeface="Open Sauce"/>
                <a:ea typeface="Open Sauce"/>
                <a:cs typeface="Open Sauce"/>
                <a:sym typeface="Open Sauce"/>
              </a:rPr>
              <a:t>Design, development, integrations and testing, led by a project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3000" y="5029200"/>
            <a:ext cx="44196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The first step is 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6096000"/>
            <a:ext cx="4419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000"/>
              </a:lnSpc>
            </a:pPr>
            <a:r>
              <a:rPr sz="2100" b="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We audit your store and show what to fix, with a mockup for every issue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8382000"/>
            <a:ext cx="16344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Next: who we are, what we do, results, case studies, how we work and answers to common questions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1171575"/>
            <a:ext cx="10591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What brands come to us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3295650"/>
            <a:ext cx="12496800" cy="462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645"/>
              </a:lnSpc>
            </a:pPr>
            <a:r>
              <a:rPr sz="2700" b="0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Whichever one is yours, we look at the whole store, not just one page.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4953000"/>
            <a:ext cx="3829050" cy="3810000"/>
          </a:xfrm>
          <a:prstGeom prst="roundRect">
            <a:avLst>
              <a:gd name="adj" fmla="val 6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162550" y="4953000"/>
            <a:ext cx="3829050" cy="3810000"/>
          </a:xfrm>
          <a:prstGeom prst="roundRect">
            <a:avLst>
              <a:gd name="adj" fmla="val 6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296400" y="4953000"/>
            <a:ext cx="3829050" cy="3810000"/>
          </a:xfrm>
          <a:prstGeom prst="roundRect">
            <a:avLst>
              <a:gd name="adj" fmla="val 6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430250" y="4953000"/>
            <a:ext cx="3829050" cy="3810000"/>
          </a:xfrm>
          <a:prstGeom prst="roundRect">
            <a:avLst>
              <a:gd name="adj" fmla="val 6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71600" y="529590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57300" y="52959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5505450" y="529590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391150" y="52959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9639300" y="529590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25000" y="52959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id="14" name="Oval 13"/>
          <p:cNvSpPr/>
          <p:nvPr/>
        </p:nvSpPr>
        <p:spPr>
          <a:xfrm>
            <a:off x="13773150" y="529590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658850" y="52959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286500"/>
            <a:ext cx="3257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New brand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6819900"/>
            <a:ext cx="32575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You need a store that is ready to sell from day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5450" y="6286500"/>
            <a:ext cx="3257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Moving to Shopify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5450" y="6819900"/>
            <a:ext cx="32575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From WordPress or another platform, without losing products or 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9300" y="6286500"/>
            <a:ext cx="3257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Traffic, few sales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9300" y="6819900"/>
            <a:ext cx="32575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Visitors come from ads and social, but only a few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73150" y="6286500"/>
            <a:ext cx="3257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Ready to grow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73150" y="6819900"/>
            <a:ext cx="32575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Custom features, integrations or new markets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browser_car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381000"/>
            <a:ext cx="7620000" cy="5334000"/>
          </a:xfrm>
          <a:prstGeom prst="rect">
            <a:avLst/>
          </a:prstGeom>
        </p:spPr>
      </p:pic>
      <p:pic>
        <p:nvPicPr>
          <p:cNvPr id="4" name="Picture 3" descr="phone_carb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1000" y="2476500"/>
            <a:ext cx="2667000" cy="47291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700" y="1171575"/>
            <a:ext cx="73533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store built around the way you sell</a:t>
            </a:r>
          </a:p>
        </p:txBody>
      </p:sp>
      <p:sp>
        <p:nvSpPr>
          <p:cNvPr id="6" name="Oval 5"/>
          <p:cNvSpPr/>
          <p:nvPr/>
        </p:nvSpPr>
        <p:spPr>
          <a:xfrm>
            <a:off x="1028700" y="4638675"/>
            <a:ext cx="95250" cy="9525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33500" y="4476750"/>
            <a:ext cx="74485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Custom design and development</a:t>
            </a:r>
            <a:r>
              <a:rPr sz="2100" b="0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 for your brand</a:t>
            </a:r>
          </a:p>
        </p:txBody>
      </p:sp>
      <p:sp>
        <p:nvSpPr>
          <p:cNvPr id="8" name="Oval 7"/>
          <p:cNvSpPr/>
          <p:nvPr/>
        </p:nvSpPr>
        <p:spPr>
          <a:xfrm>
            <a:off x="1028700" y="5210175"/>
            <a:ext cx="95250" cy="9525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3500" y="5048250"/>
            <a:ext cx="74485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Migration to Shopify</a:t>
            </a:r>
            <a:r>
              <a:rPr sz="2100" b="0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 without losing products, customers or orders</a:t>
            </a:r>
          </a:p>
        </p:txBody>
      </p:sp>
      <p:sp>
        <p:nvSpPr>
          <p:cNvPr id="10" name="Oval 9"/>
          <p:cNvSpPr/>
          <p:nvPr/>
        </p:nvSpPr>
        <p:spPr>
          <a:xfrm>
            <a:off x="1028700" y="6143625"/>
            <a:ext cx="95250" cy="9525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33500" y="5981700"/>
            <a:ext cx="74485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Custom features:</a:t>
            </a:r>
            <a:r>
              <a:rPr sz="2100" b="0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 apps and integrations that fit your processes</a:t>
            </a:r>
          </a:p>
        </p:txBody>
      </p:sp>
      <p:sp>
        <p:nvSpPr>
          <p:cNvPr id="12" name="Oval 11"/>
          <p:cNvSpPr/>
          <p:nvPr/>
        </p:nvSpPr>
        <p:spPr>
          <a:xfrm>
            <a:off x="1028700" y="7077075"/>
            <a:ext cx="95250" cy="9525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33500" y="6915150"/>
            <a:ext cx="74485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Multiple languages and currencies</a:t>
            </a:r>
            <a:r>
              <a:rPr sz="2100" b="0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 for new markets</a:t>
            </a:r>
          </a:p>
        </p:txBody>
      </p:sp>
      <p:sp>
        <p:nvSpPr>
          <p:cNvPr id="14" name="Oval 13"/>
          <p:cNvSpPr/>
          <p:nvPr/>
        </p:nvSpPr>
        <p:spPr>
          <a:xfrm>
            <a:off x="1028700" y="7648575"/>
            <a:ext cx="95250" cy="9525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33500" y="7486650"/>
            <a:ext cx="74485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Ongoing support</a:t>
            </a:r>
            <a:r>
              <a:rPr sz="2100" b="0">
                <a:solidFill>
                  <a:srgbClr val="020202"/>
                </a:solidFill>
                <a:latin typeface="Open Sauce"/>
                <a:ea typeface="Open Sauce"/>
                <a:cs typeface="Open Sauce"/>
                <a:sym typeface="Open Sauce"/>
              </a:rPr>
              <a:t> after launch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0" y="7524750"/>
            <a:ext cx="58293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How long it takes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0" y="8153400"/>
            <a:ext cx="2781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New store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573000" y="8210550"/>
            <a:ext cx="3810000" cy="209550"/>
          </a:xfrm>
          <a:prstGeom prst="roundRect">
            <a:avLst>
              <a:gd name="adj" fmla="val 50000"/>
            </a:avLst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12573000" y="8210550"/>
            <a:ext cx="1905000" cy="209550"/>
          </a:xfrm>
          <a:prstGeom prst="roundRect">
            <a:avLst>
              <a:gd name="adj" fmla="val 50000"/>
            </a:avLst>
          </a:prstGeom>
          <a:solidFill>
            <a:srgbClr val="9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4287500" y="8210550"/>
            <a:ext cx="2095500" cy="209550"/>
          </a:xfrm>
          <a:prstGeom prst="roundRect">
            <a:avLst>
              <a:gd name="adj" fmla="val 5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6573500" y="8153400"/>
            <a:ext cx="1638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4–8 weeks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6000" y="8724900"/>
            <a:ext cx="2781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573000" y="8782050"/>
            <a:ext cx="3810000" cy="209550"/>
          </a:xfrm>
          <a:prstGeom prst="roundRect">
            <a:avLst>
              <a:gd name="adj" fmla="val 50000"/>
            </a:avLst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12573000" y="8782050"/>
            <a:ext cx="952500" cy="209550"/>
          </a:xfrm>
          <a:prstGeom prst="roundRect">
            <a:avLst>
              <a:gd name="adj" fmla="val 50000"/>
            </a:avLst>
          </a:prstGeom>
          <a:solidFill>
            <a:srgbClr val="9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3335000" y="8782050"/>
            <a:ext cx="1143000" cy="209550"/>
          </a:xfrm>
          <a:prstGeom prst="roundRect">
            <a:avLst>
              <a:gd name="adj" fmla="val 5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6573500" y="8724900"/>
            <a:ext cx="1638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2–4 weeks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6000" y="9296400"/>
            <a:ext cx="2781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Small fixes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573000" y="9353550"/>
            <a:ext cx="3810000" cy="209550"/>
          </a:xfrm>
          <a:prstGeom prst="roundRect">
            <a:avLst>
              <a:gd name="adj" fmla="val 50000"/>
            </a:avLst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12573000" y="9353550"/>
            <a:ext cx="247650" cy="209550"/>
          </a:xfrm>
          <a:prstGeom prst="roundRect">
            <a:avLst>
              <a:gd name="adj" fmla="val 5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6573500" y="9296400"/>
            <a:ext cx="1638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24–72 h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953125" cy="1028700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phone_rin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990600"/>
            <a:ext cx="4381500" cy="830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48450" y="1790700"/>
            <a:ext cx="1072515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Fewer obstacles on the way to checkout</a:t>
            </a:r>
          </a:p>
        </p:txBody>
      </p:sp>
      <p:sp>
        <p:nvSpPr>
          <p:cNvPr id="5" name="Pentagon 4"/>
          <p:cNvSpPr/>
          <p:nvPr/>
        </p:nvSpPr>
        <p:spPr>
          <a:xfrm>
            <a:off x="6648450" y="4095750"/>
            <a:ext cx="2209800" cy="838200"/>
          </a:xfrm>
          <a:prstGeom prst="homePlate">
            <a:avLst>
              <a:gd name="adj" fmla="val 34090"/>
            </a:avLst>
          </a:prstGeom>
          <a:solidFill>
            <a:srgbClr val="E3E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4150" y="4095750"/>
            <a:ext cx="243840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Search</a:t>
            </a:r>
          </a:p>
        </p:txBody>
      </p:sp>
      <p:sp>
        <p:nvSpPr>
          <p:cNvPr id="7" name="Chevron 6"/>
          <p:cNvSpPr/>
          <p:nvPr/>
        </p:nvSpPr>
        <p:spPr>
          <a:xfrm>
            <a:off x="8743950" y="4095750"/>
            <a:ext cx="2209800" cy="838200"/>
          </a:xfrm>
          <a:prstGeom prst="chevron">
            <a:avLst>
              <a:gd name="adj" fmla="val 34090"/>
            </a:avLst>
          </a:prstGeom>
          <a:solidFill>
            <a:srgbClr val="BEBE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39200" y="4095750"/>
            <a:ext cx="22288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Product</a:t>
            </a:r>
          </a:p>
        </p:txBody>
      </p:sp>
      <p:sp>
        <p:nvSpPr>
          <p:cNvPr id="9" name="Chevron 8"/>
          <p:cNvSpPr/>
          <p:nvPr/>
        </p:nvSpPr>
        <p:spPr>
          <a:xfrm>
            <a:off x="10839450" y="4095750"/>
            <a:ext cx="2209800" cy="838200"/>
          </a:xfrm>
          <a:prstGeom prst="chevron">
            <a:avLst>
              <a:gd name="adj" fmla="val 3409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934700" y="4095750"/>
            <a:ext cx="22288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Cart</a:t>
            </a:r>
          </a:p>
        </p:txBody>
      </p:sp>
      <p:sp>
        <p:nvSpPr>
          <p:cNvPr id="11" name="Chevron 10"/>
          <p:cNvSpPr/>
          <p:nvPr/>
        </p:nvSpPr>
        <p:spPr>
          <a:xfrm>
            <a:off x="12934950" y="4095750"/>
            <a:ext cx="2209800" cy="838200"/>
          </a:xfrm>
          <a:prstGeom prst="chevron">
            <a:avLst>
              <a:gd name="adj" fmla="val 34090"/>
            </a:avLst>
          </a:prstGeom>
          <a:solidFill>
            <a:srgbClr val="4A4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030200" y="4095750"/>
            <a:ext cx="22288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Checkout</a:t>
            </a:r>
          </a:p>
        </p:txBody>
      </p:sp>
      <p:sp>
        <p:nvSpPr>
          <p:cNvPr id="13" name="Chevron 12"/>
          <p:cNvSpPr/>
          <p:nvPr/>
        </p:nvSpPr>
        <p:spPr>
          <a:xfrm>
            <a:off x="15030450" y="4095750"/>
            <a:ext cx="2228850" cy="838200"/>
          </a:xfrm>
          <a:prstGeom prst="chevron">
            <a:avLst>
              <a:gd name="adj" fmla="val 3409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5125700" y="4095750"/>
            <a:ext cx="224790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8450" y="5619750"/>
            <a:ext cx="107251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CRO and UX/UI 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6038850"/>
            <a:ext cx="107251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We find where your store loses shoppers, from search to payment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48450" y="6572250"/>
            <a:ext cx="1061085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48450" y="6762750"/>
            <a:ext cx="107251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Mobile 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8450" y="7181850"/>
            <a:ext cx="107251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Product pages, navigation and checkout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48450" y="7715250"/>
            <a:ext cx="1061085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48450" y="7905750"/>
            <a:ext cx="107251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Loading speed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8324850"/>
            <a:ext cx="107251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It has a direct effect on sales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48450" y="8858250"/>
            <a:ext cx="1061085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48450" y="9048750"/>
            <a:ext cx="107251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Features for your niche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8450" y="9467850"/>
            <a:ext cx="107251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Based on niche and competitor research, such as 3D and 360° product views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1028700"/>
            <a:ext cx="163449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Results in numbers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" y="2571750"/>
            <a:ext cx="8572500" cy="7239000"/>
          </a:xfrm>
          <a:prstGeom prst="roundRect">
            <a:avLst>
              <a:gd name="adj" fmla="val 3157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of-ki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2762250"/>
            <a:ext cx="8191500" cy="66770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9200" y="9486900"/>
            <a:ext cx="83058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Shopify Analytics · Jun 19 – Sep 17, 2025 vs Mar 20 – Jun 18,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10800" y="2667000"/>
            <a:ext cx="716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Store build ·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10800" y="3028950"/>
            <a:ext cx="7162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Kids' electric ride-on store on Shopify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10800" y="4000500"/>
            <a:ext cx="2495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spc="-150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+35%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68250" y="4038600"/>
            <a:ext cx="47053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68250" y="4438650"/>
            <a:ext cx="47053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$383K → $517K in 90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10800" y="5048250"/>
            <a:ext cx="704850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10800" y="5334000"/>
            <a:ext cx="2495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spc="-150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+42%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68250" y="5372100"/>
            <a:ext cx="47053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Average order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68250" y="5772150"/>
            <a:ext cx="47053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$303 → $430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6381750"/>
            <a:ext cx="704850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210800" y="6667500"/>
            <a:ext cx="2495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spc="-150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+52%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68250" y="6705600"/>
            <a:ext cx="47053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Gross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68250" y="7105650"/>
            <a:ext cx="47053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vs the previous 90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10800" y="8001000"/>
            <a:ext cx="7048500" cy="1809750"/>
          </a:xfrm>
          <a:prstGeom prst="roundRect">
            <a:avLst>
              <a:gd name="adj" fmla="val 12631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591800" y="8267700"/>
            <a:ext cx="6400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AAAAAA"/>
                </a:solidFill>
                <a:latin typeface="Open Sauce"/>
                <a:ea typeface="Open Sauce"/>
                <a:cs typeface="Open Sauce"/>
                <a:sym typeface="Open Sauce"/>
              </a:rPr>
              <a:t>Another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800" y="8610600"/>
            <a:ext cx="64008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+19% in sales</a:t>
            </a:r>
            <a:r>
              <a:rPr sz="2100" b="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after CRO changes to product pages and checkout, May vs April 2026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1171575"/>
            <a:ext cx="607695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Less manual work after every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6250" y="1428750"/>
            <a:ext cx="86868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What we 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96250" y="19812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981950" y="1981200"/>
            <a:ext cx="280035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Shopify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58500" y="19812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744200" y="1981200"/>
            <a:ext cx="222885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Klaviyo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049250" y="1981200"/>
            <a:ext cx="4210050" cy="685800"/>
          </a:xfrm>
          <a:prstGeom prst="roundRect">
            <a:avLst>
              <a:gd name="adj" fmla="val 50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934950" y="1981200"/>
            <a:ext cx="443865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CRM and chatbots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8700" y="5143500"/>
            <a:ext cx="2781300" cy="2762250"/>
          </a:xfrm>
          <a:prstGeom prst="roundRect">
            <a:avLst>
              <a:gd name="adj" fmla="val 8275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391025" y="5143500"/>
            <a:ext cx="2781300" cy="2762250"/>
          </a:xfrm>
          <a:prstGeom prst="roundRect">
            <a:avLst>
              <a:gd name="adj" fmla="val 8275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7753350" y="5143500"/>
            <a:ext cx="2781300" cy="2762250"/>
          </a:xfrm>
          <a:prstGeom prst="roundRect">
            <a:avLst>
              <a:gd name="adj" fmla="val 8275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1115675" y="5143500"/>
            <a:ext cx="2781300" cy="2762250"/>
          </a:xfrm>
          <a:prstGeom prst="roundRect">
            <a:avLst>
              <a:gd name="adj" fmla="val 8275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14478000" y="5143500"/>
            <a:ext cx="2781300" cy="2762250"/>
          </a:xfrm>
          <a:prstGeom prst="roundRect">
            <a:avLst>
              <a:gd name="adj" fmla="val 8275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ight Arrow 14"/>
          <p:cNvSpPr/>
          <p:nvPr/>
        </p:nvSpPr>
        <p:spPr>
          <a:xfrm>
            <a:off x="3905250" y="6334125"/>
            <a:ext cx="390525" cy="3810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ight Arrow 15"/>
          <p:cNvSpPr/>
          <p:nvPr/>
        </p:nvSpPr>
        <p:spPr>
          <a:xfrm>
            <a:off x="7267575" y="6334125"/>
            <a:ext cx="390525" cy="3810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10629900" y="6334125"/>
            <a:ext cx="390525" cy="3810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13992225" y="6334125"/>
            <a:ext cx="390525" cy="3810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95400" y="5410200"/>
            <a:ext cx="78514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Step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5753100"/>
            <a:ext cx="24003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Order or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5400" y="6248400"/>
            <a:ext cx="24003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A customer orders or leaves a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7725" y="5410200"/>
            <a:ext cx="78514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7725" y="5753100"/>
            <a:ext cx="24003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7725" y="6248400"/>
            <a:ext cx="24003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It goes straight into your CRM, no manual entry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0050" y="5410200"/>
            <a:ext cx="78514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0050" y="5753100"/>
            <a:ext cx="24003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Bot 24/7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0050" y="6248400"/>
            <a:ext cx="24003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Answers common customer questions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2375" y="5410200"/>
            <a:ext cx="78514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2375" y="5753100"/>
            <a:ext cx="24003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Your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2375" y="6248400"/>
            <a:ext cx="24003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Gets notified and takes it from there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744700" y="5410200"/>
            <a:ext cx="78514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AAAAAA"/>
                </a:solidFill>
                <a:latin typeface="Open Sauce"/>
                <a:ea typeface="Open Sauce"/>
                <a:cs typeface="Open Sauce"/>
                <a:sym typeface="Open Sauce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44700" y="5753100"/>
            <a:ext cx="24003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Repeat purchase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44700" y="6610350"/>
            <a:ext cx="24003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 flow brings the customer back to buy again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1171575"/>
            <a:ext cx="163449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MILEDEVS 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2381250"/>
            <a:ext cx="14401800" cy="462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645"/>
              </a:lnSpc>
            </a:pPr>
            <a:r>
              <a:rPr sz="27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Ready-made solutions that keep working after launch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3524250"/>
            <a:ext cx="5200650" cy="4857750"/>
          </a:xfrm>
          <a:prstGeom prst="roundRect">
            <a:avLst>
              <a:gd name="adj" fmla="val 549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34150" y="3524250"/>
            <a:ext cx="5200650" cy="4857750"/>
          </a:xfrm>
          <a:prstGeom prst="roundRect">
            <a:avLst>
              <a:gd name="adj" fmla="val 549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2039600" y="3524250"/>
            <a:ext cx="5200650" cy="4857750"/>
          </a:xfrm>
          <a:prstGeom prst="roundRect">
            <a:avLst>
              <a:gd name="adj" fmla="val 549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7800" y="3943350"/>
            <a:ext cx="1101551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Product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7800" y="4305300"/>
            <a:ext cx="45910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AI Blog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800" y="5048250"/>
            <a:ext cx="4476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000"/>
              </a:lnSpc>
            </a:pPr>
            <a:r>
              <a:rPr sz="2100" b="0">
                <a:solidFill>
                  <a:srgbClr val="333333"/>
                </a:solidFill>
                <a:latin typeface="Open Sauce"/>
                <a:ea typeface="Open Sauce"/>
                <a:cs typeface="Open Sauce"/>
                <a:sym typeface="Open Sauce"/>
              </a:rPr>
              <a:t>Writes and publishes SEO articles in your brand voice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7800" y="6667500"/>
            <a:ext cx="4362450" cy="19050"/>
          </a:xfrm>
          <a:prstGeom prst="rect">
            <a:avLst/>
          </a:prstGeom>
          <a:solidFill>
            <a:srgbClr val="D4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447800" y="6915150"/>
            <a:ext cx="148143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What you 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7258050"/>
            <a:ext cx="44767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Search traffic without a copywriter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3250" y="3943350"/>
            <a:ext cx="1101551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Product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3250" y="4305300"/>
            <a:ext cx="45910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Custom Shopify Theme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3250" y="5048250"/>
            <a:ext cx="4476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000"/>
              </a:lnSpc>
            </a:pPr>
            <a:r>
              <a:rPr sz="2100" b="0">
                <a:solidFill>
                  <a:srgbClr val="333333"/>
                </a:solidFill>
                <a:latin typeface="Open Sauce"/>
                <a:ea typeface="Open Sauce"/>
                <a:cs typeface="Open Sauce"/>
                <a:sym typeface="Open Sauce"/>
              </a:rPr>
              <a:t>Our fast theme: SEO-ready, 90+ PageSpeed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53250" y="6667500"/>
            <a:ext cx="4362450" cy="19050"/>
          </a:xfrm>
          <a:prstGeom prst="rect">
            <a:avLst/>
          </a:prstGeom>
          <a:solidFill>
            <a:srgbClr val="D4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953250" y="6915150"/>
            <a:ext cx="148143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What you 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3250" y="7258050"/>
            <a:ext cx="44767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fast start without costly custom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58700" y="3943350"/>
            <a:ext cx="1101551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Product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58700" y="4305300"/>
            <a:ext cx="45910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AI Sales Chatbot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58700" y="5048250"/>
            <a:ext cx="4476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000"/>
              </a:lnSpc>
            </a:pPr>
            <a:r>
              <a:rPr sz="2100" b="0">
                <a:solidFill>
                  <a:srgbClr val="333333"/>
                </a:solidFill>
                <a:latin typeface="Open Sauce"/>
                <a:ea typeface="Open Sauce"/>
                <a:cs typeface="Open Sauce"/>
                <a:sym typeface="Open Sauce"/>
              </a:rPr>
              <a:t>Knows your catalog, recommends products and collects leads 24/7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458700" y="6667500"/>
            <a:ext cx="4362450" cy="19050"/>
          </a:xfrm>
          <a:prstGeom prst="rect">
            <a:avLst/>
          </a:prstGeom>
          <a:solidFill>
            <a:srgbClr val="D4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458700" y="6915150"/>
            <a:ext cx="148143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What you 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58700" y="7258050"/>
            <a:ext cx="44767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Leads even at night and on weekends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1028700"/>
            <a:ext cx="163449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team behind your 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2247900"/>
            <a:ext cx="14973300" cy="925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645"/>
              </a:lnSpc>
            </a:pPr>
            <a:r>
              <a:rPr sz="27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Designers, developers, integration specialists and QA. Each one owns their area and delivers quality 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3905250"/>
            <a:ext cx="3600450" cy="304800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238750" y="3905250"/>
            <a:ext cx="3600450" cy="304800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448800" y="3905250"/>
            <a:ext cx="3600450" cy="304800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658850" y="3905250"/>
            <a:ext cx="3600450" cy="304800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743450" y="5276850"/>
            <a:ext cx="381000" cy="3048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8953500" y="5276850"/>
            <a:ext cx="381000" cy="3048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13163550" y="5276850"/>
            <a:ext cx="381000" cy="3048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333500" y="4210050"/>
            <a:ext cx="609600" cy="6096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19200" y="4210050"/>
            <a:ext cx="8382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5543550" y="4210050"/>
            <a:ext cx="609600" cy="6096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29250" y="4210050"/>
            <a:ext cx="8382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9753600" y="4210050"/>
            <a:ext cx="609600" cy="6096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39300" y="4210050"/>
            <a:ext cx="8382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13963650" y="4210050"/>
            <a:ext cx="609600" cy="6096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49350" y="4210050"/>
            <a:ext cx="8382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5086350"/>
            <a:ext cx="31623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5600700"/>
            <a:ext cx="31051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Structure and interface for your brand and catalog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5086350"/>
            <a:ext cx="31623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3550" y="5600700"/>
            <a:ext cx="31051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Custom Shopify themes and sections, speed and clean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5086350"/>
            <a:ext cx="31623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Integrations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3600" y="5600700"/>
            <a:ext cx="31051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Apps, CRM, automation and Shopify Plus solutions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63650" y="5086350"/>
            <a:ext cx="31623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63650" y="5600700"/>
            <a:ext cx="31051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Every build is checked on different devices before launch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" y="7334250"/>
            <a:ext cx="16230600" cy="1428750"/>
          </a:xfrm>
          <a:prstGeom prst="roundRect">
            <a:avLst>
              <a:gd name="adj" fmla="val 16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09700" y="7677150"/>
            <a:ext cx="50673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Project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9700" y="8153400"/>
            <a:ext cx="5067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AAAAAA"/>
                </a:solidFill>
                <a:latin typeface="Open Sauce"/>
                <a:ea typeface="Open Sauce"/>
                <a:cs typeface="Open Sauce"/>
                <a:sym typeface="Open Sauce"/>
              </a:rPr>
              <a:t>At every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7500" y="7696200"/>
            <a:ext cx="103251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100" b="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 project manager keeps timelines, communication and reports, so you always know where the project stands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1028700"/>
            <a:ext cx="163449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Work you can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2247900"/>
            <a:ext cx="16344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000"/>
              </a:lnSpc>
            </a:pPr>
            <a:r>
              <a:rPr sz="22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All case studies are at </a:t>
            </a: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miledevs.com/pages/portfolio</a:t>
            </a:r>
            <a:r>
              <a:rPr sz="22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. We are happy to walk you through any project on a call.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3238500"/>
            <a:ext cx="3829050" cy="5524500"/>
          </a:xfrm>
          <a:prstGeom prst="roundRect">
            <a:avLst>
              <a:gd name="adj" fmla="val 597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162550" y="3238500"/>
            <a:ext cx="3829050" cy="5524500"/>
          </a:xfrm>
          <a:prstGeom prst="roundRect">
            <a:avLst>
              <a:gd name="adj" fmla="val 597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296400" y="3238500"/>
            <a:ext cx="3829050" cy="5524500"/>
          </a:xfrm>
          <a:prstGeom prst="roundRect">
            <a:avLst>
              <a:gd name="adj" fmla="val 597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430250" y="3238500"/>
            <a:ext cx="3829050" cy="5524500"/>
          </a:xfrm>
          <a:prstGeom prst="roundRect">
            <a:avLst>
              <a:gd name="adj" fmla="val 597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se2_lun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3390900"/>
            <a:ext cx="3524250" cy="2857500"/>
          </a:xfrm>
          <a:prstGeom prst="rect">
            <a:avLst/>
          </a:prstGeom>
        </p:spPr>
      </p:pic>
      <p:pic>
        <p:nvPicPr>
          <p:cNvPr id="9" name="Picture 8" descr="case2_rin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4950" y="3390900"/>
            <a:ext cx="3524250" cy="2857500"/>
          </a:xfrm>
          <a:prstGeom prst="rect">
            <a:avLst/>
          </a:prstGeom>
        </p:spPr>
      </p:pic>
      <p:pic>
        <p:nvPicPr>
          <p:cNvPr id="10" name="Picture 9" descr="case2_joyfol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3390900"/>
            <a:ext cx="3524250" cy="2857500"/>
          </a:xfrm>
          <a:prstGeom prst="rect">
            <a:avLst/>
          </a:prstGeom>
        </p:spPr>
      </p:pic>
      <p:pic>
        <p:nvPicPr>
          <p:cNvPr id="11" name="Picture 10" descr="case2_carb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82650" y="3390900"/>
            <a:ext cx="3524250" cy="2857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33500" y="6515100"/>
            <a:ext cx="3352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Lunesi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3500" y="697230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Hair care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7353300"/>
            <a:ext cx="335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Custom theme, multi-currency, shipping and marketing integrations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7350" y="6515100"/>
            <a:ext cx="3352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Rinfit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7350" y="697230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Silicone rings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7353300"/>
            <a:ext cx="335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Design implementation, mobile improvements, size and color filters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5100"/>
            <a:ext cx="3352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Joyfolie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97230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Fashion and footwear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7353300"/>
            <a:ext cx="3352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Full-cycle store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35050" y="6515100"/>
            <a:ext cx="3352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Carbon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35050" y="697230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100"/>
              </a:lnSpc>
            </a:pPr>
            <a:r>
              <a:rPr sz="1650" b="0">
                <a:solidFill>
                  <a:srgbClr val="777777"/>
                </a:solidFill>
                <a:latin typeface="Open Sauce"/>
                <a:ea typeface="Open Sauce"/>
                <a:cs typeface="Open Sauce"/>
                <a:sym typeface="Open Sauce"/>
              </a:rPr>
              <a:t>Car accessories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35050" y="7353300"/>
            <a:ext cx="3352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400"/>
              </a:lnSpc>
            </a:pPr>
            <a:r>
              <a:rPr sz="180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Full-cycle store development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28700" y="1028700"/>
            <a:ext cx="163449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How we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1485900" y="3905250"/>
            <a:ext cx="12172950" cy="38100"/>
          </a:xfrm>
          <a:prstGeom prst="rect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ight Arrow 3"/>
          <p:cNvSpPr/>
          <p:nvPr/>
        </p:nvSpPr>
        <p:spPr>
          <a:xfrm>
            <a:off x="4552950" y="3771900"/>
            <a:ext cx="381000" cy="3048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ight Arrow 4"/>
          <p:cNvSpPr/>
          <p:nvPr/>
        </p:nvSpPr>
        <p:spPr>
          <a:xfrm>
            <a:off x="8610600" y="3771900"/>
            <a:ext cx="381000" cy="3048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12668250" y="3771900"/>
            <a:ext cx="381000" cy="304800"/>
          </a:xfrm>
          <a:prstGeom prst="rightArrow">
            <a:avLst>
              <a:gd name="adj1" fmla="val 40000"/>
              <a:gd name="adj2" fmla="val 80000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28700" y="3467100"/>
            <a:ext cx="914400" cy="914400"/>
          </a:xfrm>
          <a:prstGeom prst="ellipse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34671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600"/>
              </a:lnSpc>
            </a:pPr>
            <a:r>
              <a:rPr sz="30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5086350" y="3467100"/>
            <a:ext cx="914400" cy="914400"/>
          </a:xfrm>
          <a:prstGeom prst="ellipse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972050" y="34671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600"/>
              </a:lnSpc>
            </a:pPr>
            <a:r>
              <a:rPr sz="30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0" y="3467100"/>
            <a:ext cx="914400" cy="914400"/>
          </a:xfrm>
          <a:prstGeom prst="ellipse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029700" y="34671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600"/>
              </a:lnSpc>
            </a:pPr>
            <a:r>
              <a:rPr sz="300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3201650" y="3467100"/>
            <a:ext cx="914400" cy="9144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087350" y="34671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600"/>
              </a:lnSpc>
            </a:pPr>
            <a:r>
              <a:rPr sz="30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8700" y="4857750"/>
            <a:ext cx="3829050" cy="3143250"/>
          </a:xfrm>
          <a:prstGeom prst="roundRect">
            <a:avLst>
              <a:gd name="adj" fmla="val 7272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086350" y="4857750"/>
            <a:ext cx="3829050" cy="3143250"/>
          </a:xfrm>
          <a:prstGeom prst="roundRect">
            <a:avLst>
              <a:gd name="adj" fmla="val 7272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44000" y="4857750"/>
            <a:ext cx="3829050" cy="3143250"/>
          </a:xfrm>
          <a:prstGeom prst="roundRect">
            <a:avLst>
              <a:gd name="adj" fmla="val 7272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3201650" y="4857750"/>
            <a:ext cx="4057650" cy="3143250"/>
          </a:xfrm>
          <a:prstGeom prst="roundRect">
            <a:avLst>
              <a:gd name="adj" fmla="val 7272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71600" y="5238750"/>
            <a:ext cx="3257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Call and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810250"/>
            <a:ext cx="32575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You tell us about your brand, store and goals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9250" y="5238750"/>
            <a:ext cx="3257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Plan and estimate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9250" y="5810250"/>
            <a:ext cx="32575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Scope, timeline and price are agreed before we 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6900" y="5238750"/>
            <a:ext cx="3257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6900" y="5810250"/>
            <a:ext cx="325755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Design and development with regular status updates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44550" y="5238750"/>
            <a:ext cx="35433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3150"/>
              </a:lnSpc>
            </a:pPr>
            <a:r>
              <a:rPr sz="25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Launch and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44550" y="5810250"/>
            <a:ext cx="3543300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We stay after launch: updates, optimization and growth support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1028700"/>
            <a:ext cx="163449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Common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8700" y="2762250"/>
            <a:ext cx="796290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28700" y="3048000"/>
            <a:ext cx="80772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How much does it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700" y="3524250"/>
            <a:ext cx="80772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We estimate after a short call. Scope, timeline and price are fixed before we start.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296400" y="2762250"/>
            <a:ext cx="796290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96400" y="3048000"/>
            <a:ext cx="80772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How long does it take?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96400" y="3524250"/>
            <a:ext cx="80772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Small fixes take 24–72 hours, a redesign 2–4 weeks, a new store 4–8 weeks.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8700" y="4953000"/>
            <a:ext cx="796290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28700" y="5238750"/>
            <a:ext cx="80772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Will we lose data when moving to Shopify?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5715000"/>
            <a:ext cx="80772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We move products, customers and orders, and test every key flow before switching traffic to the new store.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96400" y="4953000"/>
            <a:ext cx="796290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96400" y="5238750"/>
            <a:ext cx="80772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Do you work with existing stores?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6400" y="5715000"/>
            <a:ext cx="807720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Yes: redesign, fixes, speed, CRO audit and ongoing support.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8700" y="7143750"/>
            <a:ext cx="796290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28700" y="7429500"/>
            <a:ext cx="80772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Who will we talk 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" y="7905750"/>
            <a:ext cx="807720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A project manager who keeps you updated at every stage.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6400" y="7143750"/>
            <a:ext cx="7962900" cy="19050"/>
          </a:xfrm>
          <a:prstGeom prst="rect">
            <a:avLst/>
          </a:prstGeom>
          <a:solidFill>
            <a:srgbClr val="E0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296400" y="7429500"/>
            <a:ext cx="80772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Where do we start?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6400" y="7905750"/>
            <a:ext cx="807720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With a free audit of your store. No Shopify access needed.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nna-coll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953125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67525" y="1238250"/>
            <a:ext cx="101536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7200"/>
              </a:lnSpc>
            </a:pPr>
            <a:r>
              <a:rPr sz="7200" b="1" spc="-633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How to start</a:t>
            </a:r>
          </a:p>
        </p:txBody>
      </p:sp>
      <p:sp>
        <p:nvSpPr>
          <p:cNvPr id="4" name="Oval 3"/>
          <p:cNvSpPr/>
          <p:nvPr/>
        </p:nvSpPr>
        <p:spPr>
          <a:xfrm>
            <a:off x="6867525" y="304800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753225" y="30480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0025" y="3067050"/>
            <a:ext cx="95440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Message Anna on WhatsApp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0025" y="3486150"/>
            <a:ext cx="95440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+380 98 068 5004</a:t>
            </a:r>
          </a:p>
        </p:txBody>
      </p:sp>
      <p:sp>
        <p:nvSpPr>
          <p:cNvPr id="8" name="Oval 7"/>
          <p:cNvSpPr/>
          <p:nvPr/>
        </p:nvSpPr>
        <p:spPr>
          <a:xfrm>
            <a:off x="6867525" y="447675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753225" y="447675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0025" y="4495800"/>
            <a:ext cx="95440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Send your store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20025" y="4914900"/>
            <a:ext cx="95440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Or your idea, plus 2–3 sentences about your goal</a:t>
            </a:r>
          </a:p>
        </p:txBody>
      </p:sp>
      <p:sp>
        <p:nvSpPr>
          <p:cNvPr id="12" name="Oval 11"/>
          <p:cNvSpPr/>
          <p:nvPr/>
        </p:nvSpPr>
        <p:spPr>
          <a:xfrm>
            <a:off x="6867525" y="5905500"/>
            <a:ext cx="685800" cy="685800"/>
          </a:xfrm>
          <a:prstGeom prst="ellipse">
            <a:avLst/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53225" y="590550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0025" y="5924550"/>
            <a:ext cx="954405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020202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Get a free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0025" y="6343650"/>
            <a:ext cx="95440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625"/>
              </a:lnSpc>
            </a:pPr>
            <a:r>
              <a:rPr sz="1950" b="0">
                <a:solidFill>
                  <a:srgbClr val="444444"/>
                </a:solidFill>
                <a:latin typeface="Open Sauce"/>
                <a:ea typeface="Open Sauce"/>
                <a:cs typeface="Open Sauce"/>
                <a:sym typeface="Open Sauce"/>
              </a:rPr>
              <a:t>We show where your store loses shoppers and how each page should look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7525" y="7524750"/>
            <a:ext cx="10391775" cy="2000250"/>
          </a:xfrm>
          <a:prstGeom prst="roundRect">
            <a:avLst>
              <a:gd name="adj" fmla="val 11428"/>
            </a:avLst>
          </a:prstGeom>
          <a:solidFill>
            <a:srgbClr val="02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48525" y="7867650"/>
            <a:ext cx="9744075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850"/>
              </a:lnSpc>
            </a:pPr>
            <a:r>
              <a:rPr sz="2250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Anna Serputko · MileDevs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8525" y="8382000"/>
            <a:ext cx="9744075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550"/>
              </a:lnSpc>
            </a:pPr>
            <a:r>
              <a:rPr sz="1800" b="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WhatsApp: +380 98 068 5004 · Telegram: t.me/anna_miledevs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8525" y="8763000"/>
            <a:ext cx="9744075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spAutoFit/>
          </a:bodyPr>
          <a:lstStyle/>
          <a:p>
            <a:pPr algn="l">
              <a:lnSpc>
                <a:spcPts val="2550"/>
              </a:lnSpc>
            </a:pPr>
            <a:r>
              <a:rPr sz="1800" b="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Website: miledevs.com · Free audit: miledevs-free-audit.netlify.app/en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DAHYBIgPRNQ</dc:identifier>
  <dcterms:modified xsi:type="dcterms:W3CDTF">2011-08-01T06:04:30Z</dcterms:modified>
  <cp:revision>1</cp:revision>
  <dc:title>MileDevs × партнери — дзвінок 16.10 (Panem)</dc:title>
</cp:coreProperties>
</file>