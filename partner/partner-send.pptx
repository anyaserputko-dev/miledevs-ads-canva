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8" r:id="rId8"/>
    <p:sldId id="257" r:id="rId7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21"/>
    <p:sldId id="269" r:id="rId22"/>
    <p:sldId id="270" r:id="rId23"/>
  </p:sldIdLst>
  <p:sldSz cx="18288000" cy="10287000"/>
  <p:notesSz cx="6858000" cy="9144000"/>
  <p:embeddedFontLst>
    <p:embeddedFont>
      <p:font typeface="Open Sauce Bold" charset="1" panose="00000800000000000000"/>
      <p:regular r:id="rId18"/>
    </p:embeddedFont>
    <p:embeddedFont>
      <p:font typeface="Open Sauce" charset="1" panose="00000500000000000000"/>
      <p:regular r:id="rId19"/>
    </p:embeddedFont>
    <p:embeddedFont>
      <p:font typeface="Eastman Pack Bold" charset="1" panose="000008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font" Target="fonts/font18.fntdata"/><Relationship Id="rId19" Type="http://schemas.openxmlformats.org/officeDocument/2006/relationships/font" Target="fonts/font19.fntdata"/><Relationship Id="rId20" Type="http://schemas.openxmlformats.org/officeDocument/2006/relationships/font" Target="fonts/font20.fntdata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e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eg"/><Relationship Id="rId3" Type="http://schemas.openxmlformats.org/officeDocument/2006/relationships/image" Target="../media/image10.png"/><Relationship Id="rId4" Type="http://schemas.openxmlformats.org/officeDocument/2006/relationships/image" Target="../media/image11.jpeg"/><Relationship Id="rId5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e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hyperlink" Target="https://t.me/anna_miledevs" TargetMode="External"/><Relationship Id="rId4" Type="http://schemas.openxmlformats.org/officeDocument/2006/relationships/hyperlink" Target="https://miledevs.com" TargetMode="External"/><Relationship Id="rId5" Type="http://schemas.openxmlformats.org/officeDocument/2006/relationships/hyperlink" Target="https://miledevs.com/pages/portfolio" TargetMode="Externa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ver_cro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734" y="1058704"/>
            <a:ext cx="17214437" cy="543668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6496050"/>
            <a:ext cx="16230600" cy="2530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9009"/>
              </a:lnSpc>
              <a:spcBef>
                <a:spcPct val="0"/>
              </a:spcBef>
            </a:pPr>
            <a:r>
              <a:rPr lang="en-US" b="true" sz="19009" spc="2072" strike="noStrike" u="none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MILEDEVS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36783" y="624890"/>
            <a:ext cx="2899600" cy="18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560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020202"/>
                </a:solidFill>
                <a:latin typeface="Open Sauce"/>
                <a:ea typeface="Open Sauce"/>
                <a:cs typeface="Open Sauce"/>
                <a:sym typeface="Open Sauce"/>
              </a:rPr>
              <a:t>miledevs.com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851617" y="537260"/>
            <a:ext cx="2899600" cy="18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560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020202"/>
                </a:solidFill>
                <a:latin typeface="Open Sauce"/>
                <a:ea typeface="Open Sauce"/>
                <a:cs typeface="Open Sauce"/>
                <a:sym typeface="Open Sauce"/>
              </a:rPr>
              <a:t>Партнерство з агенціями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601233" y="2113011"/>
            <a:ext cx="7658067" cy="5743551"/>
          </a:xfrm>
          <a:custGeom>
            <a:avLst/>
            <a:gdLst/>
            <a:ahLst/>
            <a:cxnLst/>
            <a:rect r="r" b="b" t="t" l="l"/>
            <a:pathLst>
              <a:path h="5743551" w="7658067">
                <a:moveTo>
                  <a:pt x="0" y="0"/>
                </a:moveTo>
                <a:lnTo>
                  <a:pt x="7658067" y="0"/>
                </a:lnTo>
                <a:lnTo>
                  <a:pt x="7658067" y="5743551"/>
                </a:lnTo>
                <a:lnTo>
                  <a:pt x="0" y="57435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18764" y="2338083"/>
            <a:ext cx="8125236" cy="978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7266"/>
              </a:lnSpc>
              <a:spcBef>
                <a:spcPct val="0"/>
              </a:spcBef>
            </a:pPr>
            <a:r>
              <a:rPr lang="en-US" b="true" sz="7266" spc="792">
                <a:solidFill>
                  <a:srgbClr val="020202"/>
                </a:solidFill>
                <a:latin typeface="Eastman Pack Bold"/>
                <a:ea typeface="Eastman Pack Bold"/>
                <a:cs typeface="Eastman Pack Bold"/>
                <a:sym typeface="Eastman Pack Bold"/>
              </a:rPr>
              <a:t>МИ </a:t>
            </a:r>
            <a:r>
              <a:rPr lang="en-US" b="true" sz="7266" spc="792" strike="noStrike" u="none">
                <a:solidFill>
                  <a:srgbClr val="020202"/>
                </a:solidFill>
                <a:latin typeface="Eastman Pack Bold"/>
                <a:ea typeface="Eastman Pack Bold"/>
                <a:cs typeface="Eastman Pack Bold"/>
                <a:sym typeface="Eastman Pack Bold"/>
              </a:rPr>
              <a:t>MILEDEVS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175" y="3495675"/>
            <a:ext cx="8239125" cy="9257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645"/>
              </a:lnSpc>
            </a:pPr>
            <a:r>
              <a:rPr sz="2700" b="0">
                <a:solidFill>
                  <a:srgbClr val="020202"/>
                </a:solidFill>
                <a:latin typeface="Open Sauce"/>
                <a:ea typeface="Open Sauce"/>
                <a:cs typeface="Open Sauce"/>
                <a:sym typeface="Open Sauce"/>
              </a:rPr>
              <a:t>Shopify-агенція для брендів і партнерів. Будуємо і покращуємо магазини, які продають.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8700" y="4953000"/>
            <a:ext cx="3905250" cy="1524000"/>
          </a:xfrm>
          <a:prstGeom prst="roundRect">
            <a:avLst>
              <a:gd name="adj" fmla="val 125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5238750" y="4953000"/>
            <a:ext cx="3905250" cy="1524000"/>
          </a:xfrm>
          <a:prstGeom prst="roundRect">
            <a:avLst>
              <a:gd name="adj" fmla="val 125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1028700" y="6667500"/>
            <a:ext cx="3905250" cy="1524000"/>
          </a:xfrm>
          <a:prstGeom prst="roundRect">
            <a:avLst>
              <a:gd name="adj" fmla="val 125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238750" y="6667500"/>
            <a:ext cx="3905250" cy="1524000"/>
          </a:xfrm>
          <a:prstGeom prst="roundRect">
            <a:avLst>
              <a:gd name="adj" fmla="val 125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95400" y="5162550"/>
            <a:ext cx="719733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4500"/>
              </a:lnSpc>
            </a:pPr>
            <a:r>
              <a:rPr sz="3900" b="1" spc="-112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7+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5791200"/>
            <a:ext cx="34861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400"/>
              </a:lnSpc>
            </a:pPr>
            <a:r>
              <a:rPr sz="180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років на Shopify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05450" y="5162550"/>
            <a:ext cx="1325166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4500"/>
              </a:lnSpc>
            </a:pPr>
            <a:r>
              <a:rPr sz="3900" b="1" spc="-112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300+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05450" y="5791200"/>
            <a:ext cx="34861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400"/>
              </a:lnSpc>
            </a:pPr>
            <a:r>
              <a:rPr sz="180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магазинів для брендів США, Канади та Європи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5400" y="6877050"/>
            <a:ext cx="1890043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4500"/>
              </a:lnSpc>
            </a:pPr>
            <a:r>
              <a:rPr sz="3900" b="1" spc="-112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Shopify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5400" y="7505700"/>
            <a:ext cx="34861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400"/>
              </a:lnSpc>
            </a:pPr>
            <a:r>
              <a:rPr sz="180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Selected Partner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05450" y="6877050"/>
            <a:ext cx="2457822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4500"/>
              </a:lnSpc>
            </a:pPr>
            <a:r>
              <a:rPr sz="3900" b="1" spc="-112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Top Rated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05450" y="7505700"/>
            <a:ext cx="34861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400"/>
              </a:lnSpc>
            </a:pPr>
            <a:r>
              <a:rPr sz="180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на Upwork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8700" y="1028700"/>
            <a:ext cx="163449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7200"/>
              </a:lnSpc>
            </a:pPr>
            <a:r>
              <a:rPr sz="7200" b="1" spc="-633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Коротко про партнерство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8700" y="2247900"/>
            <a:ext cx="15354300" cy="4628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645"/>
              </a:lnSpc>
            </a:pPr>
            <a:r>
              <a:rPr sz="270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MileDevs робить Shopify-магазини для клієнтів агенцій. Ось як це працює для вас: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" y="3619500"/>
            <a:ext cx="5067300" cy="4191000"/>
          </a:xfrm>
          <a:prstGeom prst="roundRect">
            <a:avLst>
              <a:gd name="adj" fmla="val 5454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610350" y="3619500"/>
            <a:ext cx="5067300" cy="4191000"/>
          </a:xfrm>
          <a:prstGeom prst="roundRect">
            <a:avLst>
              <a:gd name="adj" fmla="val 5454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12192000" y="3619500"/>
            <a:ext cx="5067300" cy="4191000"/>
          </a:xfrm>
          <a:prstGeom prst="roundRect">
            <a:avLst>
              <a:gd name="adj" fmla="val 5454"/>
            </a:avLst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ight Arrow 6"/>
          <p:cNvSpPr/>
          <p:nvPr/>
        </p:nvSpPr>
        <p:spPr>
          <a:xfrm>
            <a:off x="6162675" y="5562600"/>
            <a:ext cx="381000" cy="304800"/>
          </a:xfrm>
          <a:prstGeom prst="rightArrow">
            <a:avLst>
              <a:gd name="adj1" fmla="val 40000"/>
              <a:gd name="adj2" fmla="val 80000"/>
            </a:avLst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ight Arrow 7"/>
          <p:cNvSpPr/>
          <p:nvPr/>
        </p:nvSpPr>
        <p:spPr>
          <a:xfrm>
            <a:off x="11744325" y="5562600"/>
            <a:ext cx="381000" cy="304800"/>
          </a:xfrm>
          <a:prstGeom prst="rightArrow">
            <a:avLst>
              <a:gd name="adj1" fmla="val 40000"/>
              <a:gd name="adj2" fmla="val 80000"/>
            </a:avLst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1409700" y="4000500"/>
            <a:ext cx="685800" cy="685800"/>
          </a:xfrm>
          <a:prstGeom prst="ellipse">
            <a:avLst/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295400" y="4000500"/>
            <a:ext cx="9144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520"/>
              </a:lnSpc>
            </a:pPr>
            <a:r>
              <a:rPr sz="210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6991350" y="4000500"/>
            <a:ext cx="685800" cy="685800"/>
          </a:xfrm>
          <a:prstGeom prst="ellipse">
            <a:avLst/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877050" y="4000500"/>
            <a:ext cx="9144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520"/>
              </a:lnSpc>
            </a:pPr>
            <a:r>
              <a:rPr sz="210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</a:t>
            </a:r>
          </a:p>
        </p:txBody>
      </p:sp>
      <p:sp>
        <p:nvSpPr>
          <p:cNvPr id="13" name="Oval 12"/>
          <p:cNvSpPr/>
          <p:nvPr/>
        </p:nvSpPr>
        <p:spPr>
          <a:xfrm>
            <a:off x="12573000" y="4000500"/>
            <a:ext cx="685800" cy="685800"/>
          </a:xfrm>
          <a:prstGeom prst="ellipse">
            <a:avLst/>
          </a:prstGeom>
          <a:solidFill>
            <a:srgbClr val="3A3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458700" y="4000500"/>
            <a:ext cx="9144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520"/>
              </a:lnSpc>
            </a:pPr>
            <a:r>
              <a:rPr sz="210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9700" y="5029200"/>
            <a:ext cx="44196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Ми робимо магазини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09700" y="6096000"/>
            <a:ext cx="441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000"/>
              </a:lnSpc>
            </a:pPr>
            <a:r>
              <a:rPr sz="2100" b="0">
                <a:solidFill>
                  <a:srgbClr val="333333"/>
                </a:solidFill>
                <a:latin typeface="Open Sauce"/>
                <a:ea typeface="Open Sauce"/>
                <a:cs typeface="Open Sauce"/>
                <a:sym typeface="Open Sauce"/>
              </a:rPr>
              <a:t>Shopify-магазини для ваших клієнтів: з нуля, редизайн, міграція, правки, швидкість і конверсія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1350" y="5029200"/>
            <a:ext cx="44196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Ви отримуєте 10%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1350" y="6096000"/>
            <a:ext cx="44196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000"/>
              </a:lnSpc>
            </a:pPr>
            <a:r>
              <a:rPr sz="2100" b="0">
                <a:solidFill>
                  <a:srgbClr val="333333"/>
                </a:solidFill>
                <a:latin typeface="Open Sauce"/>
                <a:ea typeface="Open Sauce"/>
                <a:cs typeface="Open Sauce"/>
                <a:sym typeface="Open Sauce"/>
              </a:rPr>
              <a:t>З кожного проєкту приведеного клієнта. Або працюємо під вашим брендом, і ціну ставите ви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573000" y="5029200"/>
            <a:ext cx="44196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Перший крок безкоштовний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73000" y="6096000"/>
            <a:ext cx="44196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000"/>
              </a:lnSpc>
            </a:pPr>
            <a:r>
              <a:rPr sz="2100" b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Передайте одного клієнта, і ми зробимо аудит його магазину без оплати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" y="8382000"/>
            <a:ext cx="163449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400"/>
              </a:lnSpc>
            </a:pPr>
            <a:r>
              <a:rPr sz="1800" b="0">
                <a:solidFill>
                  <a:srgbClr val="777777"/>
                </a:solidFill>
                <a:latin typeface="Open Sauce"/>
                <a:ea typeface="Open Sauce"/>
                <a:cs typeface="Open Sauce"/>
                <a:sym typeface="Open Sauce"/>
              </a:rPr>
              <a:t>Далі: хто ми, що робимо, кейси, формати співпраці й відповіді на часті питання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8700" y="1171575"/>
            <a:ext cx="9915525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7200"/>
              </a:lnSpc>
            </a:pPr>
            <a:r>
              <a:rPr sz="7200" b="1" spc="-633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Коли потрібне підсилення команди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8700" y="3295650"/>
            <a:ext cx="11306175" cy="9257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645"/>
              </a:lnSpc>
            </a:pPr>
            <a:r>
              <a:rPr sz="2700" b="0">
                <a:solidFill>
                  <a:srgbClr val="020202"/>
                </a:solidFill>
                <a:latin typeface="Open Sauce"/>
                <a:ea typeface="Open Sauce"/>
                <a:cs typeface="Open Sauce"/>
                <a:sym typeface="Open Sauce"/>
              </a:rPr>
              <a:t>Ми доповнюємо вашу експертизу розробкою та автоматизаціями. Клієнт лишається вашим.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" y="4953000"/>
            <a:ext cx="3829050" cy="3810000"/>
          </a:xfrm>
          <a:prstGeom prst="roundRect">
            <a:avLst>
              <a:gd name="adj" fmla="val 60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5162550" y="4953000"/>
            <a:ext cx="3829050" cy="3810000"/>
          </a:xfrm>
          <a:prstGeom prst="roundRect">
            <a:avLst>
              <a:gd name="adj" fmla="val 60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9296400" y="4953000"/>
            <a:ext cx="3829050" cy="3810000"/>
          </a:xfrm>
          <a:prstGeom prst="roundRect">
            <a:avLst>
              <a:gd name="adj" fmla="val 60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13430250" y="4953000"/>
            <a:ext cx="3829050" cy="3810000"/>
          </a:xfrm>
          <a:prstGeom prst="roundRect">
            <a:avLst>
              <a:gd name="adj" fmla="val 60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1371600" y="5295900"/>
            <a:ext cx="685800" cy="685800"/>
          </a:xfrm>
          <a:prstGeom prst="ellipse">
            <a:avLst/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57300" y="5295900"/>
            <a:ext cx="9144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520"/>
              </a:lnSpc>
            </a:pPr>
            <a:r>
              <a:rPr sz="210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5505450" y="5295900"/>
            <a:ext cx="685800" cy="685800"/>
          </a:xfrm>
          <a:prstGeom prst="ellipse">
            <a:avLst/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391150" y="5295900"/>
            <a:ext cx="9144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520"/>
              </a:lnSpc>
            </a:pPr>
            <a:r>
              <a:rPr sz="210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9639300" y="5295900"/>
            <a:ext cx="685800" cy="685800"/>
          </a:xfrm>
          <a:prstGeom prst="ellipse">
            <a:avLst/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525000" y="5295900"/>
            <a:ext cx="9144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520"/>
              </a:lnSpc>
            </a:pPr>
            <a:r>
              <a:rPr sz="210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</a:t>
            </a:r>
          </a:p>
        </p:txBody>
      </p:sp>
      <p:sp>
        <p:nvSpPr>
          <p:cNvPr id="14" name="Oval 13"/>
          <p:cNvSpPr/>
          <p:nvPr/>
        </p:nvSpPr>
        <p:spPr>
          <a:xfrm>
            <a:off x="13773150" y="5295900"/>
            <a:ext cx="685800" cy="685800"/>
          </a:xfrm>
          <a:prstGeom prst="ellipse">
            <a:avLst/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3658850" y="5295900"/>
            <a:ext cx="9144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520"/>
              </a:lnSpc>
            </a:pPr>
            <a:r>
              <a:rPr sz="210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6286500"/>
            <a:ext cx="3257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Новий запит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6819900"/>
            <a:ext cx="3257550" cy="1000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Клієнт просить Shopify-магазин, а розробника у вашій команді немає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05450" y="6286500"/>
            <a:ext cx="3257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Готовий дизайн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05450" y="6819900"/>
            <a:ext cx="32575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Дизайн і маркетинг є, треба втілити їх у магазині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39300" y="6286500"/>
            <a:ext cx="3257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Супровід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39300" y="6819900"/>
            <a:ext cx="3257550" cy="1000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Магазину потрібні регулярні правки й покращення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73150" y="6286500"/>
            <a:ext cx="3257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Нова задача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73150" y="6819900"/>
            <a:ext cx="3257550" cy="1000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Інтеграції, автоматизації чи міграція, що виходять за межі вашої команди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8700" y="1028700"/>
            <a:ext cx="163449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7200"/>
              </a:lnSpc>
            </a:pPr>
            <a:r>
              <a:rPr sz="7200" b="1" spc="-633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З ким ми партнеримося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8700" y="2247900"/>
            <a:ext cx="15354300" cy="4628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645"/>
              </a:lnSpc>
            </a:pPr>
            <a:r>
              <a:rPr sz="270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Агенції, у яких є клієнти з інтернет-магазинами, але немає своєї Shopify-розробки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" y="3429000"/>
            <a:ext cx="7962900" cy="2762250"/>
          </a:xfrm>
          <a:prstGeom prst="roundRect">
            <a:avLst>
              <a:gd name="adj" fmla="val 8275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9296400" y="3429000"/>
            <a:ext cx="7962900" cy="2762250"/>
          </a:xfrm>
          <a:prstGeom prst="roundRect">
            <a:avLst>
              <a:gd name="adj" fmla="val 8275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1028700" y="6477000"/>
            <a:ext cx="7962900" cy="2762250"/>
          </a:xfrm>
          <a:prstGeom prst="roundRect">
            <a:avLst>
              <a:gd name="adj" fmla="val 8275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9296400" y="6477000"/>
            <a:ext cx="7962900" cy="2762250"/>
          </a:xfrm>
          <a:prstGeom prst="roundRect">
            <a:avLst>
              <a:gd name="adj" fmla="val 8275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409700" y="3771900"/>
            <a:ext cx="73152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SEO- і PPC-агенції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9700" y="4419600"/>
            <a:ext cx="7315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000"/>
              </a:lnSpc>
            </a:pPr>
            <a:r>
              <a:rPr sz="2100" b="1">
                <a:solidFill>
                  <a:srgbClr val="88888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Ви:</a:t>
            </a:r>
            <a:r>
              <a:rPr sz="2100" b="0">
                <a:solidFill>
                  <a:srgbClr val="333333"/>
                </a:solidFill>
                <a:latin typeface="Open Sauce"/>
                <a:ea typeface="Open Sauce"/>
                <a:cs typeface="Open Sauce"/>
                <a:sym typeface="Open Sauce"/>
              </a:rPr>
              <a:t> знаходите, що виправити на сайті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9700" y="4991100"/>
            <a:ext cx="73152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000"/>
              </a:lnSpc>
            </a:pPr>
            <a:r>
              <a:rPr sz="2100" b="1">
                <a:solidFill>
                  <a:srgbClr val="33333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Ми:</a:t>
            </a:r>
            <a:r>
              <a:rPr sz="2100" b="0">
                <a:solidFill>
                  <a:srgbClr val="333333"/>
                </a:solidFill>
                <a:latin typeface="Open Sauce"/>
                <a:ea typeface="Open Sauce"/>
                <a:cs typeface="Open Sauce"/>
                <a:sym typeface="Open Sauce"/>
              </a:rPr>
              <a:t> впроваджуємо це в темі Shopify: швидкість, розмітка, лендинги, трекінг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77400" y="3771900"/>
            <a:ext cx="73152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Маркетингові та SMM-агенції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77400" y="4419600"/>
            <a:ext cx="7315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000"/>
              </a:lnSpc>
            </a:pPr>
            <a:r>
              <a:rPr sz="2100" b="1">
                <a:solidFill>
                  <a:srgbClr val="88888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Ви:</a:t>
            </a:r>
            <a:r>
              <a:rPr sz="2100" b="0">
                <a:solidFill>
                  <a:srgbClr val="333333"/>
                </a:solidFill>
                <a:latin typeface="Open Sauce"/>
                <a:ea typeface="Open Sauce"/>
                <a:cs typeface="Open Sauce"/>
                <a:sym typeface="Open Sauce"/>
              </a:rPr>
              <a:t> приводите трафік на сайт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77400" y="4991100"/>
            <a:ext cx="7315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000"/>
              </a:lnSpc>
            </a:pPr>
            <a:r>
              <a:rPr sz="2100" b="1">
                <a:solidFill>
                  <a:srgbClr val="33333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Ми:</a:t>
            </a:r>
            <a:r>
              <a:rPr sz="2100" b="0">
                <a:solidFill>
                  <a:srgbClr val="333333"/>
                </a:solidFill>
                <a:latin typeface="Open Sauce"/>
                <a:ea typeface="Open Sauce"/>
                <a:cs typeface="Open Sauce"/>
                <a:sym typeface="Open Sauce"/>
              </a:rPr>
              <a:t> робимо магазин, на якому зручно купити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9700" y="6819900"/>
            <a:ext cx="73152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Дизайн-студії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9700" y="7467600"/>
            <a:ext cx="7315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000"/>
              </a:lnSpc>
            </a:pPr>
            <a:r>
              <a:rPr sz="2100" b="1">
                <a:solidFill>
                  <a:srgbClr val="88888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Ви:</a:t>
            </a:r>
            <a:r>
              <a:rPr sz="2100" b="0">
                <a:solidFill>
                  <a:srgbClr val="333333"/>
                </a:solidFill>
                <a:latin typeface="Open Sauce"/>
                <a:ea typeface="Open Sauce"/>
                <a:cs typeface="Open Sauce"/>
                <a:sym typeface="Open Sauce"/>
              </a:rPr>
              <a:t> малюєте дизайн магазину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09700" y="8039100"/>
            <a:ext cx="7315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000"/>
              </a:lnSpc>
            </a:pPr>
            <a:r>
              <a:rPr sz="2100" b="1">
                <a:solidFill>
                  <a:srgbClr val="33333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Ми:</a:t>
            </a:r>
            <a:r>
              <a:rPr sz="2100" b="0">
                <a:solidFill>
                  <a:srgbClr val="333333"/>
                </a:solidFill>
                <a:latin typeface="Open Sauce"/>
                <a:ea typeface="Open Sauce"/>
                <a:cs typeface="Open Sauce"/>
                <a:sym typeface="Open Sauce"/>
              </a:rPr>
              <a:t> верстаємо його на Shopify за вашим макетом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77400" y="6819900"/>
            <a:ext cx="73152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Агенції маркетплейсів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77400" y="7467600"/>
            <a:ext cx="7315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000"/>
              </a:lnSpc>
            </a:pPr>
            <a:r>
              <a:rPr sz="2100" b="1">
                <a:solidFill>
                  <a:srgbClr val="88888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Ви:</a:t>
            </a:r>
            <a:r>
              <a:rPr sz="2100" b="0">
                <a:solidFill>
                  <a:srgbClr val="333333"/>
                </a:solidFill>
                <a:latin typeface="Open Sauce"/>
                <a:ea typeface="Open Sauce"/>
                <a:cs typeface="Open Sauce"/>
                <a:sym typeface="Open Sauce"/>
              </a:rPr>
              <a:t> ведете продажі на Amazon чи TikTok Shop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77400" y="8039100"/>
            <a:ext cx="7315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000"/>
              </a:lnSpc>
            </a:pPr>
            <a:r>
              <a:rPr sz="2100" b="1">
                <a:solidFill>
                  <a:srgbClr val="33333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Ми:</a:t>
            </a:r>
            <a:r>
              <a:rPr sz="2100" b="0">
                <a:solidFill>
                  <a:srgbClr val="333333"/>
                </a:solidFill>
                <a:latin typeface="Open Sauce"/>
                <a:ea typeface="Open Sauce"/>
                <a:cs typeface="Open Sauce"/>
                <a:sym typeface="Open Sauce"/>
              </a:rPr>
              <a:t> будуємо клієнту власний магазин на Shopify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8700" y="1028700"/>
            <a:ext cx="163449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7200"/>
              </a:lnSpc>
            </a:pPr>
            <a:r>
              <a:rPr sz="7200" b="1" spc="-633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За магазином стоїть команда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8700" y="2247900"/>
            <a:ext cx="14973300" cy="9257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645"/>
              </a:lnSpc>
            </a:pPr>
            <a:r>
              <a:rPr sz="270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У команді дизайнери, розробники, спеціалісти з інтеграцій і тестувальники. Кожен відповідає за свою зону і здає якісний результат.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" y="3905250"/>
            <a:ext cx="3600450" cy="3048000"/>
          </a:xfrm>
          <a:prstGeom prst="roundRect">
            <a:avLst>
              <a:gd name="adj" fmla="val 75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5238750" y="3905250"/>
            <a:ext cx="3600450" cy="3048000"/>
          </a:xfrm>
          <a:prstGeom prst="roundRect">
            <a:avLst>
              <a:gd name="adj" fmla="val 75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9448800" y="3905250"/>
            <a:ext cx="3600450" cy="3048000"/>
          </a:xfrm>
          <a:prstGeom prst="roundRect">
            <a:avLst>
              <a:gd name="adj" fmla="val 75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13658850" y="3905250"/>
            <a:ext cx="3600450" cy="3048000"/>
          </a:xfrm>
          <a:prstGeom prst="roundRect">
            <a:avLst>
              <a:gd name="adj" fmla="val 75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ight Arrow 7"/>
          <p:cNvSpPr/>
          <p:nvPr/>
        </p:nvSpPr>
        <p:spPr>
          <a:xfrm>
            <a:off x="4743450" y="5276850"/>
            <a:ext cx="381000" cy="304800"/>
          </a:xfrm>
          <a:prstGeom prst="rightArrow">
            <a:avLst>
              <a:gd name="adj1" fmla="val 40000"/>
              <a:gd name="adj2" fmla="val 80000"/>
            </a:avLst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ight Arrow 8"/>
          <p:cNvSpPr/>
          <p:nvPr/>
        </p:nvSpPr>
        <p:spPr>
          <a:xfrm>
            <a:off x="8953500" y="5276850"/>
            <a:ext cx="381000" cy="304800"/>
          </a:xfrm>
          <a:prstGeom prst="rightArrow">
            <a:avLst>
              <a:gd name="adj1" fmla="val 40000"/>
              <a:gd name="adj2" fmla="val 80000"/>
            </a:avLst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ight Arrow 9"/>
          <p:cNvSpPr/>
          <p:nvPr/>
        </p:nvSpPr>
        <p:spPr>
          <a:xfrm>
            <a:off x="13163550" y="5276850"/>
            <a:ext cx="381000" cy="304800"/>
          </a:xfrm>
          <a:prstGeom prst="rightArrow">
            <a:avLst>
              <a:gd name="adj1" fmla="val 40000"/>
              <a:gd name="adj2" fmla="val 80000"/>
            </a:avLst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1333500" y="4210050"/>
            <a:ext cx="609600" cy="609600"/>
          </a:xfrm>
          <a:prstGeom prst="ellipse">
            <a:avLst/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19200" y="4210050"/>
            <a:ext cx="8382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40"/>
              </a:lnSpc>
            </a:pPr>
            <a:r>
              <a:rPr sz="195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5543550" y="4210050"/>
            <a:ext cx="609600" cy="609600"/>
          </a:xfrm>
          <a:prstGeom prst="ellipse">
            <a:avLst/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429250" y="4210050"/>
            <a:ext cx="8382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40"/>
              </a:lnSpc>
            </a:pPr>
            <a:r>
              <a:rPr sz="195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9753600" y="4210050"/>
            <a:ext cx="609600" cy="609600"/>
          </a:xfrm>
          <a:prstGeom prst="ellipse">
            <a:avLst/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639300" y="4210050"/>
            <a:ext cx="8382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40"/>
              </a:lnSpc>
            </a:pPr>
            <a:r>
              <a:rPr sz="195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</a:t>
            </a:r>
          </a:p>
        </p:txBody>
      </p:sp>
      <p:sp>
        <p:nvSpPr>
          <p:cNvPr id="17" name="Oval 16"/>
          <p:cNvSpPr/>
          <p:nvPr/>
        </p:nvSpPr>
        <p:spPr>
          <a:xfrm>
            <a:off x="13963650" y="4210050"/>
            <a:ext cx="609600" cy="609600"/>
          </a:xfrm>
          <a:prstGeom prst="ellipse">
            <a:avLst/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3849350" y="4210050"/>
            <a:ext cx="8382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40"/>
              </a:lnSpc>
            </a:pPr>
            <a:r>
              <a:rPr sz="195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3500" y="5086350"/>
            <a:ext cx="31623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Дизайн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3500" y="5600700"/>
            <a:ext cx="3105150" cy="1000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Структура й інтерфейс під бренд і асортимент клієнта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43550" y="5086350"/>
            <a:ext cx="31623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Розробка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43550" y="5600700"/>
            <a:ext cx="3105150" cy="1000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Кастомні теми й секції Shopify, швидкість і чистий код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53600" y="5086350"/>
            <a:ext cx="31623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Інтеграції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53600" y="5600700"/>
            <a:ext cx="3105150" cy="1000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Застосунки, CRM, автоматизації та рішення для Shopify Plus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963650" y="5086350"/>
            <a:ext cx="31623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Тестування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963650" y="5600700"/>
            <a:ext cx="3105150" cy="1000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Перевірка кожної збірки на різних пристроях до запуску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8700" y="7334250"/>
            <a:ext cx="16230600" cy="1428750"/>
          </a:xfrm>
          <a:prstGeom prst="roundRect">
            <a:avLst>
              <a:gd name="adj" fmla="val 16000"/>
            </a:avLst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409700" y="7677150"/>
            <a:ext cx="50673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Ведення проєкту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09700" y="8153400"/>
            <a:ext cx="50673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100"/>
              </a:lnSpc>
            </a:pPr>
            <a:r>
              <a:rPr sz="1650" b="0">
                <a:solidFill>
                  <a:srgbClr val="AAAAAA"/>
                </a:solidFill>
                <a:latin typeface="Open Sauce"/>
                <a:ea typeface="Open Sauce"/>
                <a:cs typeface="Open Sauce"/>
                <a:sym typeface="Open Sauce"/>
              </a:rPr>
              <a:t>На кожному етапі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67500" y="7696200"/>
            <a:ext cx="1032510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100" b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Проєкт-менеджер тримає строки, комунікацію і звіти для вас, щоб ви завжди знали, на якому етапі проєкт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browser_carb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0" y="381000"/>
            <a:ext cx="7620000" cy="5334000"/>
          </a:xfrm>
          <a:prstGeom prst="rect">
            <a:avLst/>
          </a:prstGeom>
        </p:spPr>
      </p:pic>
      <p:pic>
        <p:nvPicPr>
          <p:cNvPr id="4" name="Picture 3" descr="phone_carb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21000" y="2476500"/>
            <a:ext cx="2667000" cy="47291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28700" y="1171575"/>
            <a:ext cx="634365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7200"/>
              </a:lnSpc>
            </a:pPr>
            <a:r>
              <a:rPr sz="7200" b="1" spc="-633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Магазин під ваш спосіб продавати</a:t>
            </a:r>
          </a:p>
        </p:txBody>
      </p:sp>
      <p:sp>
        <p:nvSpPr>
          <p:cNvPr id="6" name="Oval 5"/>
          <p:cNvSpPr/>
          <p:nvPr/>
        </p:nvSpPr>
        <p:spPr>
          <a:xfrm>
            <a:off x="1028700" y="4638675"/>
            <a:ext cx="95250" cy="95250"/>
          </a:xfrm>
          <a:prstGeom prst="ellipse">
            <a:avLst/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333500" y="4476750"/>
            <a:ext cx="74485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10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Кастомна розробка</a:t>
            </a:r>
            <a:r>
              <a:rPr sz="2100" b="0">
                <a:solidFill>
                  <a:srgbClr val="020202"/>
                </a:solidFill>
                <a:latin typeface="Open Sauce"/>
                <a:ea typeface="Open Sauce"/>
                <a:cs typeface="Open Sauce"/>
                <a:sym typeface="Open Sauce"/>
              </a:rPr>
              <a:t> під бренд і асортимент</a:t>
            </a:r>
          </a:p>
        </p:txBody>
      </p:sp>
      <p:sp>
        <p:nvSpPr>
          <p:cNvPr id="8" name="Oval 7"/>
          <p:cNvSpPr/>
          <p:nvPr/>
        </p:nvSpPr>
        <p:spPr>
          <a:xfrm>
            <a:off x="1028700" y="5210175"/>
            <a:ext cx="95250" cy="95250"/>
          </a:xfrm>
          <a:prstGeom prst="ellipse">
            <a:avLst/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33500" y="5048250"/>
            <a:ext cx="744855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10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Міграція</a:t>
            </a:r>
            <a:r>
              <a:rPr sz="2100" b="0">
                <a:solidFill>
                  <a:srgbClr val="020202"/>
                </a:solidFill>
                <a:latin typeface="Open Sauce"/>
                <a:ea typeface="Open Sauce"/>
                <a:cs typeface="Open Sauce"/>
                <a:sym typeface="Open Sauce"/>
              </a:rPr>
              <a:t> з WordPress та інших платформ без втрати товарів, клієнтів і замовлень</a:t>
            </a:r>
          </a:p>
        </p:txBody>
      </p:sp>
      <p:sp>
        <p:nvSpPr>
          <p:cNvPr id="10" name="Oval 9"/>
          <p:cNvSpPr/>
          <p:nvPr/>
        </p:nvSpPr>
        <p:spPr>
          <a:xfrm>
            <a:off x="1028700" y="6143625"/>
            <a:ext cx="95250" cy="95250"/>
          </a:xfrm>
          <a:prstGeom prst="ellipse">
            <a:avLst/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333500" y="5981700"/>
            <a:ext cx="744855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10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Свій функціонал:</a:t>
            </a:r>
            <a:r>
              <a:rPr sz="2100" b="0">
                <a:solidFill>
                  <a:srgbClr val="020202"/>
                </a:solidFill>
                <a:latin typeface="Open Sauce"/>
                <a:ea typeface="Open Sauce"/>
                <a:cs typeface="Open Sauce"/>
                <a:sym typeface="Open Sauce"/>
              </a:rPr>
              <a:t> застосунки й інтеграції під процеси клієнта</a:t>
            </a:r>
          </a:p>
        </p:txBody>
      </p:sp>
      <p:sp>
        <p:nvSpPr>
          <p:cNvPr id="12" name="Oval 11"/>
          <p:cNvSpPr/>
          <p:nvPr/>
        </p:nvSpPr>
        <p:spPr>
          <a:xfrm>
            <a:off x="1028700" y="7077075"/>
            <a:ext cx="95250" cy="95250"/>
          </a:xfrm>
          <a:prstGeom prst="ellipse">
            <a:avLst/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333500" y="6915150"/>
            <a:ext cx="74485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10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Мультимовність</a:t>
            </a:r>
            <a:r>
              <a:rPr sz="2100" b="0">
                <a:solidFill>
                  <a:srgbClr val="020202"/>
                </a:solidFill>
                <a:latin typeface="Open Sauce"/>
                <a:ea typeface="Open Sauce"/>
                <a:cs typeface="Open Sauce"/>
                <a:sym typeface="Open Sauce"/>
              </a:rPr>
              <a:t> для нових ринків</a:t>
            </a:r>
          </a:p>
        </p:txBody>
      </p:sp>
      <p:sp>
        <p:nvSpPr>
          <p:cNvPr id="14" name="Oval 13"/>
          <p:cNvSpPr/>
          <p:nvPr/>
        </p:nvSpPr>
        <p:spPr>
          <a:xfrm>
            <a:off x="1028700" y="7648575"/>
            <a:ext cx="95250" cy="95250"/>
          </a:xfrm>
          <a:prstGeom prst="ellipse">
            <a:avLst/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333500" y="7486650"/>
            <a:ext cx="74485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10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WordPress</a:t>
            </a:r>
            <a:r>
              <a:rPr sz="2100" b="0">
                <a:solidFill>
                  <a:srgbClr val="020202"/>
                </a:solidFill>
                <a:latin typeface="Open Sauce"/>
                <a:ea typeface="Open Sauce"/>
                <a:cs typeface="Open Sauce"/>
                <a:sym typeface="Open Sauce"/>
              </a:rPr>
              <a:t>, якщо так краще для клієнта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06000" y="7524750"/>
            <a:ext cx="58293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2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Скільки часу займає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06000" y="8153400"/>
            <a:ext cx="27813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400"/>
              </a:lnSpc>
            </a:pPr>
            <a:r>
              <a:rPr sz="19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Магазин з нуля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573000" y="8210550"/>
            <a:ext cx="3810000" cy="209550"/>
          </a:xfrm>
          <a:prstGeom prst="roundRect">
            <a:avLst>
              <a:gd name="adj" fmla="val 50000"/>
            </a:avLst>
          </a:prstGeom>
          <a:solidFill>
            <a:srgbClr val="E0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12573000" y="8210550"/>
            <a:ext cx="1905000" cy="209550"/>
          </a:xfrm>
          <a:prstGeom prst="roundRect">
            <a:avLst>
              <a:gd name="adj" fmla="val 50000"/>
            </a:avLst>
          </a:prstGeom>
          <a:solidFill>
            <a:srgbClr val="9A9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14287500" y="8210550"/>
            <a:ext cx="2095500" cy="209550"/>
          </a:xfrm>
          <a:prstGeom prst="roundRect">
            <a:avLst>
              <a:gd name="adj" fmla="val 50000"/>
            </a:avLst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6573500" y="8153400"/>
            <a:ext cx="16383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400"/>
              </a:lnSpc>
            </a:pPr>
            <a:r>
              <a:rPr sz="180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4–8 тижнів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06000" y="8724900"/>
            <a:ext cx="27813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400"/>
              </a:lnSpc>
            </a:pPr>
            <a:r>
              <a:rPr sz="19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Редизайн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573000" y="8782050"/>
            <a:ext cx="3810000" cy="209550"/>
          </a:xfrm>
          <a:prstGeom prst="roundRect">
            <a:avLst>
              <a:gd name="adj" fmla="val 50000"/>
            </a:avLst>
          </a:prstGeom>
          <a:solidFill>
            <a:srgbClr val="E0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12573000" y="8782050"/>
            <a:ext cx="952500" cy="209550"/>
          </a:xfrm>
          <a:prstGeom prst="roundRect">
            <a:avLst>
              <a:gd name="adj" fmla="val 50000"/>
            </a:avLst>
          </a:prstGeom>
          <a:solidFill>
            <a:srgbClr val="9A9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13335000" y="8782050"/>
            <a:ext cx="1143000" cy="209550"/>
          </a:xfrm>
          <a:prstGeom prst="roundRect">
            <a:avLst>
              <a:gd name="adj" fmla="val 50000"/>
            </a:avLst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6573500" y="8724900"/>
            <a:ext cx="16383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400"/>
              </a:lnSpc>
            </a:pPr>
            <a:r>
              <a:rPr sz="180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2–4 тижні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06000" y="9296400"/>
            <a:ext cx="27813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400"/>
              </a:lnSpc>
            </a:pPr>
            <a:r>
              <a:rPr sz="19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Дрібні правки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2573000" y="9353550"/>
            <a:ext cx="3810000" cy="209550"/>
          </a:xfrm>
          <a:prstGeom prst="roundRect">
            <a:avLst>
              <a:gd name="adj" fmla="val 50000"/>
            </a:avLst>
          </a:prstGeom>
          <a:solidFill>
            <a:srgbClr val="E0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12573000" y="9353550"/>
            <a:ext cx="247650" cy="209550"/>
          </a:xfrm>
          <a:prstGeom prst="roundRect">
            <a:avLst>
              <a:gd name="adj" fmla="val 50000"/>
            </a:avLst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6573500" y="9296400"/>
            <a:ext cx="16383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400"/>
              </a:lnSpc>
            </a:pPr>
            <a:r>
              <a:rPr sz="180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24–72 год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53125" cy="10287000"/>
          </a:xfrm>
          <a:prstGeom prst="rect">
            <a:avLst/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phone_rinfi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050" y="990600"/>
            <a:ext cx="4381500" cy="830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48450" y="1790700"/>
            <a:ext cx="1072515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7200"/>
              </a:lnSpc>
            </a:pPr>
            <a:r>
              <a:rPr sz="7200" b="1" spc="-633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Менше перешкод на шляху до покупки</a:t>
            </a:r>
          </a:p>
        </p:txBody>
      </p:sp>
      <p:sp>
        <p:nvSpPr>
          <p:cNvPr id="5" name="Pentagon 4"/>
          <p:cNvSpPr/>
          <p:nvPr/>
        </p:nvSpPr>
        <p:spPr>
          <a:xfrm>
            <a:off x="6648450" y="4095750"/>
            <a:ext cx="2209800" cy="838200"/>
          </a:xfrm>
          <a:prstGeom prst="homePlate">
            <a:avLst>
              <a:gd name="adj" fmla="val 34090"/>
            </a:avLst>
          </a:prstGeom>
          <a:solidFill>
            <a:srgbClr val="E3E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534150" y="4095750"/>
            <a:ext cx="2438400" cy="838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40"/>
              </a:lnSpc>
            </a:pPr>
            <a:r>
              <a:rPr sz="19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Пошук</a:t>
            </a:r>
          </a:p>
        </p:txBody>
      </p:sp>
      <p:sp>
        <p:nvSpPr>
          <p:cNvPr id="7" name="Chevron 6"/>
          <p:cNvSpPr/>
          <p:nvPr/>
        </p:nvSpPr>
        <p:spPr>
          <a:xfrm>
            <a:off x="8743950" y="4095750"/>
            <a:ext cx="2209800" cy="838200"/>
          </a:xfrm>
          <a:prstGeom prst="chevron">
            <a:avLst>
              <a:gd name="adj" fmla="val 34090"/>
            </a:avLst>
          </a:prstGeom>
          <a:solidFill>
            <a:srgbClr val="BEBE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39200" y="4095750"/>
            <a:ext cx="2228850" cy="838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40"/>
              </a:lnSpc>
            </a:pPr>
            <a:r>
              <a:rPr sz="19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Товар</a:t>
            </a:r>
          </a:p>
        </p:txBody>
      </p:sp>
      <p:sp>
        <p:nvSpPr>
          <p:cNvPr id="9" name="Chevron 8"/>
          <p:cNvSpPr/>
          <p:nvPr/>
        </p:nvSpPr>
        <p:spPr>
          <a:xfrm>
            <a:off x="10839450" y="4095750"/>
            <a:ext cx="2209800" cy="838200"/>
          </a:xfrm>
          <a:prstGeom prst="chevron">
            <a:avLst>
              <a:gd name="adj" fmla="val 34090"/>
            </a:avLst>
          </a:prstGeom>
          <a:solidFill>
            <a:srgbClr val="8A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934700" y="4095750"/>
            <a:ext cx="2228850" cy="838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40"/>
              </a:lnSpc>
            </a:pPr>
            <a:r>
              <a:rPr sz="195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Кошик</a:t>
            </a:r>
          </a:p>
        </p:txBody>
      </p:sp>
      <p:sp>
        <p:nvSpPr>
          <p:cNvPr id="11" name="Chevron 10"/>
          <p:cNvSpPr/>
          <p:nvPr/>
        </p:nvSpPr>
        <p:spPr>
          <a:xfrm>
            <a:off x="12934950" y="4095750"/>
            <a:ext cx="2209800" cy="838200"/>
          </a:xfrm>
          <a:prstGeom prst="chevron">
            <a:avLst>
              <a:gd name="adj" fmla="val 34090"/>
            </a:avLst>
          </a:prstGeom>
          <a:solidFill>
            <a:srgbClr val="4A4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030200" y="4095750"/>
            <a:ext cx="2228850" cy="838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40"/>
              </a:lnSpc>
            </a:pPr>
            <a:r>
              <a:rPr sz="195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Чекаут</a:t>
            </a:r>
          </a:p>
        </p:txBody>
      </p:sp>
      <p:sp>
        <p:nvSpPr>
          <p:cNvPr id="13" name="Chevron 12"/>
          <p:cNvSpPr/>
          <p:nvPr/>
        </p:nvSpPr>
        <p:spPr>
          <a:xfrm>
            <a:off x="15030450" y="4095750"/>
            <a:ext cx="2228850" cy="838200"/>
          </a:xfrm>
          <a:prstGeom prst="chevron">
            <a:avLst>
              <a:gd name="adj" fmla="val 34090"/>
            </a:avLst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5125700" y="4095750"/>
            <a:ext cx="2247900" cy="838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40"/>
              </a:lnSpc>
            </a:pPr>
            <a:r>
              <a:rPr sz="195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Оплата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8450" y="5619750"/>
            <a:ext cx="107251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2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CRO та UX/UI-аудит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8450" y="6038850"/>
            <a:ext cx="1072515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Знаходимо, де магазин втрачає покупця, від пошуку товару до оплати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48450" y="6572250"/>
            <a:ext cx="10610850" cy="19050"/>
          </a:xfrm>
          <a:prstGeom prst="rect">
            <a:avLst/>
          </a:prstGeom>
          <a:solidFill>
            <a:srgbClr val="E0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648450" y="6762750"/>
            <a:ext cx="107251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2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Мобільна версія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8450" y="7181850"/>
            <a:ext cx="1072515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Сторінки товару, навігація та чекаут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48450" y="7715250"/>
            <a:ext cx="10610850" cy="19050"/>
          </a:xfrm>
          <a:prstGeom prst="rect">
            <a:avLst/>
          </a:prstGeom>
          <a:solidFill>
            <a:srgbClr val="E0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648450" y="7905750"/>
            <a:ext cx="107251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2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Швидкість завантаження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48450" y="8324850"/>
            <a:ext cx="1072515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Напряму впливає на продажі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48450" y="8858250"/>
            <a:ext cx="10610850" cy="19050"/>
          </a:xfrm>
          <a:prstGeom prst="rect">
            <a:avLst/>
          </a:prstGeom>
          <a:solidFill>
            <a:srgbClr val="E0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648450" y="9048750"/>
            <a:ext cx="107251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2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Функції під нішу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48450" y="9467850"/>
            <a:ext cx="1072515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На основі аналізу ніші й конкурентів: 3D і огляд товару на 360°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8700" y="1171575"/>
            <a:ext cx="607695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7200"/>
              </a:lnSpc>
            </a:pPr>
            <a:r>
              <a:rPr sz="7200" b="1" spc="-633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Менше ручної роботи після кожної заявки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96250" y="1428750"/>
            <a:ext cx="86868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2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Що підключаємо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96250" y="1981200"/>
            <a:ext cx="2381250" cy="685800"/>
          </a:xfrm>
          <a:prstGeom prst="roundRect">
            <a:avLst>
              <a:gd name="adj" fmla="val 500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981950" y="1981200"/>
            <a:ext cx="260985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40"/>
              </a:lnSpc>
            </a:pPr>
            <a:r>
              <a:rPr sz="19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GoHighLevel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68000" y="1981200"/>
            <a:ext cx="2095500" cy="685800"/>
          </a:xfrm>
          <a:prstGeom prst="roundRect">
            <a:avLst>
              <a:gd name="adj" fmla="val 500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553700" y="1981200"/>
            <a:ext cx="23241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40"/>
              </a:lnSpc>
            </a:pPr>
            <a:r>
              <a:rPr sz="19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Чат-боти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954000" y="1981200"/>
            <a:ext cx="4305300" cy="685800"/>
          </a:xfrm>
          <a:prstGeom prst="roundRect">
            <a:avLst>
              <a:gd name="adj" fmla="val 500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839700" y="1981200"/>
            <a:ext cx="45339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40"/>
              </a:lnSpc>
            </a:pPr>
            <a:r>
              <a:rPr sz="19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Інтеграції сайту з CRM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8700" y="5143500"/>
            <a:ext cx="2781300" cy="2762250"/>
          </a:xfrm>
          <a:prstGeom prst="roundRect">
            <a:avLst>
              <a:gd name="adj" fmla="val 8275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4391025" y="5143500"/>
            <a:ext cx="2781300" cy="2762250"/>
          </a:xfrm>
          <a:prstGeom prst="roundRect">
            <a:avLst>
              <a:gd name="adj" fmla="val 8275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7753350" y="5143500"/>
            <a:ext cx="2781300" cy="2762250"/>
          </a:xfrm>
          <a:prstGeom prst="roundRect">
            <a:avLst>
              <a:gd name="adj" fmla="val 8275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11115675" y="5143500"/>
            <a:ext cx="2781300" cy="2762250"/>
          </a:xfrm>
          <a:prstGeom prst="roundRect">
            <a:avLst>
              <a:gd name="adj" fmla="val 8275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14478000" y="5143500"/>
            <a:ext cx="2781300" cy="2762250"/>
          </a:xfrm>
          <a:prstGeom prst="roundRect">
            <a:avLst>
              <a:gd name="adj" fmla="val 8275"/>
            </a:avLst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ight Arrow 14"/>
          <p:cNvSpPr/>
          <p:nvPr/>
        </p:nvSpPr>
        <p:spPr>
          <a:xfrm>
            <a:off x="3905250" y="6334125"/>
            <a:ext cx="390525" cy="381000"/>
          </a:xfrm>
          <a:prstGeom prst="rightArrow">
            <a:avLst>
              <a:gd name="adj1" fmla="val 40000"/>
              <a:gd name="adj2" fmla="val 80000"/>
            </a:avLst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ight Arrow 15"/>
          <p:cNvSpPr/>
          <p:nvPr/>
        </p:nvSpPr>
        <p:spPr>
          <a:xfrm>
            <a:off x="7267575" y="6334125"/>
            <a:ext cx="390525" cy="381000"/>
          </a:xfrm>
          <a:prstGeom prst="rightArrow">
            <a:avLst>
              <a:gd name="adj1" fmla="val 40000"/>
              <a:gd name="adj2" fmla="val 80000"/>
            </a:avLst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ight Arrow 16"/>
          <p:cNvSpPr/>
          <p:nvPr/>
        </p:nvSpPr>
        <p:spPr>
          <a:xfrm>
            <a:off x="10629900" y="6334125"/>
            <a:ext cx="390525" cy="381000"/>
          </a:xfrm>
          <a:prstGeom prst="rightArrow">
            <a:avLst>
              <a:gd name="adj1" fmla="val 40000"/>
              <a:gd name="adj2" fmla="val 80000"/>
            </a:avLst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ight Arrow 17"/>
          <p:cNvSpPr/>
          <p:nvPr/>
        </p:nvSpPr>
        <p:spPr>
          <a:xfrm>
            <a:off x="13992225" y="6334125"/>
            <a:ext cx="390525" cy="381000"/>
          </a:xfrm>
          <a:prstGeom prst="rightArrow">
            <a:avLst>
              <a:gd name="adj1" fmla="val 40000"/>
              <a:gd name="adj2" fmla="val 80000"/>
            </a:avLst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295400" y="5410200"/>
            <a:ext cx="753963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100"/>
              </a:lnSpc>
            </a:pPr>
            <a:r>
              <a:rPr sz="1650" b="0">
                <a:solidFill>
                  <a:srgbClr val="777777"/>
                </a:solidFill>
                <a:latin typeface="Open Sauce"/>
                <a:ea typeface="Open Sauce"/>
                <a:cs typeface="Open Sauce"/>
                <a:sym typeface="Open Sauce"/>
              </a:rPr>
              <a:t>Крок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5400" y="5753100"/>
            <a:ext cx="24003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2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Заявка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5400" y="6248400"/>
            <a:ext cx="24003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400"/>
              </a:lnSpc>
            </a:pPr>
            <a:r>
              <a:rPr sz="180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Клієнт залишає заявку на сайті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57725" y="5410200"/>
            <a:ext cx="753963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100"/>
              </a:lnSpc>
            </a:pPr>
            <a:r>
              <a:rPr sz="1650" b="0">
                <a:solidFill>
                  <a:srgbClr val="777777"/>
                </a:solidFill>
                <a:latin typeface="Open Sauce"/>
                <a:ea typeface="Open Sauce"/>
                <a:cs typeface="Open Sauce"/>
                <a:sym typeface="Open Sauce"/>
              </a:rPr>
              <a:t>Крок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57725" y="5753100"/>
            <a:ext cx="24003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2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57725" y="6248400"/>
            <a:ext cx="2400300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400"/>
              </a:lnSpc>
            </a:pPr>
            <a:r>
              <a:rPr sz="180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Заявка одразу потрапляє в CRM, без ручного внесення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20050" y="5410200"/>
            <a:ext cx="753963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100"/>
              </a:lnSpc>
            </a:pPr>
            <a:r>
              <a:rPr sz="1650" b="0">
                <a:solidFill>
                  <a:srgbClr val="777777"/>
                </a:solidFill>
                <a:latin typeface="Open Sauce"/>
                <a:ea typeface="Open Sauce"/>
                <a:cs typeface="Open Sauce"/>
                <a:sym typeface="Open Sauce"/>
              </a:rPr>
              <a:t>Крок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0050" y="5753100"/>
            <a:ext cx="24003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2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Бот 24/7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0050" y="6248400"/>
            <a:ext cx="24003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400"/>
              </a:lnSpc>
            </a:pPr>
            <a:r>
              <a:rPr sz="180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Відповідає на типові питання клієнтів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82375" y="5410200"/>
            <a:ext cx="753963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100"/>
              </a:lnSpc>
            </a:pPr>
            <a:r>
              <a:rPr sz="1650" b="0">
                <a:solidFill>
                  <a:srgbClr val="777777"/>
                </a:solidFill>
                <a:latin typeface="Open Sauce"/>
                <a:ea typeface="Open Sauce"/>
                <a:cs typeface="Open Sauce"/>
                <a:sym typeface="Open Sauce"/>
              </a:rPr>
              <a:t>Крок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2375" y="5753100"/>
            <a:ext cx="24003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2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Команда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82375" y="6248400"/>
            <a:ext cx="24003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400"/>
              </a:lnSpc>
            </a:pPr>
            <a:r>
              <a:rPr sz="180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Отримує сповіщення і бере заявку в роботу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744700" y="5410200"/>
            <a:ext cx="753963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100"/>
              </a:lnSpc>
            </a:pPr>
            <a:r>
              <a:rPr sz="1650" b="0">
                <a:solidFill>
                  <a:srgbClr val="AAAAAA"/>
                </a:solidFill>
                <a:latin typeface="Open Sauce"/>
                <a:ea typeface="Open Sauce"/>
                <a:cs typeface="Open Sauce"/>
                <a:sym typeface="Open Sauce"/>
              </a:rPr>
              <a:t>Крок 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744700" y="5753100"/>
            <a:ext cx="240030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25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Повторний контакт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744700" y="6610350"/>
            <a:ext cx="24003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400"/>
              </a:lnSpc>
            </a:pPr>
            <a:r>
              <a:rPr sz="1800" b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Сценарій повертає клієнта до покупки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8700" y="1171575"/>
            <a:ext cx="163449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7200"/>
              </a:lnSpc>
            </a:pPr>
            <a:r>
              <a:rPr sz="7200" b="1" spc="-633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Власні продукти MILEDEVS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8700" y="2381250"/>
            <a:ext cx="14401800" cy="4628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645"/>
              </a:lnSpc>
            </a:pPr>
            <a:r>
              <a:rPr sz="270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Готові рішення, які можна запропонувати вашим клієнтам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" y="3524250"/>
            <a:ext cx="5200650" cy="4857750"/>
          </a:xfrm>
          <a:prstGeom prst="roundRect">
            <a:avLst>
              <a:gd name="adj" fmla="val 549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534150" y="3524250"/>
            <a:ext cx="5200650" cy="4857750"/>
          </a:xfrm>
          <a:prstGeom prst="roundRect">
            <a:avLst>
              <a:gd name="adj" fmla="val 549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12039600" y="3524250"/>
            <a:ext cx="5200650" cy="4857750"/>
          </a:xfrm>
          <a:prstGeom prst="roundRect">
            <a:avLst>
              <a:gd name="adj" fmla="val 549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447800" y="3943350"/>
            <a:ext cx="1103263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100"/>
              </a:lnSpc>
            </a:pPr>
            <a:r>
              <a:rPr sz="1650" b="0">
                <a:solidFill>
                  <a:srgbClr val="777777"/>
                </a:solidFill>
                <a:latin typeface="Open Sauce"/>
                <a:ea typeface="Open Sauce"/>
                <a:cs typeface="Open Sauce"/>
                <a:sym typeface="Open Sauce"/>
              </a:rPr>
              <a:t>Продукт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7800" y="4305300"/>
            <a:ext cx="45910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AI Blog Automation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7800" y="5048250"/>
            <a:ext cx="44767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000"/>
              </a:lnSpc>
            </a:pPr>
            <a:r>
              <a:rPr sz="2100" b="0">
                <a:solidFill>
                  <a:srgbClr val="333333"/>
                </a:solidFill>
                <a:latin typeface="Open Sauce"/>
                <a:ea typeface="Open Sauce"/>
                <a:cs typeface="Open Sauce"/>
                <a:sym typeface="Open Sauce"/>
              </a:rPr>
              <a:t>Пише й публікує SEO-статті в голосі бренду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47800" y="6667500"/>
            <a:ext cx="4362450" cy="19050"/>
          </a:xfrm>
          <a:prstGeom prst="rect">
            <a:avLst/>
          </a:prstGeom>
          <a:solidFill>
            <a:srgbClr val="D4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447800" y="6915150"/>
            <a:ext cx="112462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100"/>
              </a:lnSpc>
            </a:pPr>
            <a:r>
              <a:rPr sz="1650" b="0">
                <a:solidFill>
                  <a:srgbClr val="777777"/>
                </a:solidFill>
                <a:latin typeface="Open Sauce"/>
                <a:ea typeface="Open Sauce"/>
                <a:cs typeface="Open Sauce"/>
                <a:sym typeface="Open Sauce"/>
              </a:rPr>
              <a:t>Що це дає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7800" y="7258050"/>
            <a:ext cx="44767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10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Трафік з пошуку без копірайтера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53250" y="3943350"/>
            <a:ext cx="1103263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100"/>
              </a:lnSpc>
            </a:pPr>
            <a:r>
              <a:rPr sz="1650" b="0">
                <a:solidFill>
                  <a:srgbClr val="777777"/>
                </a:solidFill>
                <a:latin typeface="Open Sauce"/>
                <a:ea typeface="Open Sauce"/>
                <a:cs typeface="Open Sauce"/>
                <a:sym typeface="Open Sauce"/>
              </a:rPr>
              <a:t>Продукт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53250" y="4305300"/>
            <a:ext cx="45910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Custom Shopify Theme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53250" y="5048250"/>
            <a:ext cx="44767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000"/>
              </a:lnSpc>
            </a:pPr>
            <a:r>
              <a:rPr sz="2100" b="0">
                <a:solidFill>
                  <a:srgbClr val="333333"/>
                </a:solidFill>
                <a:latin typeface="Open Sauce"/>
                <a:ea typeface="Open Sauce"/>
                <a:cs typeface="Open Sauce"/>
                <a:sym typeface="Open Sauce"/>
              </a:rPr>
              <a:t>Наша швидка тема: SEO-ready, 90+ PageSpeed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53250" y="6667500"/>
            <a:ext cx="4362450" cy="19050"/>
          </a:xfrm>
          <a:prstGeom prst="rect">
            <a:avLst/>
          </a:prstGeom>
          <a:solidFill>
            <a:srgbClr val="D4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953250" y="6915150"/>
            <a:ext cx="112462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100"/>
              </a:lnSpc>
            </a:pPr>
            <a:r>
              <a:rPr sz="1650" b="0">
                <a:solidFill>
                  <a:srgbClr val="777777"/>
                </a:solidFill>
                <a:latin typeface="Open Sauce"/>
                <a:ea typeface="Open Sauce"/>
                <a:cs typeface="Open Sauce"/>
                <a:sym typeface="Open Sauce"/>
              </a:rPr>
              <a:t>Що це дає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53250" y="7258050"/>
            <a:ext cx="447675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10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Швидкий старт без дорогої кастомної розробки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458700" y="3943350"/>
            <a:ext cx="1103263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100"/>
              </a:lnSpc>
            </a:pPr>
            <a:r>
              <a:rPr sz="1650" b="0">
                <a:solidFill>
                  <a:srgbClr val="777777"/>
                </a:solidFill>
                <a:latin typeface="Open Sauce"/>
                <a:ea typeface="Open Sauce"/>
                <a:cs typeface="Open Sauce"/>
                <a:sym typeface="Open Sauce"/>
              </a:rPr>
              <a:t>Продукт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458700" y="4305300"/>
            <a:ext cx="45910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AI Sales Chatbot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58700" y="5048250"/>
            <a:ext cx="44767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000"/>
              </a:lnSpc>
            </a:pPr>
            <a:r>
              <a:rPr sz="2100" b="0">
                <a:solidFill>
                  <a:srgbClr val="333333"/>
                </a:solidFill>
                <a:latin typeface="Open Sauce"/>
                <a:ea typeface="Open Sauce"/>
                <a:cs typeface="Open Sauce"/>
                <a:sym typeface="Open Sauce"/>
              </a:rPr>
              <a:t>Знає каталог, радить товари й збирає заявки 24/7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458700" y="6667500"/>
            <a:ext cx="4362450" cy="19050"/>
          </a:xfrm>
          <a:prstGeom prst="rect">
            <a:avLst/>
          </a:prstGeom>
          <a:solidFill>
            <a:srgbClr val="D4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2458700" y="6915150"/>
            <a:ext cx="112462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100"/>
              </a:lnSpc>
            </a:pPr>
            <a:r>
              <a:rPr sz="1650" b="0">
                <a:solidFill>
                  <a:srgbClr val="777777"/>
                </a:solidFill>
                <a:latin typeface="Open Sauce"/>
                <a:ea typeface="Open Sauce"/>
                <a:cs typeface="Open Sauce"/>
                <a:sym typeface="Open Sauce"/>
              </a:rPr>
              <a:t>Що це дає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458700" y="7258050"/>
            <a:ext cx="44767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10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Заявки навіть уночі та у вихідні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8700" y="1028700"/>
            <a:ext cx="163449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7200"/>
              </a:lnSpc>
            </a:pPr>
            <a:r>
              <a:rPr sz="7200" b="1" spc="-633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Робота, яку можна побачити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8700" y="2247900"/>
            <a:ext cx="16344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000"/>
              </a:lnSpc>
            </a:pPr>
            <a:r>
              <a:rPr sz="225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Усі кейси на </a:t>
            </a:r>
            <a:r>
              <a:rPr sz="22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miledevs.com/pages/portfolio</a:t>
            </a:r>
            <a:r>
              <a:rPr sz="225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. Будь-який проєкт покажемо зсередини на дзвінку.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" y="3238500"/>
            <a:ext cx="3829050" cy="5524500"/>
          </a:xfrm>
          <a:prstGeom prst="roundRect">
            <a:avLst>
              <a:gd name="adj" fmla="val 597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5162550" y="3238500"/>
            <a:ext cx="3829050" cy="5524500"/>
          </a:xfrm>
          <a:prstGeom prst="roundRect">
            <a:avLst>
              <a:gd name="adj" fmla="val 597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9296400" y="3238500"/>
            <a:ext cx="3829050" cy="5524500"/>
          </a:xfrm>
          <a:prstGeom prst="roundRect">
            <a:avLst>
              <a:gd name="adj" fmla="val 597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13430250" y="3238500"/>
            <a:ext cx="3829050" cy="5524500"/>
          </a:xfrm>
          <a:prstGeom prst="roundRect">
            <a:avLst>
              <a:gd name="adj" fmla="val 597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case2_lunes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100" y="3390900"/>
            <a:ext cx="3524250" cy="2857500"/>
          </a:xfrm>
          <a:prstGeom prst="rect">
            <a:avLst/>
          </a:prstGeom>
        </p:spPr>
      </p:pic>
      <p:pic>
        <p:nvPicPr>
          <p:cNvPr id="9" name="Picture 8" descr="case2_rinf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4950" y="3390900"/>
            <a:ext cx="3524250" cy="2857500"/>
          </a:xfrm>
          <a:prstGeom prst="rect">
            <a:avLst/>
          </a:prstGeom>
        </p:spPr>
      </p:pic>
      <p:pic>
        <p:nvPicPr>
          <p:cNvPr id="10" name="Picture 9" descr="case2_joyfoli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8800" y="3390900"/>
            <a:ext cx="3524250" cy="2857500"/>
          </a:xfrm>
          <a:prstGeom prst="rect">
            <a:avLst/>
          </a:prstGeom>
        </p:spPr>
      </p:pic>
      <p:pic>
        <p:nvPicPr>
          <p:cNvPr id="11" name="Picture 10" descr="case2_carb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82650" y="3390900"/>
            <a:ext cx="3524250" cy="2857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33500" y="6515100"/>
            <a:ext cx="33528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Lunesi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3500" y="6972300"/>
            <a:ext cx="33528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100"/>
              </a:lnSpc>
            </a:pPr>
            <a:r>
              <a:rPr sz="1650" b="0">
                <a:solidFill>
                  <a:srgbClr val="777777"/>
                </a:solidFill>
                <a:latin typeface="Open Sauce"/>
                <a:ea typeface="Open Sauce"/>
                <a:cs typeface="Open Sauce"/>
                <a:sym typeface="Open Sauce"/>
              </a:rPr>
              <a:t>Доглядова косметика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3500" y="7353300"/>
            <a:ext cx="335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400"/>
              </a:lnSpc>
            </a:pPr>
            <a:r>
              <a:rPr sz="180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Кастомна тема, мультивалютність, логістичні й маркетингові інтеграції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67350" y="6515100"/>
            <a:ext cx="33528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Rinfit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67350" y="6972300"/>
            <a:ext cx="33528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100"/>
              </a:lnSpc>
            </a:pPr>
            <a:r>
              <a:rPr sz="1650" b="0">
                <a:solidFill>
                  <a:srgbClr val="777777"/>
                </a:solidFill>
                <a:latin typeface="Open Sauce"/>
                <a:ea typeface="Open Sauce"/>
                <a:cs typeface="Open Sauce"/>
                <a:sym typeface="Open Sauce"/>
              </a:rPr>
              <a:t>Силіконові кільця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67350" y="7353300"/>
            <a:ext cx="335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400"/>
              </a:lnSpc>
            </a:pPr>
            <a:r>
              <a:rPr sz="180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Реалізація дизайну, мобільні покращення, фільтри за розміром і кольором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515100"/>
            <a:ext cx="33528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Joyfolie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972300"/>
            <a:ext cx="33528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100"/>
              </a:lnSpc>
            </a:pPr>
            <a:r>
              <a:rPr sz="1650" b="0">
                <a:solidFill>
                  <a:srgbClr val="777777"/>
                </a:solidFill>
                <a:latin typeface="Open Sauce"/>
                <a:ea typeface="Open Sauce"/>
                <a:cs typeface="Open Sauce"/>
                <a:sym typeface="Open Sauce"/>
              </a:rPr>
              <a:t>Мода та взуття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7353300"/>
            <a:ext cx="33528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400"/>
              </a:lnSpc>
            </a:pPr>
            <a:r>
              <a:rPr sz="180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Повний цикл розробки магазину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35050" y="6515100"/>
            <a:ext cx="33528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Carbon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35050" y="6972300"/>
            <a:ext cx="33528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100"/>
              </a:lnSpc>
            </a:pPr>
            <a:r>
              <a:rPr sz="1650" b="0">
                <a:solidFill>
                  <a:srgbClr val="777777"/>
                </a:solidFill>
                <a:latin typeface="Open Sauce"/>
                <a:ea typeface="Open Sauce"/>
                <a:cs typeface="Open Sauce"/>
                <a:sym typeface="Open Sauce"/>
              </a:rPr>
              <a:t>Автомобільні аксесуари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35050" y="7353300"/>
            <a:ext cx="33528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400"/>
              </a:lnSpc>
            </a:pPr>
            <a:r>
              <a:rPr sz="180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Повний цикл розробки магазину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8700" y="1028700"/>
            <a:ext cx="163449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7200"/>
              </a:lnSpc>
            </a:pPr>
            <a:r>
              <a:rPr sz="7200" b="1" spc="-633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Як працюємо з партнером</a:t>
            </a:r>
          </a:p>
        </p:txBody>
      </p:sp>
      <p:sp>
        <p:nvSpPr>
          <p:cNvPr id="3" name="Rectangle 2"/>
          <p:cNvSpPr/>
          <p:nvPr/>
        </p:nvSpPr>
        <p:spPr>
          <a:xfrm>
            <a:off x="1485900" y="3905250"/>
            <a:ext cx="12172950" cy="38100"/>
          </a:xfrm>
          <a:prstGeom prst="rect">
            <a:avLst/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ight Arrow 3"/>
          <p:cNvSpPr/>
          <p:nvPr/>
        </p:nvSpPr>
        <p:spPr>
          <a:xfrm>
            <a:off x="4552950" y="3771900"/>
            <a:ext cx="381000" cy="304800"/>
          </a:xfrm>
          <a:prstGeom prst="rightArrow">
            <a:avLst>
              <a:gd name="adj1" fmla="val 40000"/>
              <a:gd name="adj2" fmla="val 80000"/>
            </a:avLst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ight Arrow 4"/>
          <p:cNvSpPr/>
          <p:nvPr/>
        </p:nvSpPr>
        <p:spPr>
          <a:xfrm>
            <a:off x="8610600" y="3771900"/>
            <a:ext cx="381000" cy="304800"/>
          </a:xfrm>
          <a:prstGeom prst="rightArrow">
            <a:avLst>
              <a:gd name="adj1" fmla="val 40000"/>
              <a:gd name="adj2" fmla="val 80000"/>
            </a:avLst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ight Arrow 5"/>
          <p:cNvSpPr/>
          <p:nvPr/>
        </p:nvSpPr>
        <p:spPr>
          <a:xfrm>
            <a:off x="12668250" y="3771900"/>
            <a:ext cx="381000" cy="304800"/>
          </a:xfrm>
          <a:prstGeom prst="rightArrow">
            <a:avLst>
              <a:gd name="adj1" fmla="val 40000"/>
              <a:gd name="adj2" fmla="val 80000"/>
            </a:avLst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028700" y="3467100"/>
            <a:ext cx="914400" cy="914400"/>
          </a:xfrm>
          <a:prstGeom prst="ellipse">
            <a:avLst/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4400" y="3467100"/>
            <a:ext cx="11430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3600"/>
              </a:lnSpc>
            </a:pPr>
            <a:r>
              <a:rPr sz="300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</a:t>
            </a:r>
          </a:p>
        </p:txBody>
      </p:sp>
      <p:sp>
        <p:nvSpPr>
          <p:cNvPr id="9" name="Oval 8"/>
          <p:cNvSpPr/>
          <p:nvPr/>
        </p:nvSpPr>
        <p:spPr>
          <a:xfrm>
            <a:off x="5086350" y="3467100"/>
            <a:ext cx="914400" cy="914400"/>
          </a:xfrm>
          <a:prstGeom prst="ellipse">
            <a:avLst/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972050" y="3467100"/>
            <a:ext cx="11430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3600"/>
              </a:lnSpc>
            </a:pPr>
            <a:r>
              <a:rPr sz="300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0" y="3467100"/>
            <a:ext cx="914400" cy="914400"/>
          </a:xfrm>
          <a:prstGeom prst="ellipse">
            <a:avLst/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029700" y="3467100"/>
            <a:ext cx="11430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3600"/>
              </a:lnSpc>
            </a:pPr>
            <a:r>
              <a:rPr sz="300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13201650" y="3467100"/>
            <a:ext cx="914400" cy="914400"/>
          </a:xfrm>
          <a:prstGeom prst="ellipse">
            <a:avLst/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3087350" y="3467100"/>
            <a:ext cx="11430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3600"/>
              </a:lnSpc>
            </a:pPr>
            <a:r>
              <a:rPr sz="300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8700" y="4857750"/>
            <a:ext cx="3829050" cy="3143250"/>
          </a:xfrm>
          <a:prstGeom prst="roundRect">
            <a:avLst>
              <a:gd name="adj" fmla="val 7272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5086350" y="4857750"/>
            <a:ext cx="3829050" cy="3143250"/>
          </a:xfrm>
          <a:prstGeom prst="roundRect">
            <a:avLst>
              <a:gd name="adj" fmla="val 7272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9144000" y="4857750"/>
            <a:ext cx="3829050" cy="3143250"/>
          </a:xfrm>
          <a:prstGeom prst="roundRect">
            <a:avLst>
              <a:gd name="adj" fmla="val 7272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13201650" y="4857750"/>
            <a:ext cx="4057650" cy="3143250"/>
          </a:xfrm>
          <a:prstGeom prst="roundRect">
            <a:avLst>
              <a:gd name="adj" fmla="val 7272"/>
            </a:avLst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371600" y="5238750"/>
            <a:ext cx="3257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Інтро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810250"/>
            <a:ext cx="3257550" cy="133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Напишіть Анні в Telegram, хто клієнт і що йому потрібно. Можна просто переслати запит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29250" y="5238750"/>
            <a:ext cx="3257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Дзвінок і оцінка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29250" y="5810250"/>
            <a:ext cx="3257550" cy="1000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Говоримо з клієнтом разом або самі. Строки й ціну погоджуємо до старту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86900" y="5238750"/>
            <a:ext cx="3257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Робота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86900" y="5810250"/>
            <a:ext cx="32575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Ведемо проєкт і регулярно звітуємо вам про статус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544550" y="5124450"/>
            <a:ext cx="35433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4800"/>
              </a:lnSpc>
            </a:pPr>
            <a:r>
              <a:rPr sz="420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Ваші 10%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544550" y="5905500"/>
            <a:ext cx="3543300" cy="1000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З кожного проєкту приведеного клієнта. Клієнт лишається вашим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1028700"/>
            <a:ext cx="163449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7200"/>
              </a:lnSpc>
            </a:pPr>
            <a:r>
              <a:rPr sz="7200" b="1" spc="-633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Три формати співпраці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09700" y="2571750"/>
            <a:ext cx="858738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100"/>
              </a:lnSpc>
            </a:pPr>
            <a:r>
              <a:rPr sz="1650" b="0">
                <a:solidFill>
                  <a:srgbClr val="777777"/>
                </a:solidFill>
                <a:latin typeface="Open Sauce"/>
                <a:ea typeface="Open Sauce"/>
                <a:cs typeface="Open Sauce"/>
                <a:sym typeface="Open Sauce"/>
              </a:rPr>
              <a:t>Формат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0" y="2571750"/>
            <a:ext cx="1453381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100"/>
              </a:lnSpc>
            </a:pPr>
            <a:r>
              <a:rPr sz="1650" b="0">
                <a:solidFill>
                  <a:srgbClr val="777777"/>
                </a:solidFill>
                <a:latin typeface="Open Sauce"/>
                <a:ea typeface="Open Sauce"/>
                <a:cs typeface="Open Sauce"/>
                <a:sym typeface="Open Sauce"/>
              </a:rPr>
              <a:t>Що робите ви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20250" y="2571750"/>
            <a:ext cx="1536576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100"/>
              </a:lnSpc>
            </a:pPr>
            <a:r>
              <a:rPr sz="1650" b="0">
                <a:solidFill>
                  <a:srgbClr val="777777"/>
                </a:solidFill>
                <a:latin typeface="Open Sauce"/>
                <a:ea typeface="Open Sauce"/>
                <a:cs typeface="Open Sauce"/>
                <a:sym typeface="Open Sauce"/>
              </a:rPr>
              <a:t>Що робимо 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2571750"/>
            <a:ext cx="1495797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100"/>
              </a:lnSpc>
            </a:pPr>
            <a:r>
              <a:rPr sz="1650" b="0">
                <a:solidFill>
                  <a:srgbClr val="777777"/>
                </a:solidFill>
                <a:latin typeface="Open Sauce"/>
                <a:ea typeface="Open Sauce"/>
                <a:cs typeface="Open Sauce"/>
                <a:sym typeface="Open Sauce"/>
              </a:rPr>
              <a:t>Що отримуєте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" y="3048000"/>
            <a:ext cx="16230600" cy="1524000"/>
          </a:xfrm>
          <a:prstGeom prst="roundRect">
            <a:avLst>
              <a:gd name="adj" fmla="val 125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409700" y="3429000"/>
            <a:ext cx="37338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Рекомендація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0" y="3429000"/>
            <a:ext cx="401955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Передаєте Shopify-запит клієнта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0250" y="3429000"/>
            <a:ext cx="39243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Ведемо проєкт від оцінки до запуску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0" y="3429000"/>
            <a:ext cx="335280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10% з кожного проєкту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8700" y="4762500"/>
            <a:ext cx="16230600" cy="1524000"/>
          </a:xfrm>
          <a:prstGeom prst="roundRect">
            <a:avLst>
              <a:gd name="adj" fmla="val 125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409700" y="5143500"/>
            <a:ext cx="37338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Спільний проєкт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4000" y="5143500"/>
            <a:ext cx="40195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Ведете SEO, рекламу чи маркетинг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20250" y="5143500"/>
            <a:ext cx="392430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Робимо і покращуємо магазин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0" y="5143500"/>
            <a:ext cx="33528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Клієнт отримує і маркетинг, і магазин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8700" y="6477000"/>
            <a:ext cx="16230600" cy="1524000"/>
          </a:xfrm>
          <a:prstGeom prst="roundRect">
            <a:avLst>
              <a:gd name="adj" fmla="val 125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409700" y="6858000"/>
            <a:ext cx="37338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White label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0" y="6858000"/>
            <a:ext cx="40195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Продаєте роботу під своїм брендом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20250" y="6858000"/>
            <a:ext cx="392430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Робимо її під вашим брендом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0" y="6858000"/>
            <a:ext cx="335280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Ціну клієнту ставите ви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8700" y="8382000"/>
            <a:ext cx="1634490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Працюємо в обидва боки:</a:t>
            </a:r>
            <a:r>
              <a:rPr sz="1950" b="0">
                <a:solidFill>
                  <a:srgbClr val="333333"/>
                </a:solidFill>
                <a:latin typeface="Open Sauce"/>
                <a:ea typeface="Open Sauce"/>
                <a:cs typeface="Open Sauce"/>
                <a:sym typeface="Open Sauce"/>
              </a:rPr>
              <a:t> коли нашим клієнтам потрібні ваші послуги, рекомендуємо вас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1028700"/>
            <a:ext cx="163449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7200"/>
              </a:lnSpc>
            </a:pPr>
            <a:r>
              <a:rPr sz="7200" b="1" spc="-633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Часті питання</a:t>
            </a:r>
          </a:p>
        </p:txBody>
      </p:sp>
      <p:sp>
        <p:nvSpPr>
          <p:cNvPr id="3" name="Rectangle 2"/>
          <p:cNvSpPr/>
          <p:nvPr/>
        </p:nvSpPr>
        <p:spPr>
          <a:xfrm>
            <a:off x="1028700" y="2762250"/>
            <a:ext cx="7962900" cy="19050"/>
          </a:xfrm>
          <a:prstGeom prst="rect">
            <a:avLst/>
          </a:prstGeom>
          <a:solidFill>
            <a:srgbClr val="E0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28700" y="3048000"/>
            <a:ext cx="80772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2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Клієнт лишається моїм?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" y="3524250"/>
            <a:ext cx="807720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Так. Ми працюємо з клієнтом у межах проєкту, який ви передали.</a:t>
            </a:r>
          </a:p>
        </p:txBody>
      </p:sp>
      <p:sp>
        <p:nvSpPr>
          <p:cNvPr id="6" name="Rectangle 5"/>
          <p:cNvSpPr/>
          <p:nvPr/>
        </p:nvSpPr>
        <p:spPr>
          <a:xfrm>
            <a:off x="9296400" y="2762250"/>
            <a:ext cx="7962900" cy="19050"/>
          </a:xfrm>
          <a:prstGeom prst="rect">
            <a:avLst/>
          </a:prstGeom>
          <a:solidFill>
            <a:srgbClr val="E0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296400" y="3048000"/>
            <a:ext cx="80772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2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Як рахуються 10%?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96400" y="3524250"/>
            <a:ext cx="80772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Від кожного проєкту клієнта, якого ви привели. Порядок і строки виплат фіксуємо письмово до старту першого проєкту.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28700" y="4953000"/>
            <a:ext cx="7962900" cy="19050"/>
          </a:xfrm>
          <a:prstGeom prst="rect">
            <a:avLst/>
          </a:prstGeom>
          <a:solidFill>
            <a:srgbClr val="E0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28700" y="5238750"/>
            <a:ext cx="80772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2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Які задачі можна передавати?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" y="5715000"/>
            <a:ext cx="80772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Будь-які на Shopify: від дрібних правок за 24–72 години до магазину з нуля за 4–8 тижнів і міграції з інших платформ.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96400" y="4953000"/>
            <a:ext cx="7962900" cy="19050"/>
          </a:xfrm>
          <a:prstGeom prst="rect">
            <a:avLst/>
          </a:prstGeom>
          <a:solidFill>
            <a:srgbClr val="E0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296400" y="5238750"/>
            <a:ext cx="80772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2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Скільки коштує проєкт?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96400" y="5715000"/>
            <a:ext cx="80772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Оцінюємо після короткого дзвінка з клієнтом. Строки й ціну погоджуємо до старту.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8700" y="7143750"/>
            <a:ext cx="7962900" cy="19050"/>
          </a:xfrm>
          <a:prstGeom prst="rect">
            <a:avLst/>
          </a:prstGeom>
          <a:solidFill>
            <a:srgbClr val="E0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28700" y="7429500"/>
            <a:ext cx="80772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2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Чи можна під нашим брендом?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" y="7905750"/>
            <a:ext cx="80772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Так, це формат white label: працюємо під вашим брендом, ціну клієнту ставите ви.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96400" y="7143750"/>
            <a:ext cx="7962900" cy="19050"/>
          </a:xfrm>
          <a:prstGeom prst="rect">
            <a:avLst/>
          </a:prstGeom>
          <a:solidFill>
            <a:srgbClr val="E0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296400" y="7429500"/>
            <a:ext cx="80772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2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З чого почати?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6400" y="7905750"/>
            <a:ext cx="807720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З безкоштовного аудиту магазину одного вашого клієнта.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n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953125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67525" y="1238250"/>
            <a:ext cx="101536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7200"/>
              </a:lnSpc>
            </a:pPr>
            <a:r>
              <a:rPr sz="7200" b="1" spc="-633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Як почати</a:t>
            </a:r>
          </a:p>
        </p:txBody>
      </p:sp>
      <p:sp>
        <p:nvSpPr>
          <p:cNvPr id="4" name="Oval 3"/>
          <p:cNvSpPr/>
          <p:nvPr/>
        </p:nvSpPr>
        <p:spPr>
          <a:xfrm>
            <a:off x="6867525" y="3048000"/>
            <a:ext cx="685800" cy="685800"/>
          </a:xfrm>
          <a:prstGeom prst="ellipse">
            <a:avLst/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753225" y="3048000"/>
            <a:ext cx="9144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520"/>
              </a:lnSpc>
            </a:pPr>
            <a:r>
              <a:rPr sz="210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20025" y="3067050"/>
            <a:ext cx="95440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2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Напишіть Анні в Telegram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20025" y="3486150"/>
            <a:ext cx="954405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  <a:hlinkClick r:id="rId3"/>
              </a:rPr>
              <a:t>t.me/anna_miledevs</a:t>
            </a:r>
          </a:p>
        </p:txBody>
      </p:sp>
      <p:sp>
        <p:nvSpPr>
          <p:cNvPr id="8" name="Oval 7"/>
          <p:cNvSpPr/>
          <p:nvPr/>
        </p:nvSpPr>
        <p:spPr>
          <a:xfrm>
            <a:off x="6867525" y="4476750"/>
            <a:ext cx="685800" cy="685800"/>
          </a:xfrm>
          <a:prstGeom prst="ellipse">
            <a:avLst/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753225" y="4476750"/>
            <a:ext cx="9144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520"/>
              </a:lnSpc>
            </a:pPr>
            <a:r>
              <a:rPr sz="210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20025" y="4495800"/>
            <a:ext cx="95440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2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Опишіть клієнта і задачу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20025" y="4914900"/>
            <a:ext cx="954405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Посилання на магазин і 2–3 речення, що потрібно зробити</a:t>
            </a:r>
          </a:p>
        </p:txBody>
      </p:sp>
      <p:sp>
        <p:nvSpPr>
          <p:cNvPr id="12" name="Oval 11"/>
          <p:cNvSpPr/>
          <p:nvPr/>
        </p:nvSpPr>
        <p:spPr>
          <a:xfrm>
            <a:off x="6867525" y="5905500"/>
            <a:ext cx="685800" cy="685800"/>
          </a:xfrm>
          <a:prstGeom prst="ellipse">
            <a:avLst/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753225" y="5905500"/>
            <a:ext cx="9144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520"/>
              </a:lnSpc>
            </a:pPr>
            <a:r>
              <a:rPr sz="210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20025" y="5924550"/>
            <a:ext cx="95440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2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Отримайте безкоштовний аудит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20025" y="6343650"/>
            <a:ext cx="954405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Ми розберемо магазин вашого клієнта і покажемо, що можна покращити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67525" y="7524750"/>
            <a:ext cx="10391775" cy="2000250"/>
          </a:xfrm>
          <a:prstGeom prst="roundRect">
            <a:avLst>
              <a:gd name="adj" fmla="val 11428"/>
            </a:avLst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248525" y="7867650"/>
            <a:ext cx="974407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25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Анна Серпутько · партнерства MileDevs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48525" y="8382000"/>
            <a:ext cx="974407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550"/>
              </a:lnSpc>
            </a:pPr>
            <a:r>
              <a:rPr sz="1800" b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Telegram: </a:t>
            </a:r>
            <a:r>
              <a:rPr sz="1800" b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  <a:hlinkClick r:id="rId3"/>
              </a:rPr>
              <a:t>t.me/anna_miledevs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48525" y="8763000"/>
            <a:ext cx="974407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550"/>
              </a:lnSpc>
            </a:pPr>
            <a:r>
              <a:rPr sz="1800" b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Сайт: </a:t>
            </a:r>
            <a:r>
              <a:rPr sz="1800" b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  <a:hlinkClick r:id="rId4"/>
              </a:rPr>
              <a:t>miledevs.com</a:t>
            </a:r>
            <a:r>
              <a:rPr sz="1800" b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· Кейси: </a:t>
            </a:r>
            <a:r>
              <a:rPr sz="1800" b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  <a:hlinkClick r:id="rId5"/>
              </a:rPr>
              <a:t>miledevs.com/pages/portfolio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DAHYBIgPRNQ</dc:identifier>
  <dcterms:modified xsi:type="dcterms:W3CDTF">2011-08-01T06:04:30Z</dcterms:modified>
  <cp:revision>1</cp:revision>
  <dc:title>MileDevs × партнери — дзвінок 16.10 (Panem)</dc:title>
</cp:coreProperties>
</file>