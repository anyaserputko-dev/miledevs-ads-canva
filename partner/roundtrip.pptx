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  <p:embeddedFont>
      <p:font typeface="Eastman Pack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783" y="1058743"/>
            <a:ext cx="17214434" cy="5436633"/>
            <a:chOff x="0" y="0"/>
            <a:chExt cx="22952579" cy="724884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-38858" t="34209" r="-38858" b="34209"/>
            <a:stretch>
              <a:fillRect/>
            </a:stretch>
          </p:blipFill>
          <p:spPr>
            <a:xfrm flipH="false" flipV="false">
              <a:off x="0" y="0"/>
              <a:ext cx="22952579" cy="7248844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28700" y="6857326"/>
            <a:ext cx="16230600" cy="253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9009"/>
              </a:lnSpc>
              <a:spcBef>
                <a:spcPct val="0"/>
              </a:spcBef>
            </a:pPr>
            <a:r>
              <a:rPr lang="en-US" b="true" sz="19009" spc="2072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MILEDEVS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6783" y="624890"/>
            <a:ext cx="28996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miledevs.com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51617" y="537260"/>
            <a:ext cx="2899600" cy="18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56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Партнерство з агенціями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01233" y="2113011"/>
            <a:ext cx="7658067" cy="5743551"/>
          </a:xfrm>
          <a:custGeom>
            <a:avLst/>
            <a:gdLst/>
            <a:ahLst/>
            <a:cxnLst/>
            <a:rect r="r" b="b" t="t" l="l"/>
            <a:pathLst>
              <a:path h="5743551" w="7658067">
                <a:moveTo>
                  <a:pt x="0" y="0"/>
                </a:moveTo>
                <a:lnTo>
                  <a:pt x="7658067" y="0"/>
                </a:lnTo>
                <a:lnTo>
                  <a:pt x="7658067" y="5743551"/>
                </a:lnTo>
                <a:lnTo>
                  <a:pt x="0" y="5743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8764" y="2338083"/>
            <a:ext cx="8125236" cy="97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266"/>
              </a:lnSpc>
              <a:spcBef>
                <a:spcPct val="0"/>
              </a:spcBef>
            </a:pPr>
            <a:r>
              <a:rPr lang="en-US" b="true" sz="7266" spc="792">
                <a:solidFill>
                  <a:srgbClr val="020202"/>
                </a:solidFill>
                <a:latin typeface="Eastman Pack Bold"/>
                <a:ea typeface="Eastman Pack Bold"/>
                <a:cs typeface="Eastman Pack Bold"/>
                <a:sym typeface="Eastman Pack Bold"/>
              </a:rPr>
              <a:t>МИ </a:t>
            </a:r>
            <a:r>
              <a:rPr lang="en-US" b="true" sz="7266" spc="792" strike="noStrike" u="none">
                <a:solidFill>
                  <a:srgbClr val="020202"/>
                </a:solidFill>
                <a:latin typeface="Eastman Pack Bold"/>
                <a:ea typeface="Eastman Pack Bold"/>
                <a:cs typeface="Eastman Pack Bold"/>
                <a:sym typeface="Eastman Pack Bold"/>
              </a:rPr>
              <a:t>MILEDEVS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8764" y="3498404"/>
            <a:ext cx="8125236" cy="89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Shopify-команда для брендів і агенцій. Будуємо і покращуємо магазини, які продають.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086350"/>
            <a:ext cx="8125236" cy="215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9" indent="-259079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Shopify Selected Partner</a:t>
            </a:r>
          </a:p>
          <a:p>
            <a:pPr algn="l" marL="518159" indent="-259079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Top Rated на Upwork</a:t>
            </a:r>
          </a:p>
          <a:p>
            <a:pPr algn="l" marL="518159" indent="-259079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7+ років на Shopify</a:t>
            </a:r>
          </a:p>
          <a:p>
            <a:pPr algn="l" marL="518159" indent="-259079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100+ магазинів для брендів США, Канади та Європи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143500"/>
            <a:ext cx="11192369" cy="4114800"/>
            <a:chOff x="0" y="0"/>
            <a:chExt cx="14923159" cy="5486400"/>
          </a:xfrm>
        </p:grpSpPr>
        <p:pic>
          <p:nvPicPr>
            <p:cNvPr name="Picture 3" id="3" descr="Rinfit — товар клієнта"/>
            <p:cNvPicPr>
              <a:picLocks noChangeAspect="true"/>
            </p:cNvPicPr>
            <p:nvPr/>
          </p:nvPicPr>
          <p:blipFill>
            <a:blip r:embed="rId2"/>
            <a:srcRect l="7660" t="2493" r="7660" b="2493"/>
            <a:stretch>
              <a:fillRect/>
            </a:stretch>
          </p:blipFill>
          <p:spPr>
            <a:xfrm flipH="false" flipV="false">
              <a:off x="0" y="0"/>
              <a:ext cx="4889720" cy="5486400"/>
            </a:xfrm>
            <a:prstGeom prst="rect">
              <a:avLst/>
            </a:prstGeom>
          </p:spPr>
        </p:pic>
        <p:pic>
          <p:nvPicPr>
            <p:cNvPr name="Picture 4" id="4" descr="Rinfit — товар клієнта"/>
            <p:cNvPicPr>
              <a:picLocks noChangeAspect="true"/>
            </p:cNvPicPr>
            <p:nvPr/>
          </p:nvPicPr>
          <p:blipFill>
            <a:blip r:embed="rId3"/>
            <a:srcRect l="7660" t="2493" r="7660" b="2493"/>
            <a:stretch>
              <a:fillRect/>
            </a:stretch>
          </p:blipFill>
          <p:spPr>
            <a:xfrm flipH="false" flipV="false">
              <a:off x="5016720" y="0"/>
              <a:ext cx="4889720" cy="5486400"/>
            </a:xfrm>
            <a:prstGeom prst="rect">
              <a:avLst/>
            </a:prstGeom>
          </p:spPr>
        </p:pic>
        <p:pic>
          <p:nvPicPr>
            <p:cNvPr name="Picture 5" id="5" descr="Lunesi — проєкт MileDevs"/>
            <p:cNvPicPr>
              <a:picLocks noChangeAspect="true"/>
            </p:cNvPicPr>
            <p:nvPr/>
          </p:nvPicPr>
          <p:blipFill>
            <a:blip r:embed="rId4"/>
            <a:srcRect l="2781" t="7615" r="2781" b="7615"/>
            <a:stretch>
              <a:fillRect/>
            </a:stretch>
          </p:blipFill>
          <p:spPr>
            <a:xfrm flipH="false" flipV="false">
              <a:off x="10033439" y="0"/>
              <a:ext cx="4889720" cy="5486400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1028700" y="1171575"/>
            <a:ext cx="9799324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633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Коли потрібне підсилення команди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95650"/>
            <a:ext cx="11191875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5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Ми доповнюємо вашу експертизу розробкою та автоматизаціями. Клієнт лишається вашим.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30150" y="5095875"/>
            <a:ext cx="4953000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Новий запит: клієнту потрібна Shopify-розробка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Реалізація: дизайн і маркетинг готові, треба втілити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Супровід: регулярні покращення магазину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Нова компетенція поза межами вашої команди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952602" cy="10287000"/>
            <a:chOff x="0" y="0"/>
            <a:chExt cx="7936802" cy="13716000"/>
          </a:xfrm>
        </p:grpSpPr>
        <p:pic>
          <p:nvPicPr>
            <p:cNvPr name="Picture 3" id="3" descr="Абстрактна хвиля MileDevs"/>
            <p:cNvPicPr>
              <a:picLocks noChangeAspect="true"/>
            </p:cNvPicPr>
            <p:nvPr/>
          </p:nvPicPr>
          <p:blipFill>
            <a:blip r:embed="rId2"/>
            <a:srcRect l="1750" t="3097" r="1750" b="3097"/>
            <a:stretch>
              <a:fillRect/>
            </a:stretch>
          </p:blipFill>
          <p:spPr>
            <a:xfrm flipH="false" flipV="false">
              <a:off x="0" y="0"/>
              <a:ext cx="7936802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6646653" y="1789189"/>
            <a:ext cx="1061085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633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Для SEO- і PPC-агенцій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48450" y="4419600"/>
            <a:ext cx="9525000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Технічне SEO в темі Shopify: швидкість, розмітка, структура URL, редиректи, мета-теги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Лендинги й картки товару під рекламу з чітким шляхом до покупки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Трекінг і події: пікселі, конверсії, аналітика для звітів по кампаніях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Переклад і мультимовність під нові ринки ваших клієнтів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48450" y="3105150"/>
            <a:ext cx="952500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5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Ви знаходите, що виправити. Ми впроваджуємо це в магазині.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52706" y="0"/>
            <a:ext cx="7519001" cy="10287000"/>
            <a:chOff x="0" y="0"/>
            <a:chExt cx="10025335" cy="13716000"/>
          </a:xfrm>
        </p:grpSpPr>
        <p:pic>
          <p:nvPicPr>
            <p:cNvPr name="Picture 3" id="3" descr="Робота команди MileDevs"/>
            <p:cNvPicPr>
              <a:picLocks noChangeAspect="true"/>
            </p:cNvPicPr>
            <p:nvPr/>
          </p:nvPicPr>
          <p:blipFill>
            <a:blip r:embed="rId2"/>
            <a:srcRect l="14205" t="1028" r="14205" b="1028"/>
            <a:stretch>
              <a:fillRect/>
            </a:stretch>
          </p:blipFill>
          <p:spPr>
            <a:xfrm flipH="false" flipV="false">
              <a:off x="0" y="0"/>
              <a:ext cx="10025335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28700" y="1171575"/>
            <a:ext cx="8745016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633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За магазином стоїть команда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52850"/>
            <a:ext cx="8572500" cy="348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Дизайн: структура та інтерфейс під бренд і асортимент клієнта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Розробка: магазини з нуля, редизайн, міграція, кастомний функціонал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Автоматизації: CRM, чат-боти, інтеграції та повторні продажі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Тестування: перевірка кожного рішення до запуску і після нього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6825436"/>
            <a:chOff x="0" y="0"/>
            <a:chExt cx="12192000" cy="9100581"/>
          </a:xfrm>
        </p:grpSpPr>
        <p:pic>
          <p:nvPicPr>
            <p:cNvPr name="Picture 3" id="3" descr="Carbon — магазин, збудований MileDevs"/>
            <p:cNvPicPr>
              <a:picLocks noChangeAspect="true"/>
            </p:cNvPicPr>
            <p:nvPr/>
          </p:nvPicPr>
          <p:blipFill>
            <a:blip r:embed="rId2"/>
            <a:srcRect l="1153" t="20831" r="1153" b="20831"/>
            <a:stretch>
              <a:fillRect/>
            </a:stretch>
          </p:blipFill>
          <p:spPr>
            <a:xfrm flipH="false" flipV="false">
              <a:off x="0" y="0"/>
              <a:ext cx="12192000" cy="9100581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28700" y="1171575"/>
            <a:ext cx="6229740" cy="278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633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Магазин під ваш спосіб продавати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38650"/>
            <a:ext cx="7620000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2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Магазин з нуля за 4–8 тижнів, редизайн за 2–4 тижні, дрібні правки за 24–72 години</a:t>
            </a:r>
          </a:p>
          <a:p>
            <a:pPr algn="l" marL="485775" indent="-24288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2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Кастомна розробка й редизайн під бренд і асортимент</a:t>
            </a:r>
          </a:p>
          <a:p>
            <a:pPr algn="l" marL="485775" indent="-24288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2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Міграція з WordPress та інших платформ без втрати товарів, клієнтів і замовлень</a:t>
            </a:r>
          </a:p>
          <a:p>
            <a:pPr algn="l" marL="485775" indent="-24288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2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Індивідуальний функціонал, застосунки та інтеграції під процеси клієнта</a:t>
            </a:r>
          </a:p>
          <a:p>
            <a:pPr algn="l" marL="485775" indent="-24288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2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Переклад і мультимовність для нових ринків</a:t>
            </a:r>
          </a:p>
          <a:p>
            <a:pPr algn="l" marL="485775" indent="-24288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2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Магазини на WordPress, якщо це краще для клієнта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952602" cy="10287000"/>
            <a:chOff x="0" y="0"/>
            <a:chExt cx="7936802" cy="13716000"/>
          </a:xfrm>
        </p:grpSpPr>
        <p:pic>
          <p:nvPicPr>
            <p:cNvPr name="Picture 3" id="3" descr="Moderno Kids — товар клієнта"/>
            <p:cNvPicPr>
              <a:picLocks noChangeAspect="true"/>
            </p:cNvPicPr>
            <p:nvPr/>
          </p:nvPicPr>
          <p:blipFill>
            <a:blip r:embed="rId2"/>
            <a:srcRect l="21662" t="1028" r="21662" b="1028"/>
            <a:stretch>
              <a:fillRect/>
            </a:stretch>
          </p:blipFill>
          <p:spPr>
            <a:xfrm flipH="false" flipV="false">
              <a:off x="0" y="0"/>
              <a:ext cx="7936802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6646653" y="1789189"/>
            <a:ext cx="1061085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633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Менше перешкод на шляху до покупки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48450" y="4419600"/>
            <a:ext cx="9525000" cy="260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CRO та UX/UI-аудит: знаходимо, де магазин втрачає покупця, від пошуку товару до оплати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Мобільна версія, сторінки товару, навігація та чекаут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Швидкість завантаження, яка напряму впливає на продажі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Функції на основі аналізу ніші й конкурентів, 3D і огляд товару на 360°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1575"/>
            <a:ext cx="5961500" cy="278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633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Менше ручної роботи після кожної заявки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5143500"/>
            <a:ext cx="11192369" cy="4114800"/>
            <a:chOff x="0" y="0"/>
            <a:chExt cx="14923159" cy="5486400"/>
          </a:xfrm>
        </p:grpSpPr>
        <p:pic>
          <p:nvPicPr>
            <p:cNvPr name="Picture 4" id="4" descr="Rinfit — товар клієнта"/>
            <p:cNvPicPr>
              <a:picLocks noChangeAspect="true"/>
            </p:cNvPicPr>
            <p:nvPr/>
          </p:nvPicPr>
          <p:blipFill>
            <a:blip r:embed="rId2"/>
            <a:srcRect l="7660" t="2493" r="7660" b="2493"/>
            <a:stretch>
              <a:fillRect/>
            </a:stretch>
          </p:blipFill>
          <p:spPr>
            <a:xfrm flipH="false" flipV="false">
              <a:off x="0" y="0"/>
              <a:ext cx="4889720" cy="5486400"/>
            </a:xfrm>
            <a:prstGeom prst="rect">
              <a:avLst/>
            </a:prstGeom>
          </p:spPr>
        </p:pic>
        <p:pic>
          <p:nvPicPr>
            <p:cNvPr name="Picture 5" id="5" descr="Rinfit — товар клієнта"/>
            <p:cNvPicPr>
              <a:picLocks noChangeAspect="true"/>
            </p:cNvPicPr>
            <p:nvPr/>
          </p:nvPicPr>
          <p:blipFill>
            <a:blip r:embed="rId3"/>
            <a:srcRect l="9777" t="2493" r="9777" b="2493"/>
            <a:stretch>
              <a:fillRect/>
            </a:stretch>
          </p:blipFill>
          <p:spPr>
            <a:xfrm flipH="false" flipV="false">
              <a:off x="5016720" y="0"/>
              <a:ext cx="4889720" cy="5486400"/>
            </a:xfrm>
            <a:prstGeom prst="rect">
              <a:avLst/>
            </a:prstGeom>
          </p:spPr>
        </p:pic>
        <p:pic>
          <p:nvPicPr>
            <p:cNvPr name="Picture 6" id="6" descr="Rinfit — проєкт MileDevs"/>
            <p:cNvPicPr>
              <a:picLocks noChangeAspect="true"/>
            </p:cNvPicPr>
            <p:nvPr/>
          </p:nvPicPr>
          <p:blipFill>
            <a:blip r:embed="rId4"/>
            <a:srcRect l="7660" t="2493" r="7660" b="2493"/>
            <a:stretch>
              <a:fillRect/>
            </a:stretch>
          </p:blipFill>
          <p:spPr>
            <a:xfrm flipH="false" flipV="false">
              <a:off x="10033439" y="0"/>
              <a:ext cx="4889720" cy="5486400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8096250" y="1085850"/>
            <a:ext cx="9144000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Заявка з сайту одразу потрапляє в CRM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Бот відповідає на типові питання 24/7, команда отримує повідомлення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Сценарій повторного контакту повертає клієнта до покупки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GoHighLevel, чат-боти, інтеграції сайту з CRM та іншими сервісами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52706" y="0"/>
            <a:ext cx="7519001" cy="10287000"/>
            <a:chOff x="0" y="0"/>
            <a:chExt cx="10025335" cy="13716000"/>
          </a:xfrm>
        </p:grpSpPr>
        <p:pic>
          <p:nvPicPr>
            <p:cNvPr name="Picture 3" id="3" descr="Rinfit — товар клієнта"/>
            <p:cNvPicPr>
              <a:picLocks noChangeAspect="true"/>
            </p:cNvPicPr>
            <p:nvPr/>
          </p:nvPicPr>
          <p:blipFill>
            <a:blip r:embed="rId2"/>
            <a:srcRect l="14205" t="1028" r="14205" b="1028"/>
            <a:stretch>
              <a:fillRect/>
            </a:stretch>
          </p:blipFill>
          <p:spPr>
            <a:xfrm flipH="false" flipV="false">
              <a:off x="0" y="0"/>
              <a:ext cx="10025335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28700" y="1171575"/>
            <a:ext cx="8687638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633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Власні продукти MILEDEVS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52850"/>
            <a:ext cx="8763000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AI Blog Automation: пише й публікує SEO-статті в голосі бренду. Трафік з пошуку без копірайтера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Custom Shopify Theme: наша швидка тема, SEO-ready, 90+ PageSpeed. Швидкий старт без дорогої кастомної розробки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AI Sales Chatbot: знає каталог, радить товари й збирає заявки 24/7, навіть уночі та у вихідні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4178" y="0"/>
            <a:ext cx="8993822" cy="7774313"/>
            <a:chOff x="0" y="0"/>
            <a:chExt cx="11991763" cy="10365750"/>
          </a:xfrm>
        </p:grpSpPr>
        <p:pic>
          <p:nvPicPr>
            <p:cNvPr name="Picture 3" id="3" descr="Lunesi — проєкт MileDevs"/>
            <p:cNvPicPr>
              <a:picLocks noChangeAspect="true"/>
            </p:cNvPicPr>
            <p:nvPr/>
          </p:nvPicPr>
          <p:blipFill>
            <a:blip r:embed="rId2"/>
            <a:srcRect l="1172" t="16234" r="1172" b="16234"/>
            <a:stretch>
              <a:fillRect/>
            </a:stretch>
          </p:blipFill>
          <p:spPr>
            <a:xfrm flipH="false" flipV="false">
              <a:off x="0" y="0"/>
              <a:ext cx="11991763" cy="1036575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028700" y="1171575"/>
            <a:ext cx="5494593" cy="278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633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Робота, яку можна побачити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48150"/>
            <a:ext cx="7810500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2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Lunesi: доглядова косметика. Кастомна тема, мультивалютність, логістичні й маркетингові інтеграції</a:t>
            </a:r>
          </a:p>
          <a:p>
            <a:pPr algn="l" marL="485775" indent="-24288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2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Rinfit: силіконові кільця. Реалізація дизайну, мобільні покращення, фільтри за розміром і кольором</a:t>
            </a:r>
          </a:p>
          <a:p>
            <a:pPr algn="l" marL="485775" indent="-24288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2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Joyfolie: мода та взуття. Повний цикл розробки магазину</a:t>
            </a:r>
          </a:p>
          <a:p>
            <a:pPr algn="l" marL="485775" indent="-242888" lvl="1">
              <a:lnSpc>
                <a:spcPts val="3149"/>
              </a:lnSpc>
              <a:spcBef>
                <a:spcPct val="0"/>
              </a:spcBef>
              <a:buFont typeface="Arial"/>
              <a:buChar char="•"/>
            </a:pPr>
            <a:r>
              <a:rPr lang="en-US" sz="22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Carbon: автомобільні аксесуари. Повний цикл розробки магазину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010650"/>
            <a:ext cx="161925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Усі кейси: miledevs.com/pages/portfolio  ·  будь-який проєкт покажемо зсередини на дзвінку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952602" cy="10287000"/>
            <a:chOff x="0" y="0"/>
            <a:chExt cx="7936802" cy="13716000"/>
          </a:xfrm>
        </p:grpSpPr>
        <p:pic>
          <p:nvPicPr>
            <p:cNvPr name="Picture 3" id="3" descr="Rinfit — товар клієнта"/>
            <p:cNvPicPr>
              <a:picLocks noChangeAspect="true"/>
            </p:cNvPicPr>
            <p:nvPr/>
          </p:nvPicPr>
          <p:blipFill>
            <a:blip r:embed="rId2"/>
            <a:srcRect l="21662" t="1028" r="21662" b="1028"/>
            <a:stretch>
              <a:fillRect/>
            </a:stretch>
          </p:blipFill>
          <p:spPr>
            <a:xfrm flipH="false" flipV="false">
              <a:off x="0" y="0"/>
              <a:ext cx="7936802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6867525" y="2238375"/>
            <a:ext cx="10043177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633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Як працюємо з партнером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7525" y="4514850"/>
            <a:ext cx="10001250" cy="260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AutoNum type="arabicPeriod" startAt="1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Інтро: ви знайомите нас із клієнтом або передаєте його запит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AutoNum type="arabicPeriod" startAt="1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Дзвінок і оцінка: говоримо з клієнтом разом або самі, строки й ціну погоджуємо до старту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AutoNum type="arabicPeriod" startAt="1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Робота: ведемо проєкт і регулярно звітуємо вам про статус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AutoNum type="arabicPeriod" startAt="1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Ваші 10% з кожного проєкту приведеного клієнта, а клієнт лишається вашим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952602" cy="10287000"/>
            <a:chOff x="0" y="0"/>
            <a:chExt cx="7936802" cy="13716000"/>
          </a:xfrm>
        </p:grpSpPr>
        <p:pic>
          <p:nvPicPr>
            <p:cNvPr name="Picture 3" id="3" descr="Rinfit — товар клієнта"/>
            <p:cNvPicPr>
              <a:picLocks noChangeAspect="true"/>
            </p:cNvPicPr>
            <p:nvPr/>
          </p:nvPicPr>
          <p:blipFill>
            <a:blip r:embed="rId2"/>
            <a:srcRect l="21662" t="1028" r="21662" b="1028"/>
            <a:stretch>
              <a:fillRect/>
            </a:stretch>
          </p:blipFill>
          <p:spPr>
            <a:xfrm flipH="false" flipV="false">
              <a:off x="0" y="0"/>
              <a:ext cx="7936802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6867525" y="2238375"/>
            <a:ext cx="10043177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633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Де можемо підсилити вас?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7525" y="4514850"/>
            <a:ext cx="10001250" cy="260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Рекомендація: ви передаєте Shopify-запит, ми ведемо проєкт, вам 10% з кожного проєкту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Спільний проєкт: ви ведете SEO чи рекламу, ми робимо магазин</a:t>
            </a:r>
          </a:p>
          <a:p>
            <a:pPr algn="l" marL="518160" indent="-259080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20202"/>
                </a:solidFill>
                <a:latin typeface="Open Sauce"/>
                <a:ea typeface="Open Sauce"/>
                <a:cs typeface="Open Sauce"/>
                <a:sym typeface="Open Sauce"/>
              </a:rPr>
              <a:t>White label: працюємо під вашим брендом, ціну для клієнта ставите ви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67525" y="7667625"/>
            <a:ext cx="1000125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Перший крок: дайте нам одного клієнта, і ми зробимо безкоштовний аудит його магазину.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202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t.me/anna_miledevs  ·  miledevs.com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DAHYBIgPRNQ</dc:identifier>
  <dcterms:modified xsi:type="dcterms:W3CDTF">2011-08-01T06:04:30Z</dcterms:modified>
  <cp:revision>1</cp:revision>
  <dc:title>MileDevs × партнери — дзвінок 16.10 (Panem)</dc:title>
</cp:coreProperties>
</file>