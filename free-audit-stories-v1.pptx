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603" y="5456411"/>
            <a:ext cx="85911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6163" y="5477842"/>
            <a:ext cx="2945234" cy="395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408">
                <a:solidFill>
                  <a:srgbClr val="15161B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3936" y="6618461"/>
            <a:ext cx="8499053" cy="138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4800" b="1">
                <a:solidFill>
                  <a:srgbClr val="15161B"/>
                </a:solidFill>
                <a:latin typeface="Montserrat"/>
              </a:rPr>
              <a:t>ШУКАЄМО ВЛАСНИКІВ</a:t>
            </a:r>
          </a:p>
          <a:p>
            <a:pPr algn="ctr">
              <a:lnSpc>
                <a:spcPct val="114000"/>
              </a:lnSpc>
            </a:pPr>
            <a:r>
              <a:rPr sz="4800" b="1">
                <a:solidFill>
                  <a:srgbClr val="15161B"/>
                </a:solidFill>
                <a:latin typeface="Montserrat"/>
              </a:rPr>
              <a:t>SHOPIFY-МАГАЗИНІВ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7125" y="8255868"/>
            <a:ext cx="7232675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яким потрібно більше продажів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33985" y="9284568"/>
            <a:ext cx="5819031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БЕЗКОШТОВНИЙ</a:t>
            </a:r>
          </a:p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АУДИТ МАГАЗИНУ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0383" y="11014249"/>
            <a:ext cx="4866233" cy="960090"/>
          </a:xfrm>
          <a:prstGeom prst="roundRect">
            <a:avLst>
              <a:gd name="adj" fmla="val 50000"/>
            </a:avLst>
          </a:prstGeom>
          <a:solidFill>
            <a:srgbClr val="26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6633" y="11299999"/>
            <a:ext cx="3913733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51">
                <a:solidFill>
                  <a:srgbClr val="FFFFFF"/>
                </a:solidFill>
                <a:latin typeface="Montserrat"/>
              </a:rPr>
              <a:t>ЗАЛИШИТИ ЗАЯВКУ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603" y="5580385"/>
            <a:ext cx="85911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6163" y="5601816"/>
            <a:ext cx="2945234" cy="395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408">
                <a:solidFill>
                  <a:srgbClr val="15161B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586" y="6742435"/>
            <a:ext cx="9057829" cy="1216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4200" b="1">
                <a:solidFill>
                  <a:srgbClr val="15161B"/>
                </a:solidFill>
                <a:latin typeface="Montserrat"/>
              </a:rPr>
              <a:t>ВАШ SHOPIFY-МАГАЗИН</a:t>
            </a:r>
          </a:p>
          <a:p>
            <a:pPr algn="ctr">
              <a:lnSpc>
                <a:spcPct val="114000"/>
              </a:lnSpc>
            </a:pPr>
            <a:r>
              <a:rPr sz="4200" b="1">
                <a:solidFill>
                  <a:srgbClr val="15161B"/>
                </a:solidFill>
                <a:latin typeface="Montserrat"/>
              </a:rPr>
              <a:t>МОЖЕ ПРОДАВАТИ БІЛЬШЕ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6981" y="8206160"/>
            <a:ext cx="7393037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Покажемо, де губляться покупці,</a:t>
            </a:r>
          </a:p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і дамо макет, як має бути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8954" y="9730160"/>
            <a:ext cx="7729091" cy="5695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АУДИТ — БЕЗКОШТОВНО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440" y="10890275"/>
            <a:ext cx="4582120" cy="960090"/>
          </a:xfrm>
          <a:prstGeom prst="roundRect">
            <a:avLst>
              <a:gd name="adj" fmla="val 50000"/>
            </a:avLst>
          </a:prstGeom>
          <a:solidFill>
            <a:srgbClr val="26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690" y="11176025"/>
            <a:ext cx="362962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51">
                <a:solidFill>
                  <a:srgbClr val="FFFFFF"/>
                </a:solidFill>
                <a:latin typeface="Montserrat"/>
              </a:rPr>
              <a:t>ОТРИМАТИ АУДИТ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603" y="5208761"/>
            <a:ext cx="85911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6163" y="5230192"/>
            <a:ext cx="2945234" cy="395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408">
                <a:solidFill>
                  <a:srgbClr val="15161B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967" y="6370811"/>
            <a:ext cx="8436992" cy="138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4800" b="1">
                <a:solidFill>
                  <a:srgbClr val="15161B"/>
                </a:solidFill>
                <a:latin typeface="Montserrat"/>
              </a:rPr>
              <a:t>НЕ ЗБІЛЬШУЙТЕ</a:t>
            </a:r>
          </a:p>
          <a:p>
            <a:pPr algn="ctr">
              <a:lnSpc>
                <a:spcPct val="114000"/>
              </a:lnSpc>
            </a:pPr>
            <a:r>
              <a:rPr sz="4800" b="1">
                <a:solidFill>
                  <a:srgbClr val="15161B"/>
                </a:solidFill>
                <a:latin typeface="Montserrat"/>
              </a:rPr>
              <a:t>РЕКЛАМНИЙ БЮДЖЕТ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7153" y="8008218"/>
            <a:ext cx="6312619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Поки ваш Shopify-магазин</a:t>
            </a:r>
          </a:p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втрачає клієнтів після кліку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0101" y="9532218"/>
            <a:ext cx="7486799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СПОЧАТКУ —</a:t>
            </a:r>
          </a:p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БЕЗКОШТОВНИЙ АУДИТ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64594" y="11261899"/>
            <a:ext cx="5357812" cy="960090"/>
          </a:xfrm>
          <a:prstGeom prst="roundRect">
            <a:avLst>
              <a:gd name="adj" fmla="val 50000"/>
            </a:avLst>
          </a:prstGeom>
          <a:solidFill>
            <a:srgbClr val="26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0844" y="11547649"/>
            <a:ext cx="4405312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51">
                <a:solidFill>
                  <a:srgbClr val="FFFFFF"/>
                </a:solidFill>
                <a:latin typeface="Montserrat"/>
              </a:rPr>
              <a:t>ПЕРЕВІРИТИ МАГАЗИН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603" y="5208761"/>
            <a:ext cx="85911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6163" y="5230192"/>
            <a:ext cx="2945234" cy="395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408">
                <a:solidFill>
                  <a:srgbClr val="15161B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844" y="6370811"/>
            <a:ext cx="7161237" cy="13897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4800" b="1">
                <a:solidFill>
                  <a:srgbClr val="15161B"/>
                </a:solidFill>
                <a:latin typeface="Montserrat"/>
              </a:rPr>
              <a:t>РЕКЛАМА Є.</a:t>
            </a:r>
          </a:p>
          <a:p>
            <a:pPr algn="ctr">
              <a:lnSpc>
                <a:spcPct val="114000"/>
              </a:lnSpc>
            </a:pPr>
            <a:r>
              <a:rPr sz="4800" b="1">
                <a:solidFill>
                  <a:srgbClr val="15161B"/>
                </a:solidFill>
                <a:latin typeface="Montserrat"/>
              </a:rPr>
              <a:t>ПРОДАЖІВ МАЛО?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18419" y="8008218"/>
            <a:ext cx="7250088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Знайдемо, що зупиняє покупців</a:t>
            </a:r>
          </a:p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у вашому Shopify-магазині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57" y="9532218"/>
            <a:ext cx="7653486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БЕЗ ОПЛАТИ</a:t>
            </a:r>
          </a:p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І ДОСТУПІВ ДО АДМІНКИ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10383" y="11261899"/>
            <a:ext cx="4866233" cy="960090"/>
          </a:xfrm>
          <a:prstGeom prst="roundRect">
            <a:avLst>
              <a:gd name="adj" fmla="val 50000"/>
            </a:avLst>
          </a:prstGeom>
          <a:solidFill>
            <a:srgbClr val="26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86633" y="11547649"/>
            <a:ext cx="3913733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51">
                <a:solidFill>
                  <a:srgbClr val="FFFFFF"/>
                </a:solidFill>
                <a:latin typeface="Montserrat"/>
              </a:rPr>
              <a:t>ЗАЛИШИТИ ЗАЯВКУ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p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603" y="4957242"/>
            <a:ext cx="859110" cy="438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86163" y="4978673"/>
            <a:ext cx="2945234" cy="3952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408">
                <a:solidFill>
                  <a:srgbClr val="15161B"/>
                </a:solidFill>
                <a:latin typeface="Montserrat"/>
              </a:rPr>
              <a:t>MILEDEVS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7549" y="6119292"/>
            <a:ext cx="6171902" cy="1892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900" b="1">
                <a:solidFill>
                  <a:srgbClr val="15161B"/>
                </a:solidFill>
                <a:latin typeface="Montserrat"/>
              </a:rPr>
              <a:t>+19 %</a:t>
            </a:r>
          </a:p>
          <a:p>
            <a:pPr algn="ctr">
              <a:lnSpc>
                <a:spcPct val="108000"/>
              </a:lnSpc>
            </a:pPr>
            <a:r>
              <a:rPr sz="6900" b="1">
                <a:solidFill>
                  <a:srgbClr val="15161B"/>
                </a:solidFill>
                <a:latin typeface="Montserrat"/>
              </a:rPr>
              <a:t>ПРОДАЖІВ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8339" y="8259738"/>
            <a:ext cx="8290247" cy="990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у магазину нашого клієнта після змін</a:t>
            </a:r>
          </a:p>
          <a:p>
            <a:pPr algn="ctr">
              <a:lnSpc>
                <a:spcPct val="130000"/>
              </a:lnSpc>
            </a:pPr>
            <a:r>
              <a:rPr sz="3000" b="0">
                <a:solidFill>
                  <a:srgbClr val="15161B"/>
                </a:solidFill>
                <a:latin typeface="Montserrat"/>
              </a:rPr>
              <a:t>на сторінках товару й у checkout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918" y="9783738"/>
            <a:ext cx="8653165" cy="11391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ПЕРЕВІРИМО ВАШ МАГАЗИН</a:t>
            </a:r>
          </a:p>
          <a:p>
            <a:pPr algn="ctr">
              <a:lnSpc>
                <a:spcPct val="115000"/>
              </a:lnSpc>
            </a:pPr>
            <a:r>
              <a:rPr sz="3900" b="1">
                <a:solidFill>
                  <a:srgbClr val="26236E"/>
                </a:solidFill>
                <a:latin typeface="Montserrat"/>
              </a:rPr>
              <a:t>БЕЗКОШТОВНО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440" y="11513418"/>
            <a:ext cx="4582120" cy="960090"/>
          </a:xfrm>
          <a:prstGeom prst="roundRect">
            <a:avLst>
              <a:gd name="adj" fmla="val 50000"/>
            </a:avLst>
          </a:prstGeom>
          <a:solidFill>
            <a:srgbClr val="262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8690" y="11799168"/>
            <a:ext cx="3629620" cy="3885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50" b="1" spc="51">
                <a:solidFill>
                  <a:srgbClr val="FFFFFF"/>
                </a:solidFill>
                <a:latin typeface="Montserrat"/>
              </a:rPr>
              <a:t>ОТРИМАТИ АУДИТ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